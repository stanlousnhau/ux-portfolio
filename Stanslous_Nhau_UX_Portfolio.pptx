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 id="2147483663" r:id="rId3"/>
    <p:sldMasterId id="2147483665" r:id="rId4"/>
  </p:sldMasterIdLst>
  <p:notesMasterIdLst>
    <p:notesMasterId r:id="rId55"/>
  </p:notesMasterIdLst>
  <p:sldIdLst>
    <p:sldId id="256" r:id="rId5"/>
    <p:sldId id="257" r:id="rId6"/>
    <p:sldId id="258" r:id="rId7"/>
    <p:sldId id="261" r:id="rId8"/>
    <p:sldId id="295" r:id="rId9"/>
    <p:sldId id="296" r:id="rId10"/>
    <p:sldId id="297" r:id="rId11"/>
    <p:sldId id="298" r:id="rId12"/>
    <p:sldId id="299" r:id="rId13"/>
    <p:sldId id="300" r:id="rId14"/>
    <p:sldId id="301" r:id="rId15"/>
    <p:sldId id="302" r:id="rId16"/>
    <p:sldId id="303" r:id="rId17"/>
    <p:sldId id="265" r:id="rId18"/>
    <p:sldId id="304" r:id="rId19"/>
    <p:sldId id="306" r:id="rId60"/>
    <p:sldId id="305" r:id="rId20"/>
    <p:sldId id="274" r:id="rId21"/>
    <p:sldId id="275" r:id="rId22"/>
    <p:sldId id="276" r:id="rId23"/>
    <p:sldId id="277" r:id="rId24"/>
    <p:sldId id="278" r:id="rId25"/>
    <p:sldId id="260"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62" r:id="rId41"/>
    <p:sldId id="263" r:id="rId42"/>
    <p:sldId id="264" r:id="rId43"/>
    <p:sldId id="259" r:id="rId44"/>
    <p:sldId id="293" r:id="rId45"/>
    <p:sldId id="266" r:id="rId46"/>
    <p:sldId id="267" r:id="rId47"/>
    <p:sldId id="268" r:id="rId48"/>
    <p:sldId id="269" r:id="rId49"/>
    <p:sldId id="270" r:id="rId50"/>
    <p:sldId id="294" r:id="rId51"/>
    <p:sldId id="271" r:id="rId52"/>
    <p:sldId id="307" r:id="rId61"/>
    <p:sldId id="272" r:id="rId53"/>
    <p:sldId id="273"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1E59"/>
    <a:srgbClr val="285EF6"/>
    <a:srgbClr val="EC592D"/>
    <a:srgbClr val="1C42B0"/>
    <a:srgbClr val="1F5B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55" autoAdjust="0"/>
    <p:restoredTop sz="94660"/>
  </p:normalViewPr>
  <p:slideViewPr>
    <p:cSldViewPr snapToGrid="0" snapToObjects="1">
      <p:cViewPr varScale="1">
        <p:scale>
          <a:sx n="64" d="100"/>
          <a:sy n="64" d="100"/>
        </p:scale>
        <p:origin x="948"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60" Type="http://schemas.openxmlformats.org/officeDocument/2006/relationships/slide" Target="slides/slide16.xml"/><Relationship Id="rId61"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BA205-B910-46AC-B164-797B07BA6AD7}" type="datetimeFigureOut">
              <a:rPr lang="en-ZA" smtClean="0"/>
              <a:t>2026/09/18</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1D704C-018B-4A46-AC7E-252860379836}" type="slidenum">
              <a:rPr lang="en-ZA" smtClean="0"/>
              <a:t>‹#›</a:t>
            </a:fld>
            <a:endParaRPr lang="en-ZA"/>
          </a:p>
        </p:txBody>
      </p:sp>
    </p:spTree>
    <p:extLst>
      <p:ext uri="{BB962C8B-B14F-4D97-AF65-F5344CB8AC3E}">
        <p14:creationId xmlns:p14="http://schemas.microsoft.com/office/powerpoint/2010/main" val="990924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ZA"/>
          </a:p>
        </p:txBody>
      </p:sp>
      <p:sp>
        <p:nvSpPr>
          <p:cNvPr id="4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467"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56A67E3-911D-4D73-ACD0-FB5DC1DD99BF}"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ZA"/>
          </a:p>
        </p:txBody>
      </p:sp>
      <p:sp>
        <p:nvSpPr>
          <p:cNvPr id="4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470"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945DDC-D60A-4FFC-A593-FEEDFC270AD1}"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ZA"/>
          </a:p>
        </p:txBody>
      </p:sp>
      <p:sp>
        <p:nvSpPr>
          <p:cNvPr id="4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485"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6D42837-28F2-4486-80B4-3320986E9C77}" type="slidenum">
              <a:rPr kumimoji="0" lang="en-US" sz="1200" b="0" i="0" u="none" strike="noStrike" kern="1200" cap="none" spc="0" normalizeH="0" baseline="0" noProof="0">
                <a:ln>
                  <a:noFill/>
                </a:ln>
                <a:solidFill>
                  <a:srgbClr val="000000"/>
                </a:solidFill>
                <a:effectLst/>
                <a:uLnTx/>
                <a:uFillTx/>
                <a:latin typeface="Arial"/>
                <a:ea typeface="+mn-ea"/>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srgbClr val="000000"/>
              </a:solidFill>
              <a:effectLst/>
              <a:uLnTx/>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ZA"/>
          </a:p>
        </p:txBody>
      </p:sp>
      <p:sp>
        <p:nvSpPr>
          <p:cNvPr id="4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491"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1B7B419-5446-4E1C-BCA3-BDC87C32981F}" type="slidenum">
              <a:rPr kumimoji="0" lang="en-US" sz="1200" b="0" i="0" u="none" strike="noStrike" kern="1200" cap="none" spc="0" normalizeH="0" baseline="0" noProof="0">
                <a:ln>
                  <a:noFill/>
                </a:ln>
                <a:solidFill>
                  <a:srgbClr val="000000"/>
                </a:solidFill>
                <a:effectLst/>
                <a:uLnTx/>
                <a:uFillTx/>
                <a:latin typeface="Arial"/>
                <a:ea typeface="+mn-ea"/>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srgbClr val="000000"/>
              </a:solidFill>
              <a:effectLst/>
              <a:uLnTx/>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ZA"/>
          </a:p>
        </p:txBody>
      </p:sp>
      <p:sp>
        <p:nvSpPr>
          <p:cNvPr id="4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494"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BB9443D-D210-434F-84D6-FD48B1E93442}" type="slidenum">
              <a:rPr kumimoji="0" lang="en-US" sz="1200" b="0" i="0" u="none" strike="noStrike" kern="1200" cap="none" spc="0" normalizeH="0" baseline="0" noProof="0">
                <a:ln>
                  <a:noFill/>
                </a:ln>
                <a:solidFill>
                  <a:srgbClr val="000000"/>
                </a:solidFill>
                <a:effectLst/>
                <a:uLnTx/>
                <a:uFillTx/>
                <a:latin typeface="Arial"/>
                <a:ea typeface="+mn-ea"/>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srgbClr val="000000"/>
              </a:solidFill>
              <a:effectLst/>
              <a:uLnTx/>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F12FE-6589-598E-72A8-0077C719B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669742-0EE1-CB82-D9D7-05E71386642B}"/>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421DC743-96CB-FFCC-F2B1-64E6B0FF6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B59080-FB53-830E-A864-76CA20262DF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23471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E9CBA-35A4-93A8-7ABB-24ABC5C697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0D168-94C6-256F-C6B6-03BD0688A26C}"/>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15088D74-EAA3-EDB0-21E7-824E51666D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F4B0A2-BD69-DC8D-F154-40FDFB8B56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400445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44D23-9B5B-7D57-C67A-67D860134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821023-9655-B39D-DB46-DFCB2DB8AF9B}"/>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517FF460-5DBF-FD9F-C0EA-3C62BB718E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A4CC3D-8ED6-B1EA-A514-958CAD49C93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516020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ZA"/>
          </a:p>
        </p:txBody>
      </p:sp>
      <p:sp>
        <p:nvSpPr>
          <p:cNvPr id="4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00"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DF68C33-D007-4976-9F2E-072B2A6B447B}" type="slidenum">
              <a:rPr kumimoji="0" lang="en-US" sz="1200" b="0" i="0" u="none" strike="noStrike" kern="1200" cap="none" spc="0" normalizeH="0" baseline="0" noProof="0">
                <a:ln>
                  <a:noFill/>
                </a:ln>
                <a:solidFill>
                  <a:srgbClr val="000000"/>
                </a:solidFill>
                <a:effectLst/>
                <a:uLnTx/>
                <a:uFillTx/>
                <a:latin typeface="Arial"/>
                <a:ea typeface="+mn-ea"/>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srgbClr val="000000"/>
              </a:solidFill>
              <a:effectLst/>
              <a:uLnTx/>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ZA"/>
          </a:p>
        </p:txBody>
      </p:sp>
      <p:sp>
        <p:nvSpPr>
          <p:cNvPr id="5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03"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E44F8E5-EFAA-4157-9682-250577367296}" type="slidenum">
              <a:rPr kumimoji="0" lang="en-US" sz="1200" b="0" i="0" u="none" strike="noStrike" kern="1200" cap="none" spc="0" normalizeH="0" baseline="0" noProof="0">
                <a:ln>
                  <a:noFill/>
                </a:ln>
                <a:solidFill>
                  <a:srgbClr val="000000"/>
                </a:solidFill>
                <a:effectLst/>
                <a:uLnTx/>
                <a:uFillTx/>
                <a:latin typeface="Arial"/>
                <a:ea typeface="+mn-ea"/>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srgbClr val="000000"/>
              </a:solidFill>
              <a:effectLst/>
              <a:uLnTx/>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F58FA-D951-F17C-D62D-B0CDEA70C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28A36-8512-982D-2D3C-3B2B334809F3}"/>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932E8613-E1F2-19FF-6BA6-34C4BA0767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2BF175-23AE-CABE-ADF3-BAE728329F3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76221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087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47267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122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67976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6345911"/>
      </p:ext>
    </p:extLst>
  </p:cSld>
  <p:clrMap bg1="lt1" tx1="dk1" bg2="lt2" tx2="dk2" accent1="accent1" accent2="accent2" accent3="accent3" accent4="accent4" accent5="accent5" accent6="accent6" hlink="hlink" folHlink="folHlink"/>
  <p:sldLayoutIdLst>
    <p:sldLayoutId id="214748366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extLst>
      <p:ext uri="{BB962C8B-B14F-4D97-AF65-F5344CB8AC3E}">
        <p14:creationId xmlns:p14="http://schemas.microsoft.com/office/powerpoint/2010/main" val="2417775806"/>
      </p:ext>
    </p:extLst>
  </p:cSld>
  <p:clrMap bg1="lt1" tx1="dk1" bg2="lt2" tx2="dk2" accent1="accent1" accent2="accent2" accent3="accent3" accent4="accent4" accent5="accent5" accent6="accent6" hlink="hlink" folHlink="folHlink"/>
  <p:sldLayoutIdLst>
    <p:sldLayoutId id="214748366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5559431"/>
      </p:ext>
    </p:extLst>
  </p:cSld>
  <p:clrMap bg1="lt1" tx1="dk1" bg2="lt2" tx2="dk2" accent1="accent1" accent2="accent2" accent3="accent3" accent4="accent4" accent5="accent5" accent6="accent6" hlink="hlink" folHlink="folHlink"/>
  <p:sldLayoutIdLst>
    <p:sldLayoutId id="2147483666"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9.png"/><Relationship Id="rId8" Type="http://schemas.openxmlformats.org/officeDocument/2006/relationships/image" Target="../media/image17.png"/><Relationship Id="rId9" Type="http://schemas.openxmlformats.org/officeDocument/2006/relationships/image" Target="../media/image13.png"/><Relationship Id="rId10"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23.png"/><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39.jpeg"/><Relationship Id="rId4" Type="http://schemas.openxmlformats.org/officeDocument/2006/relationships/image" Target="../media/image40.png"/><Relationship Id="rId5"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39.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4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4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39.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3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31520" y="914400"/>
            <a:ext cx="50292" cy="50292"/>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96112" y="914400"/>
            <a:ext cx="50292" cy="50292"/>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60704" y="914400"/>
            <a:ext cx="50292" cy="50292"/>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31520" y="1078992"/>
            <a:ext cx="50292" cy="50292"/>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96112" y="1078992"/>
            <a:ext cx="50292" cy="50292"/>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60704" y="1078992"/>
            <a:ext cx="50292" cy="50292"/>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31520" y="1243584"/>
            <a:ext cx="50292" cy="50292"/>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96112" y="1243584"/>
            <a:ext cx="50292" cy="50292"/>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60704" y="1243584"/>
            <a:ext cx="50292" cy="50292"/>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1783080"/>
            <a:ext cx="2743200" cy="274320"/>
          </a:xfrm>
          <a:prstGeom prst="rect">
            <a:avLst/>
          </a:prstGeom>
          <a:noFill/>
        </p:spPr>
        <p:txBody>
          <a:bodyPr wrap="none" lIns="0" tIns="0" rIns="0" bIns="0" anchor="t">
            <a:spAutoFit/>
          </a:bodyPr>
          <a:lstStyle/>
          <a:p>
            <a:pPr algn="l"/>
            <a:r>
              <a:rPr sz="1800" b="0" i="0">
                <a:solidFill>
                  <a:srgbClr val="696F7A"/>
                </a:solidFill>
                <a:latin typeface="Aptos"/>
              </a:rPr>
              <a:t>Welcome to my</a:t>
            </a:r>
          </a:p>
        </p:txBody>
      </p:sp>
      <p:sp>
        <p:nvSpPr>
          <p:cNvPr id="13" name="TextBox 12"/>
          <p:cNvSpPr txBox="1"/>
          <p:nvPr/>
        </p:nvSpPr>
        <p:spPr>
          <a:xfrm>
            <a:off x="749808" y="2121408"/>
            <a:ext cx="4297651" cy="800219"/>
          </a:xfrm>
          <a:prstGeom prst="rect">
            <a:avLst/>
          </a:prstGeom>
          <a:noFill/>
        </p:spPr>
        <p:txBody>
          <a:bodyPr wrap="none" lIns="0" tIns="0" rIns="0" bIns="0" anchor="t">
            <a:spAutoFit/>
          </a:bodyPr>
          <a:lstStyle/>
          <a:p>
            <a:pPr algn="l"/>
            <a:r>
              <a:rPr sz="5200" b="1" i="0" dirty="0">
                <a:solidFill>
                  <a:srgbClr val="101C30"/>
                </a:solidFill>
                <a:latin typeface="Georgia"/>
              </a:rPr>
              <a:t>PORTFOLIO</a:t>
            </a:r>
          </a:p>
        </p:txBody>
      </p:sp>
      <p:sp>
        <p:nvSpPr>
          <p:cNvPr id="14" name="TextBox 13"/>
          <p:cNvSpPr txBox="1"/>
          <p:nvPr/>
        </p:nvSpPr>
        <p:spPr>
          <a:xfrm>
            <a:off x="786384" y="2906292"/>
            <a:ext cx="2286000" cy="274320"/>
          </a:xfrm>
          <a:prstGeom prst="rect">
            <a:avLst/>
          </a:prstGeom>
          <a:noFill/>
        </p:spPr>
        <p:txBody>
          <a:bodyPr wrap="none" lIns="0" tIns="0" rIns="0" bIns="0" anchor="t">
            <a:spAutoFit/>
          </a:bodyPr>
          <a:lstStyle/>
          <a:p>
            <a:pPr algn="l"/>
            <a:r>
              <a:rPr sz="1300" b="1" i="0">
                <a:solidFill>
                  <a:srgbClr val="1F5BFF"/>
                </a:solidFill>
                <a:latin typeface="Aptos"/>
              </a:rPr>
              <a:t>UX DESIGNER</a:t>
            </a:r>
          </a:p>
        </p:txBody>
      </p:sp>
      <p:sp>
        <p:nvSpPr>
          <p:cNvPr id="16" name="Rounded Rectangle 15"/>
          <p:cNvSpPr/>
          <p:nvPr/>
        </p:nvSpPr>
        <p:spPr>
          <a:xfrm>
            <a:off x="778142" y="3708868"/>
            <a:ext cx="1554480" cy="347472"/>
          </a:xfrm>
          <a:prstGeom prst="roundRect">
            <a:avLst>
              <a:gd name="adj" fmla="val 12000"/>
            </a:avLst>
          </a:prstGeom>
          <a:solidFill>
            <a:srgbClr val="F6F8FC"/>
          </a:solidFill>
          <a:ln>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8142" y="3812000"/>
            <a:ext cx="1554480" cy="146304"/>
          </a:xfrm>
          <a:prstGeom prst="rect">
            <a:avLst/>
          </a:prstGeom>
          <a:noFill/>
        </p:spPr>
        <p:txBody>
          <a:bodyPr wrap="none" lIns="0" tIns="0" rIns="0" bIns="0" anchor="t">
            <a:spAutoFit/>
          </a:bodyPr>
          <a:lstStyle/>
          <a:p>
            <a:pPr algn="ctr"/>
            <a:r>
              <a:rPr sz="900" b="1" i="0" dirty="0">
                <a:solidFill>
                  <a:srgbClr val="101C30"/>
                </a:solidFill>
                <a:latin typeface="Aptos"/>
              </a:rPr>
              <a:t>SYSTEMS THINKING</a:t>
            </a:r>
          </a:p>
        </p:txBody>
      </p:sp>
      <p:sp>
        <p:nvSpPr>
          <p:cNvPr id="20" name="Rounded Rectangle 19"/>
          <p:cNvSpPr/>
          <p:nvPr/>
        </p:nvSpPr>
        <p:spPr>
          <a:xfrm>
            <a:off x="2456066" y="3721608"/>
            <a:ext cx="1325880" cy="347472"/>
          </a:xfrm>
          <a:prstGeom prst="roundRect">
            <a:avLst>
              <a:gd name="adj" fmla="val 12000"/>
            </a:avLst>
          </a:prstGeom>
          <a:solidFill>
            <a:srgbClr val="F6F8FC"/>
          </a:solidFill>
          <a:ln>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456066" y="3824740"/>
            <a:ext cx="1325880" cy="146304"/>
          </a:xfrm>
          <a:prstGeom prst="rect">
            <a:avLst/>
          </a:prstGeom>
          <a:noFill/>
        </p:spPr>
        <p:txBody>
          <a:bodyPr wrap="none" lIns="0" tIns="0" rIns="0" bIns="0" anchor="t">
            <a:spAutoFit/>
          </a:bodyPr>
          <a:lstStyle/>
          <a:p>
            <a:pPr algn="ctr"/>
            <a:r>
              <a:rPr sz="900" b="1" i="0" dirty="0">
                <a:solidFill>
                  <a:srgbClr val="101C30"/>
                </a:solidFill>
                <a:latin typeface="Aptos"/>
              </a:rPr>
              <a:t>EVIDENCE-LED</a:t>
            </a:r>
          </a:p>
        </p:txBody>
      </p:sp>
      <p:sp>
        <p:nvSpPr>
          <p:cNvPr id="22" name="Oval 21"/>
          <p:cNvSpPr/>
          <p:nvPr/>
        </p:nvSpPr>
        <p:spPr>
          <a:xfrm>
            <a:off x="7452360" y="1143000"/>
            <a:ext cx="3383280" cy="3383280"/>
          </a:xfrm>
          <a:prstGeom prst="ellipse">
            <a:avLst/>
          </a:prstGeom>
          <a:solidFill>
            <a:srgbClr val="F6F8FC"/>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732520" y="2286000"/>
            <a:ext cx="914400" cy="914400"/>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32520" y="2578608"/>
            <a:ext cx="914400" cy="182880"/>
          </a:xfrm>
          <a:prstGeom prst="rect">
            <a:avLst/>
          </a:prstGeom>
          <a:noFill/>
        </p:spPr>
        <p:txBody>
          <a:bodyPr wrap="none" lIns="0" tIns="0" rIns="0" bIns="0" anchor="t">
            <a:spAutoFit/>
          </a:bodyPr>
          <a:lstStyle/>
          <a:p>
            <a:pPr algn="ctr"/>
            <a:r>
              <a:rPr sz="1000" b="1" i="0">
                <a:solidFill>
                  <a:srgbClr val="FFFFFF"/>
                </a:solidFill>
                <a:latin typeface="Aptos"/>
              </a:rPr>
              <a:t>USER</a:t>
            </a:r>
          </a:p>
        </p:txBody>
      </p:sp>
      <p:sp>
        <p:nvSpPr>
          <p:cNvPr id="25" name="Oval 24"/>
          <p:cNvSpPr/>
          <p:nvPr/>
        </p:nvSpPr>
        <p:spPr>
          <a:xfrm>
            <a:off x="7360920" y="1874519"/>
            <a:ext cx="530352" cy="530352"/>
          </a:xfrm>
          <a:prstGeom prst="ellipse">
            <a:avLst/>
          </a:prstGeom>
          <a:solidFill>
            <a:srgbClr val="FFFFFF"/>
          </a:solidFill>
          <a:ln w="1524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40880" y="2587752"/>
            <a:ext cx="1188720" cy="182880"/>
          </a:xfrm>
          <a:prstGeom prst="rect">
            <a:avLst/>
          </a:prstGeom>
          <a:noFill/>
        </p:spPr>
        <p:txBody>
          <a:bodyPr wrap="none" lIns="0" tIns="0" rIns="0" bIns="0" anchor="t">
            <a:spAutoFit/>
          </a:bodyPr>
          <a:lstStyle/>
          <a:p>
            <a:pPr algn="ctr"/>
            <a:r>
              <a:rPr sz="800" b="1" i="0">
                <a:solidFill>
                  <a:srgbClr val="696F7A"/>
                </a:solidFill>
                <a:latin typeface="Aptos"/>
              </a:rPr>
              <a:t>NEED</a:t>
            </a:r>
          </a:p>
        </p:txBody>
      </p:sp>
      <p:cxnSp>
        <p:nvCxnSpPr>
          <p:cNvPr id="27" name="Connector 26"/>
          <p:cNvCxnSpPr/>
          <p:nvPr/>
        </p:nvCxnSpPr>
        <p:spPr>
          <a:xfrm flipH="1" flipV="1">
            <a:off x="7626096" y="2139696"/>
            <a:ext cx="649224" cy="603504"/>
          </a:xfrm>
          <a:prstGeom prst="line">
            <a:avLst/>
          </a:prstGeom>
          <a:ln w="15240">
            <a:solidFill>
              <a:srgbClr val="E0E5EE"/>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9738360" y="1417320"/>
            <a:ext cx="530352" cy="530352"/>
          </a:xfrm>
          <a:prstGeom prst="ellipse">
            <a:avLst/>
          </a:prstGeom>
          <a:solidFill>
            <a:srgbClr val="FFFFFF"/>
          </a:solidFill>
          <a:ln w="1524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18320" y="2130552"/>
            <a:ext cx="1188720" cy="182880"/>
          </a:xfrm>
          <a:prstGeom prst="rect">
            <a:avLst/>
          </a:prstGeom>
          <a:noFill/>
        </p:spPr>
        <p:txBody>
          <a:bodyPr wrap="none" lIns="0" tIns="0" rIns="0" bIns="0" anchor="t">
            <a:spAutoFit/>
          </a:bodyPr>
          <a:lstStyle/>
          <a:p>
            <a:pPr algn="ctr"/>
            <a:r>
              <a:rPr sz="800" b="1" i="0">
                <a:solidFill>
                  <a:srgbClr val="696F7A"/>
                </a:solidFill>
                <a:latin typeface="Aptos"/>
              </a:rPr>
              <a:t>DATA</a:t>
            </a:r>
          </a:p>
        </p:txBody>
      </p:sp>
      <p:cxnSp>
        <p:nvCxnSpPr>
          <p:cNvPr id="30" name="Connector 29"/>
          <p:cNvCxnSpPr/>
          <p:nvPr/>
        </p:nvCxnSpPr>
        <p:spPr>
          <a:xfrm flipV="1">
            <a:off x="8275320" y="1682496"/>
            <a:ext cx="1728216" cy="1060704"/>
          </a:xfrm>
          <a:prstGeom prst="line">
            <a:avLst/>
          </a:prstGeom>
          <a:ln w="15240">
            <a:solidFill>
              <a:srgbClr val="E0E5EE"/>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0104120" y="3429000"/>
            <a:ext cx="530352" cy="530352"/>
          </a:xfrm>
          <a:prstGeom prst="ellipse">
            <a:avLst/>
          </a:prstGeom>
          <a:solidFill>
            <a:srgbClr val="FFFFFF"/>
          </a:solidFill>
          <a:ln w="1524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84080" y="4142232"/>
            <a:ext cx="1188720" cy="182880"/>
          </a:xfrm>
          <a:prstGeom prst="rect">
            <a:avLst/>
          </a:prstGeom>
          <a:noFill/>
        </p:spPr>
        <p:txBody>
          <a:bodyPr wrap="none" lIns="0" tIns="0" rIns="0" bIns="0" anchor="t">
            <a:spAutoFit/>
          </a:bodyPr>
          <a:lstStyle/>
          <a:p>
            <a:pPr algn="ctr"/>
            <a:r>
              <a:rPr sz="800" b="1" i="0">
                <a:solidFill>
                  <a:srgbClr val="696F7A"/>
                </a:solidFill>
                <a:latin typeface="Aptos"/>
              </a:rPr>
              <a:t>SERVICE</a:t>
            </a:r>
          </a:p>
        </p:txBody>
      </p:sp>
      <p:cxnSp>
        <p:nvCxnSpPr>
          <p:cNvPr id="33" name="Connector 32"/>
          <p:cNvCxnSpPr/>
          <p:nvPr/>
        </p:nvCxnSpPr>
        <p:spPr>
          <a:xfrm>
            <a:off x="8275320" y="2743200"/>
            <a:ext cx="2093976" cy="950976"/>
          </a:xfrm>
          <a:prstGeom prst="line">
            <a:avLst/>
          </a:prstGeom>
          <a:ln w="15240">
            <a:solidFill>
              <a:srgbClr val="E0E5EE"/>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7360920" y="3703320"/>
            <a:ext cx="530352" cy="530352"/>
          </a:xfrm>
          <a:prstGeom prst="ellipse">
            <a:avLst/>
          </a:prstGeom>
          <a:solidFill>
            <a:srgbClr val="FFFFFF"/>
          </a:solidFill>
          <a:ln w="1524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040880" y="4416552"/>
            <a:ext cx="1188720" cy="182880"/>
          </a:xfrm>
          <a:prstGeom prst="rect">
            <a:avLst/>
          </a:prstGeom>
          <a:noFill/>
        </p:spPr>
        <p:txBody>
          <a:bodyPr wrap="none" lIns="0" tIns="0" rIns="0" bIns="0" anchor="t">
            <a:spAutoFit/>
          </a:bodyPr>
          <a:lstStyle/>
          <a:p>
            <a:pPr algn="ctr"/>
            <a:r>
              <a:rPr sz="800" b="1" i="0">
                <a:solidFill>
                  <a:srgbClr val="696F7A"/>
                </a:solidFill>
                <a:latin typeface="Aptos"/>
              </a:rPr>
              <a:t>CONTEXT</a:t>
            </a:r>
          </a:p>
        </p:txBody>
      </p:sp>
      <p:cxnSp>
        <p:nvCxnSpPr>
          <p:cNvPr id="36" name="Connector 35"/>
          <p:cNvCxnSpPr/>
          <p:nvPr/>
        </p:nvCxnSpPr>
        <p:spPr>
          <a:xfrm flipH="1">
            <a:off x="7626096" y="2743200"/>
            <a:ext cx="649224" cy="1225296"/>
          </a:xfrm>
          <a:prstGeom prst="line">
            <a:avLst/>
          </a:prstGeom>
          <a:ln w="15240">
            <a:solidFill>
              <a:srgbClr val="E0E5E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1109960" y="6473952"/>
            <a:ext cx="365760" cy="164592"/>
          </a:xfrm>
          <a:prstGeom prst="rect">
            <a:avLst/>
          </a:prstGeom>
          <a:noFill/>
        </p:spPr>
        <p:txBody>
          <a:bodyPr wrap="none" lIns="0" tIns="0" rIns="0" bIns="0" anchor="t">
            <a:spAutoFit/>
          </a:bodyPr>
          <a:lstStyle/>
          <a:p>
            <a:pPr algn="r"/>
            <a:r>
              <a:rPr sz="800" b="0" i="0">
                <a:solidFill>
                  <a:srgbClr val="A4ABB8"/>
                </a:solidFill>
                <a:latin typeface="Aptos"/>
              </a:rPr>
              <a:t>01</a:t>
            </a:r>
          </a:p>
        </p:txBody>
      </p:sp>
      <p:sp>
        <p:nvSpPr>
          <p:cNvPr id="43" name="Rounded Rectangle 21">
            <a:extLst>
              <a:ext uri="{FF2B5EF4-FFF2-40B4-BE49-F238E27FC236}">
                <a16:creationId xmlns:a16="http://schemas.microsoft.com/office/drawing/2014/main" id="{4A9AC588-A780-A17E-AD6B-E5026D9F3BDB}"/>
              </a:ext>
            </a:extLst>
          </p:cNvPr>
          <p:cNvSpPr/>
          <p:nvPr/>
        </p:nvSpPr>
        <p:spPr>
          <a:xfrm>
            <a:off x="731520" y="4416552"/>
            <a:ext cx="2331720" cy="960120"/>
          </a:xfrm>
          <a:prstGeom prst="roundRect">
            <a:avLst>
              <a:gd name="adj" fmla="val 12000"/>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F9F7CEE5-6A89-3839-DE28-A315878998F2}"/>
              </a:ext>
            </a:extLst>
          </p:cNvPr>
          <p:cNvSpPr txBox="1"/>
          <p:nvPr/>
        </p:nvSpPr>
        <p:spPr>
          <a:xfrm>
            <a:off x="978408" y="4754880"/>
            <a:ext cx="640080" cy="411480"/>
          </a:xfrm>
          <a:prstGeom prst="rect">
            <a:avLst/>
          </a:prstGeom>
          <a:noFill/>
        </p:spPr>
        <p:txBody>
          <a:bodyPr wrap="none" lIns="0" tIns="0" rIns="0" bIns="0" anchor="t">
            <a:spAutoFit/>
          </a:bodyPr>
          <a:lstStyle/>
          <a:p>
            <a:pPr algn="l"/>
            <a:r>
              <a:rPr sz="2300" b="1" i="0" dirty="0">
                <a:solidFill>
                  <a:srgbClr val="101C30"/>
                </a:solidFill>
                <a:latin typeface="Aptos Mono"/>
              </a:rPr>
              <a:t>&lt;/&gt;</a:t>
            </a:r>
          </a:p>
        </p:txBody>
      </p:sp>
      <p:sp>
        <p:nvSpPr>
          <p:cNvPr id="47" name="TextBox 46">
            <a:extLst>
              <a:ext uri="{FF2B5EF4-FFF2-40B4-BE49-F238E27FC236}">
                <a16:creationId xmlns:a16="http://schemas.microsoft.com/office/drawing/2014/main" id="{3E9D64D6-0CAB-46FC-011A-1573C9F0EAE3}"/>
              </a:ext>
            </a:extLst>
          </p:cNvPr>
          <p:cNvSpPr txBox="1"/>
          <p:nvPr/>
        </p:nvSpPr>
        <p:spPr>
          <a:xfrm>
            <a:off x="1645920" y="4764024"/>
            <a:ext cx="914400" cy="274320"/>
          </a:xfrm>
          <a:prstGeom prst="rect">
            <a:avLst/>
          </a:prstGeom>
          <a:noFill/>
        </p:spPr>
        <p:txBody>
          <a:bodyPr wrap="none" lIns="0" tIns="0" rIns="0" bIns="0" anchor="t">
            <a:spAutoFit/>
          </a:bodyPr>
          <a:lstStyle/>
          <a:p>
            <a:pPr algn="l"/>
            <a:r>
              <a:rPr sz="1100" b="1" i="0">
                <a:solidFill>
                  <a:srgbClr val="1F5BFF"/>
                </a:solidFill>
                <a:latin typeface="Aptos"/>
              </a:rPr>
              <a:t>UX / UI</a:t>
            </a:r>
          </a:p>
        </p:txBody>
      </p:sp>
      <p:sp>
        <p:nvSpPr>
          <p:cNvPr id="15" name="TextBox 14">
            <a:extLst>
              <a:ext uri="{FF2B5EF4-FFF2-40B4-BE49-F238E27FC236}">
                <a16:creationId xmlns:a16="http://schemas.microsoft.com/office/drawing/2014/main" id="{79C7B421-0539-E78B-51C4-71100CCDD7DF}"/>
              </a:ext>
            </a:extLst>
          </p:cNvPr>
          <p:cNvSpPr txBox="1"/>
          <p:nvPr/>
        </p:nvSpPr>
        <p:spPr>
          <a:xfrm>
            <a:off x="-304800" y="4127500"/>
            <a:ext cx="184731" cy="369332"/>
          </a:xfrm>
          <a:prstGeom prst="rect">
            <a:avLst/>
          </a:prstGeom>
          <a:noFill/>
        </p:spPr>
        <p:txBody>
          <a:bodyPr wrap="none" rtlCol="0">
            <a:spAutoFit/>
          </a:bodyPr>
          <a:lstStyle/>
          <a:p>
            <a:endParaRPr lang="en-ZA"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502920"/>
            <a:ext cx="2194560" cy="22860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1F5BFF"/>
                </a:solidFill>
                <a:effectLst/>
                <a:uLnTx/>
                <a:uFillTx/>
                <a:latin typeface="Aptos"/>
                <a:ea typeface="+mn-ea"/>
                <a:cs typeface="+mn-cs"/>
              </a:rPr>
              <a:t>01 / ABOUT ME</a:t>
            </a:r>
          </a:p>
        </p:txBody>
      </p:sp>
      <p:pic>
        <p:nvPicPr>
          <p:cNvPr id="5" name="Picture 4" descr="stan_portrait.png"/>
          <p:cNvPicPr>
            <a:picLocks noChangeAspect="1"/>
          </p:cNvPicPr>
          <p:nvPr/>
        </p:nvPicPr>
        <p:blipFill>
          <a:blip r:embed="rId2"/>
          <a:stretch>
            <a:fillRect/>
          </a:stretch>
        </p:blipFill>
        <p:spPr>
          <a:xfrm>
            <a:off x="914400" y="1229868"/>
            <a:ext cx="2212848" cy="3063240"/>
          </a:xfrm>
          <a:prstGeom prst="rect">
            <a:avLst/>
          </a:prstGeom>
        </p:spPr>
      </p:pic>
      <p:sp>
        <p:nvSpPr>
          <p:cNvPr id="6" name="TextBox 5"/>
          <p:cNvSpPr txBox="1"/>
          <p:nvPr/>
        </p:nvSpPr>
        <p:spPr>
          <a:xfrm>
            <a:off x="3977639" y="1321308"/>
            <a:ext cx="1828800" cy="2743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696F7A"/>
                </a:solidFill>
                <a:effectLst/>
                <a:uLnTx/>
                <a:uFillTx/>
                <a:latin typeface="Aptos"/>
                <a:ea typeface="+mn-ea"/>
                <a:cs typeface="+mn-cs"/>
              </a:rPr>
              <a:t>Hello, I am</a:t>
            </a:r>
          </a:p>
        </p:txBody>
      </p:sp>
      <p:sp>
        <p:nvSpPr>
          <p:cNvPr id="7" name="TextBox 6"/>
          <p:cNvSpPr txBox="1"/>
          <p:nvPr/>
        </p:nvSpPr>
        <p:spPr>
          <a:xfrm>
            <a:off x="3950208" y="1595628"/>
            <a:ext cx="5303520" cy="45720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900" b="1" i="0" u="none" strike="noStrike" kern="1200" cap="none" spc="0" normalizeH="0" baseline="0" noProof="0">
                <a:ln>
                  <a:noFill/>
                </a:ln>
                <a:solidFill>
                  <a:srgbClr val="101C30"/>
                </a:solidFill>
                <a:effectLst/>
                <a:uLnTx/>
                <a:uFillTx/>
                <a:latin typeface="Aptos"/>
                <a:ea typeface="+mn-ea"/>
                <a:cs typeface="+mn-cs"/>
              </a:rPr>
              <a:t>Stanslous Nhau</a:t>
            </a:r>
          </a:p>
        </p:txBody>
      </p:sp>
      <p:sp>
        <p:nvSpPr>
          <p:cNvPr id="8" name="TextBox 7"/>
          <p:cNvSpPr txBox="1"/>
          <p:nvPr/>
        </p:nvSpPr>
        <p:spPr>
          <a:xfrm>
            <a:off x="3977639" y="2144268"/>
            <a:ext cx="1828800" cy="256032"/>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1F5BFF"/>
                </a:solidFill>
                <a:effectLst/>
                <a:uLnTx/>
                <a:uFillTx/>
                <a:latin typeface="Aptos"/>
                <a:ea typeface="+mn-ea"/>
                <a:cs typeface="+mn-cs"/>
              </a:rPr>
              <a:t>Call me Stan.</a:t>
            </a:r>
          </a:p>
        </p:txBody>
      </p:sp>
      <p:sp>
        <p:nvSpPr>
          <p:cNvPr id="9" name="TextBox 8"/>
          <p:cNvSpPr txBox="1"/>
          <p:nvPr/>
        </p:nvSpPr>
        <p:spPr>
          <a:xfrm>
            <a:off x="3977639" y="2273300"/>
            <a:ext cx="6551168" cy="1477328"/>
          </a:xfrm>
          <a:prstGeom prst="rect">
            <a:avLst/>
          </a:prstGeom>
          <a:noFill/>
        </p:spPr>
        <p:txBody>
          <a:bodyPr wrap="square" lIns="0" tIns="0" rIns="0" bIns="0" anchor="t">
            <a:spAutoFit/>
          </a:bodyPr>
          <a:lstStyle/>
          <a:p>
            <a:br/>
            <a:r>
              <a:t>I entered UX through an unconventional route: statistics. My training taught me to interrogate evidence, identify patterns and question assumptions; UX gave those skills a human focus. Today, I use research, systems thinking and design to understand not only what people do, but the conditions shaping those behaviours.</a:t>
            </a:r>
          </a:p>
        </p:txBody>
      </p:sp>
      <p:sp>
        <p:nvSpPr>
          <p:cNvPr id="10" name="Rectangle 9"/>
          <p:cNvSpPr/>
          <p:nvPr/>
        </p:nvSpPr>
        <p:spPr>
          <a:xfrm>
            <a:off x="4011676" y="3895055"/>
            <a:ext cx="54864" cy="619393"/>
          </a:xfrm>
          <a:prstGeom prst="rect">
            <a:avLst/>
          </a:prstGeom>
          <a:solidFill>
            <a:srgbClr val="1F5BFF"/>
          </a:solidFill>
          <a:ln>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4172208" y="4001291"/>
            <a:ext cx="4779772" cy="43088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1" u="none" strike="noStrike" kern="1200" cap="none" spc="0" normalizeH="0" baseline="0" noProof="0" dirty="0">
                <a:ln>
                  <a:noFill/>
                </a:ln>
                <a:solidFill>
                  <a:srgbClr val="1F5BFF"/>
                </a:solidFill>
                <a:effectLst/>
                <a:uLnTx/>
                <a:uFillTx/>
                <a:latin typeface="Georgia"/>
                <a:ea typeface="+mn-ea"/>
                <a:cs typeface="+mn-cs"/>
              </a:rPr>
              <a:t>“Clarity, built on evidence,</a:t>
            </a:r>
            <a:r>
              <a:rPr kumimoji="0" lang="en-ZA" sz="1400" b="1" i="1" u="none" strike="noStrike" kern="1200" cap="none" spc="0" normalizeH="0" baseline="0" noProof="0" dirty="0">
                <a:ln>
                  <a:noFill/>
                </a:ln>
                <a:solidFill>
                  <a:srgbClr val="1F5BFF"/>
                </a:solidFill>
                <a:effectLst/>
                <a:uLnTx/>
                <a:uFillTx/>
                <a:latin typeface="Georgia"/>
                <a:ea typeface="+mn-ea"/>
                <a:cs typeface="+mn-cs"/>
              </a:rPr>
              <a:t> </a:t>
            </a:r>
            <a:r>
              <a:rPr kumimoji="0" sz="1400" b="1" i="1" u="none" strike="noStrike" kern="1200" cap="none" spc="0" normalizeH="0" baseline="0" noProof="0" dirty="0">
                <a:ln>
                  <a:noFill/>
                </a:ln>
                <a:solidFill>
                  <a:srgbClr val="1F5BFF"/>
                </a:solidFill>
                <a:effectLst/>
                <a:uLnTx/>
                <a:uFillTx/>
                <a:latin typeface="Georgia"/>
                <a:ea typeface="+mn-ea"/>
                <a:cs typeface="+mn-cs"/>
              </a:rPr>
              <a:t>delivered with empathy.”</a:t>
            </a:r>
          </a:p>
        </p:txBody>
      </p:sp>
      <p:sp>
        <p:nvSpPr>
          <p:cNvPr id="15" name="TextBox 14"/>
          <p:cNvSpPr txBox="1"/>
          <p:nvPr/>
        </p:nvSpPr>
        <p:spPr>
          <a:xfrm>
            <a:off x="11109960" y="6473952"/>
            <a:ext cx="365760" cy="164592"/>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A4ABB8"/>
                </a:solidFill>
                <a:effectLst/>
                <a:uLnTx/>
                <a:uFillTx/>
                <a:latin typeface="Aptos"/>
                <a:ea typeface="+mn-ea"/>
                <a:cs typeface="+mn-cs"/>
              </a:rPr>
              <a:t>02</a:t>
            </a:r>
          </a:p>
        </p:txBody>
      </p:sp>
      <p:sp>
        <p:nvSpPr>
          <p:cNvPr id="34" name="TextBox 33">
            <a:extLst>
              <a:ext uri="{FF2B5EF4-FFF2-40B4-BE49-F238E27FC236}">
                <a16:creationId xmlns:a16="http://schemas.microsoft.com/office/drawing/2014/main" id="{AC9F1997-5270-D94A-8F4A-A84773E9C4D8}"/>
              </a:ext>
            </a:extLst>
          </p:cNvPr>
          <p:cNvSpPr txBox="1"/>
          <p:nvPr/>
        </p:nvSpPr>
        <p:spPr>
          <a:xfrm>
            <a:off x="731520" y="4692253"/>
            <a:ext cx="1828800" cy="22860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1F5BFF"/>
                </a:solidFill>
                <a:effectLst/>
                <a:uLnTx/>
                <a:uFillTx/>
                <a:latin typeface="Aptos"/>
                <a:ea typeface="+mn-ea"/>
                <a:cs typeface="+mn-cs"/>
              </a:rPr>
              <a:t>THE DIFFERENTIATOR</a:t>
            </a:r>
          </a:p>
        </p:txBody>
      </p:sp>
      <p:sp>
        <p:nvSpPr>
          <p:cNvPr id="35" name="TextBox 34">
            <a:extLst>
              <a:ext uri="{FF2B5EF4-FFF2-40B4-BE49-F238E27FC236}">
                <a16:creationId xmlns:a16="http://schemas.microsoft.com/office/drawing/2014/main" id="{A2D99EF1-78EF-27D4-68DF-093092EC1C7E}"/>
              </a:ext>
            </a:extLst>
          </p:cNvPr>
          <p:cNvSpPr txBox="1"/>
          <p:nvPr/>
        </p:nvSpPr>
        <p:spPr>
          <a:xfrm>
            <a:off x="731520" y="4994005"/>
            <a:ext cx="3474720" cy="5029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101C30"/>
                </a:solidFill>
                <a:effectLst/>
                <a:uLnTx/>
                <a:uFillTx/>
                <a:latin typeface="Georgia"/>
                <a:ea typeface="+mn-ea"/>
                <a:cs typeface="+mn-cs"/>
              </a:rPr>
              <a:t>Statistics → UX</a:t>
            </a:r>
          </a:p>
        </p:txBody>
      </p:sp>
      <p:sp>
        <p:nvSpPr>
          <p:cNvPr id="36" name="TextBox 35">
            <a:extLst>
              <a:ext uri="{FF2B5EF4-FFF2-40B4-BE49-F238E27FC236}">
                <a16:creationId xmlns:a16="http://schemas.microsoft.com/office/drawing/2014/main" id="{91C99CEF-88AE-EB42-E2AD-BCD69335E2DB}"/>
              </a:ext>
            </a:extLst>
          </p:cNvPr>
          <p:cNvSpPr txBox="1"/>
          <p:nvPr/>
        </p:nvSpPr>
        <p:spPr>
          <a:xfrm>
            <a:off x="731520" y="5606653"/>
            <a:ext cx="3474720" cy="77724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41416"/>
                </a:solidFill>
                <a:effectLst/>
                <a:uLnTx/>
                <a:uFillTx/>
                <a:latin typeface="Georgia"/>
                <a:ea typeface="+mn-ea"/>
                <a:cs typeface="+mn-cs"/>
              </a:rPr>
              <a:t>Same instinct for evidence.
A new focus: people.</a:t>
            </a:r>
          </a:p>
        </p:txBody>
      </p:sp>
      <p:sp>
        <p:nvSpPr>
          <p:cNvPr id="37" name="Oval 36">
            <a:extLst>
              <a:ext uri="{FF2B5EF4-FFF2-40B4-BE49-F238E27FC236}">
                <a16:creationId xmlns:a16="http://schemas.microsoft.com/office/drawing/2014/main" id="{094C4867-3A6D-3E6B-7DFC-79B8080B8FCD}"/>
              </a:ext>
            </a:extLst>
          </p:cNvPr>
          <p:cNvSpPr/>
          <p:nvPr/>
        </p:nvSpPr>
        <p:spPr>
          <a:xfrm>
            <a:off x="4455886" y="5381681"/>
            <a:ext cx="640080" cy="640080"/>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8" name="TextBox 37">
            <a:extLst>
              <a:ext uri="{FF2B5EF4-FFF2-40B4-BE49-F238E27FC236}">
                <a16:creationId xmlns:a16="http://schemas.microsoft.com/office/drawing/2014/main" id="{9A1E2E79-9706-050D-0E5F-5228F8DED852}"/>
              </a:ext>
            </a:extLst>
          </p:cNvPr>
          <p:cNvSpPr txBox="1"/>
          <p:nvPr/>
        </p:nvSpPr>
        <p:spPr>
          <a:xfrm>
            <a:off x="4455886" y="5636213"/>
            <a:ext cx="640080" cy="18288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ptos"/>
                <a:ea typeface="+mn-ea"/>
                <a:cs typeface="+mn-cs"/>
              </a:rPr>
              <a:t>1</a:t>
            </a:r>
          </a:p>
        </p:txBody>
      </p:sp>
      <p:sp>
        <p:nvSpPr>
          <p:cNvPr id="39" name="TextBox 38">
            <a:extLst>
              <a:ext uri="{FF2B5EF4-FFF2-40B4-BE49-F238E27FC236}">
                <a16:creationId xmlns:a16="http://schemas.microsoft.com/office/drawing/2014/main" id="{AE746938-4E62-5991-A487-481A205688EA}"/>
              </a:ext>
            </a:extLst>
          </p:cNvPr>
          <p:cNvSpPr txBox="1"/>
          <p:nvPr/>
        </p:nvSpPr>
        <p:spPr>
          <a:xfrm>
            <a:off x="4135846" y="6158921"/>
            <a:ext cx="1280160" cy="22860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01C30"/>
                </a:solidFill>
                <a:effectLst/>
                <a:uLnTx/>
                <a:uFillTx/>
                <a:latin typeface="Aptos"/>
                <a:ea typeface="+mn-ea"/>
                <a:cs typeface="+mn-cs"/>
              </a:rPr>
              <a:t>Observe</a:t>
            </a:r>
          </a:p>
        </p:txBody>
      </p:sp>
      <p:sp>
        <p:nvSpPr>
          <p:cNvPr id="41" name="Oval 40">
            <a:extLst>
              <a:ext uri="{FF2B5EF4-FFF2-40B4-BE49-F238E27FC236}">
                <a16:creationId xmlns:a16="http://schemas.microsoft.com/office/drawing/2014/main" id="{88DBA89F-5C9A-ACC1-1F61-E5CB4F1B34E3}"/>
              </a:ext>
            </a:extLst>
          </p:cNvPr>
          <p:cNvSpPr/>
          <p:nvPr/>
        </p:nvSpPr>
        <p:spPr>
          <a:xfrm>
            <a:off x="6056086" y="5381681"/>
            <a:ext cx="640080" cy="640080"/>
          </a:xfrm>
          <a:prstGeom prst="ellipse">
            <a:avLst/>
          </a:prstGeom>
          <a:solidFill>
            <a:srgbClr val="F6F8FC"/>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TextBox 41">
            <a:extLst>
              <a:ext uri="{FF2B5EF4-FFF2-40B4-BE49-F238E27FC236}">
                <a16:creationId xmlns:a16="http://schemas.microsoft.com/office/drawing/2014/main" id="{2B9B5FD2-9A58-6BCB-5F5B-E32BC7C4106F}"/>
              </a:ext>
            </a:extLst>
          </p:cNvPr>
          <p:cNvSpPr txBox="1"/>
          <p:nvPr/>
        </p:nvSpPr>
        <p:spPr>
          <a:xfrm>
            <a:off x="6056086" y="5651048"/>
            <a:ext cx="640080" cy="18288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101C30"/>
                </a:solidFill>
                <a:effectLst/>
                <a:uLnTx/>
                <a:uFillTx/>
                <a:latin typeface="Aptos"/>
                <a:ea typeface="+mn-ea"/>
                <a:cs typeface="+mn-cs"/>
              </a:rPr>
              <a:t>2</a:t>
            </a:r>
          </a:p>
        </p:txBody>
      </p:sp>
      <p:sp>
        <p:nvSpPr>
          <p:cNvPr id="43" name="TextBox 42">
            <a:extLst>
              <a:ext uri="{FF2B5EF4-FFF2-40B4-BE49-F238E27FC236}">
                <a16:creationId xmlns:a16="http://schemas.microsoft.com/office/drawing/2014/main" id="{504D21AA-70F7-8729-D962-17A52B844F93}"/>
              </a:ext>
            </a:extLst>
          </p:cNvPr>
          <p:cNvSpPr txBox="1"/>
          <p:nvPr/>
        </p:nvSpPr>
        <p:spPr>
          <a:xfrm>
            <a:off x="5736046" y="6158921"/>
            <a:ext cx="1280160" cy="22860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01C30"/>
                </a:solidFill>
                <a:effectLst/>
                <a:uLnTx/>
                <a:uFillTx/>
                <a:latin typeface="Aptos"/>
                <a:ea typeface="+mn-ea"/>
                <a:cs typeface="+mn-cs"/>
              </a:rPr>
              <a:t>Understand</a:t>
            </a:r>
          </a:p>
        </p:txBody>
      </p:sp>
      <p:sp>
        <p:nvSpPr>
          <p:cNvPr id="45" name="Oval 44">
            <a:extLst>
              <a:ext uri="{FF2B5EF4-FFF2-40B4-BE49-F238E27FC236}">
                <a16:creationId xmlns:a16="http://schemas.microsoft.com/office/drawing/2014/main" id="{2EFF72AD-1A62-4BC7-E489-46252E1C2705}"/>
              </a:ext>
            </a:extLst>
          </p:cNvPr>
          <p:cNvSpPr/>
          <p:nvPr/>
        </p:nvSpPr>
        <p:spPr>
          <a:xfrm>
            <a:off x="7656286" y="5381681"/>
            <a:ext cx="640080" cy="640080"/>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6" name="TextBox 45">
            <a:extLst>
              <a:ext uri="{FF2B5EF4-FFF2-40B4-BE49-F238E27FC236}">
                <a16:creationId xmlns:a16="http://schemas.microsoft.com/office/drawing/2014/main" id="{31EC2818-DDA9-13EA-3FF6-BEB8AABDD122}"/>
              </a:ext>
            </a:extLst>
          </p:cNvPr>
          <p:cNvSpPr txBox="1"/>
          <p:nvPr/>
        </p:nvSpPr>
        <p:spPr>
          <a:xfrm>
            <a:off x="7656286" y="5641523"/>
            <a:ext cx="640080" cy="18288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FFFF"/>
                </a:solidFill>
                <a:effectLst/>
                <a:uLnTx/>
                <a:uFillTx/>
                <a:latin typeface="Aptos"/>
                <a:ea typeface="+mn-ea"/>
                <a:cs typeface="+mn-cs"/>
              </a:rPr>
              <a:t>3</a:t>
            </a:r>
          </a:p>
        </p:txBody>
      </p:sp>
      <p:sp>
        <p:nvSpPr>
          <p:cNvPr id="47" name="TextBox 46">
            <a:extLst>
              <a:ext uri="{FF2B5EF4-FFF2-40B4-BE49-F238E27FC236}">
                <a16:creationId xmlns:a16="http://schemas.microsoft.com/office/drawing/2014/main" id="{5334967D-8164-F7F6-31F1-7282085F8874}"/>
              </a:ext>
            </a:extLst>
          </p:cNvPr>
          <p:cNvSpPr txBox="1"/>
          <p:nvPr/>
        </p:nvSpPr>
        <p:spPr>
          <a:xfrm>
            <a:off x="7336246" y="6158921"/>
            <a:ext cx="1280160" cy="22860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01C30"/>
                </a:solidFill>
                <a:effectLst/>
                <a:uLnTx/>
                <a:uFillTx/>
                <a:latin typeface="Aptos"/>
                <a:ea typeface="+mn-ea"/>
                <a:cs typeface="+mn-cs"/>
              </a:rPr>
              <a:t>Design</a:t>
            </a:r>
          </a:p>
        </p:txBody>
      </p:sp>
      <p:sp>
        <p:nvSpPr>
          <p:cNvPr id="49" name="Oval 48">
            <a:extLst>
              <a:ext uri="{FF2B5EF4-FFF2-40B4-BE49-F238E27FC236}">
                <a16:creationId xmlns:a16="http://schemas.microsoft.com/office/drawing/2014/main" id="{261BADC2-55D9-AF7C-3568-659552DC0F4F}"/>
              </a:ext>
            </a:extLst>
          </p:cNvPr>
          <p:cNvSpPr/>
          <p:nvPr/>
        </p:nvSpPr>
        <p:spPr>
          <a:xfrm>
            <a:off x="9256486" y="5381681"/>
            <a:ext cx="640080" cy="640080"/>
          </a:xfrm>
          <a:prstGeom prst="ellipse">
            <a:avLst/>
          </a:prstGeom>
          <a:solidFill>
            <a:srgbClr val="F6F8FC"/>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0" name="TextBox 49">
            <a:extLst>
              <a:ext uri="{FF2B5EF4-FFF2-40B4-BE49-F238E27FC236}">
                <a16:creationId xmlns:a16="http://schemas.microsoft.com/office/drawing/2014/main" id="{02C04EFB-8D64-3874-0436-9AAEA760DF73}"/>
              </a:ext>
            </a:extLst>
          </p:cNvPr>
          <p:cNvSpPr txBox="1"/>
          <p:nvPr/>
        </p:nvSpPr>
        <p:spPr>
          <a:xfrm>
            <a:off x="9256486" y="5651048"/>
            <a:ext cx="640080" cy="18288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101C30"/>
                </a:solidFill>
                <a:effectLst/>
                <a:uLnTx/>
                <a:uFillTx/>
                <a:latin typeface="Aptos"/>
                <a:ea typeface="+mn-ea"/>
                <a:cs typeface="+mn-cs"/>
              </a:rPr>
              <a:t>4</a:t>
            </a:r>
          </a:p>
        </p:txBody>
      </p:sp>
      <p:sp>
        <p:nvSpPr>
          <p:cNvPr id="51" name="TextBox 50">
            <a:extLst>
              <a:ext uri="{FF2B5EF4-FFF2-40B4-BE49-F238E27FC236}">
                <a16:creationId xmlns:a16="http://schemas.microsoft.com/office/drawing/2014/main" id="{EBB951B4-128A-2FB5-9B0A-92C49192D1C2}"/>
              </a:ext>
            </a:extLst>
          </p:cNvPr>
          <p:cNvSpPr txBox="1"/>
          <p:nvPr/>
        </p:nvSpPr>
        <p:spPr>
          <a:xfrm>
            <a:off x="9441072" y="6158921"/>
            <a:ext cx="270908" cy="169277"/>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1100" b="1" i="0" u="none" strike="noStrike" kern="1200" cap="none" spc="0" normalizeH="0" baseline="0" noProof="0" dirty="0">
                <a:ln>
                  <a:noFill/>
                </a:ln>
                <a:solidFill>
                  <a:srgbClr val="101C30"/>
                </a:solidFill>
                <a:effectLst/>
                <a:uLnTx/>
                <a:uFillTx/>
                <a:latin typeface="Aptos"/>
                <a:ea typeface="+mn-ea"/>
                <a:cs typeface="+mn-cs"/>
              </a:rPr>
              <a:t>Test</a:t>
            </a:r>
            <a:endParaRPr kumimoji="0" sz="1100" b="1" i="0" u="none" strike="noStrike" kern="1200" cap="none" spc="0" normalizeH="0" baseline="0" noProof="0" dirty="0">
              <a:ln>
                <a:noFill/>
              </a:ln>
              <a:solidFill>
                <a:srgbClr val="101C30"/>
              </a:solidFill>
              <a:effectLst/>
              <a:uLnTx/>
              <a:uFillTx/>
              <a:latin typeface="Aptos"/>
              <a:ea typeface="+mn-ea"/>
              <a:cs typeface="+mn-cs"/>
            </a:endParaRPr>
          </a:p>
        </p:txBody>
      </p:sp>
      <p:sp>
        <p:nvSpPr>
          <p:cNvPr id="4" name="Oval 3">
            <a:extLst>
              <a:ext uri="{FF2B5EF4-FFF2-40B4-BE49-F238E27FC236}">
                <a16:creationId xmlns:a16="http://schemas.microsoft.com/office/drawing/2014/main" id="{852CE995-AC00-6055-25F5-E47AF208190F}"/>
              </a:ext>
            </a:extLst>
          </p:cNvPr>
          <p:cNvSpPr/>
          <p:nvPr/>
        </p:nvSpPr>
        <p:spPr>
          <a:xfrm>
            <a:off x="10856686" y="5376371"/>
            <a:ext cx="640080" cy="640080"/>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CA61EF89-9F32-2C74-53C8-C453B86BEC2B}"/>
              </a:ext>
            </a:extLst>
          </p:cNvPr>
          <p:cNvSpPr txBox="1"/>
          <p:nvPr/>
        </p:nvSpPr>
        <p:spPr>
          <a:xfrm>
            <a:off x="11151785" y="5636213"/>
            <a:ext cx="68930" cy="153888"/>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1000" b="1" i="0" u="none" strike="noStrike" kern="1200" cap="none" spc="0" normalizeH="0" baseline="0" noProof="0" dirty="0">
                <a:ln>
                  <a:noFill/>
                </a:ln>
                <a:solidFill>
                  <a:srgbClr val="FFFFFF"/>
                </a:solidFill>
                <a:effectLst/>
                <a:uLnTx/>
                <a:uFillTx/>
                <a:latin typeface="Aptos"/>
                <a:ea typeface="+mn-ea"/>
                <a:cs typeface="+mn-cs"/>
              </a:rPr>
              <a:t>5</a:t>
            </a:r>
            <a:endParaRPr kumimoji="0" sz="1000" b="1" i="0" u="none" strike="noStrike" kern="1200" cap="none" spc="0" normalizeH="0" baseline="0" noProof="0" dirty="0">
              <a:ln>
                <a:noFill/>
              </a:ln>
              <a:solidFill>
                <a:srgbClr val="FFFFFF"/>
              </a:solidFill>
              <a:effectLst/>
              <a:uLnTx/>
              <a:uFillTx/>
              <a:latin typeface="Aptos"/>
              <a:ea typeface="+mn-ea"/>
              <a:cs typeface="+mn-cs"/>
            </a:endParaRPr>
          </a:p>
        </p:txBody>
      </p:sp>
      <p:sp>
        <p:nvSpPr>
          <p:cNvPr id="13" name="TextBox 12">
            <a:extLst>
              <a:ext uri="{FF2B5EF4-FFF2-40B4-BE49-F238E27FC236}">
                <a16:creationId xmlns:a16="http://schemas.microsoft.com/office/drawing/2014/main" id="{27E7F389-024D-C609-DD07-49245DE3BB18}"/>
              </a:ext>
            </a:extLst>
          </p:cNvPr>
          <p:cNvSpPr txBox="1"/>
          <p:nvPr/>
        </p:nvSpPr>
        <p:spPr>
          <a:xfrm>
            <a:off x="10898606" y="6153611"/>
            <a:ext cx="556243" cy="169277"/>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1100" b="1" i="0" u="none" strike="noStrike" kern="1200" cap="none" spc="0" normalizeH="0" baseline="0" noProof="0" dirty="0">
                <a:ln>
                  <a:noFill/>
                </a:ln>
                <a:solidFill>
                  <a:srgbClr val="101C30"/>
                </a:solidFill>
                <a:effectLst/>
                <a:uLnTx/>
                <a:uFillTx/>
                <a:latin typeface="Aptos"/>
                <a:ea typeface="+mn-ea"/>
                <a:cs typeface="+mn-cs"/>
              </a:rPr>
              <a:t>Measure</a:t>
            </a:r>
            <a:endParaRPr kumimoji="0" sz="1100" b="1" i="0" u="none" strike="noStrike" kern="1200" cap="none" spc="0" normalizeH="0" baseline="0" noProof="0" dirty="0">
              <a:ln>
                <a:noFill/>
              </a:ln>
              <a:solidFill>
                <a:srgbClr val="101C30"/>
              </a:solidFill>
              <a:effectLst/>
              <a:uLnTx/>
              <a:uFillTx/>
              <a:latin typeface="Aptos"/>
              <a:ea typeface="+mn-ea"/>
              <a:cs typeface="+mn-cs"/>
            </a:endParaRPr>
          </a:p>
        </p:txBody>
      </p:sp>
      <p:sp>
        <p:nvSpPr>
          <p:cNvPr id="17" name="TextBox 16">
            <a:extLst>
              <a:ext uri="{FF2B5EF4-FFF2-40B4-BE49-F238E27FC236}">
                <a16:creationId xmlns:a16="http://schemas.microsoft.com/office/drawing/2014/main" id="{EFBC9339-2BF5-BAF7-8510-5720B569A5A5}"/>
              </a:ext>
            </a:extLst>
          </p:cNvPr>
          <p:cNvSpPr txBox="1"/>
          <p:nvPr/>
        </p:nvSpPr>
        <p:spPr>
          <a:xfrm>
            <a:off x="7800486" y="4755541"/>
            <a:ext cx="457818" cy="184666"/>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1200" b="1" i="0" u="none" strike="noStrike" kern="1200" cap="none" spc="0" normalizeH="0" baseline="0" noProof="0" dirty="0">
                <a:ln>
                  <a:noFill/>
                </a:ln>
                <a:solidFill>
                  <a:srgbClr val="101C30"/>
                </a:solidFill>
                <a:effectLst/>
                <a:uLnTx/>
                <a:uFillTx/>
                <a:latin typeface="Aptos"/>
                <a:ea typeface="+mn-ea"/>
                <a:cs typeface="+mn-cs"/>
              </a:rPr>
              <a:t>Iterate</a:t>
            </a:r>
            <a:endParaRPr kumimoji="0" sz="1200" b="1" i="0" u="none" strike="noStrike" kern="1200" cap="none" spc="0" normalizeH="0" baseline="0" noProof="0" dirty="0">
              <a:ln>
                <a:noFill/>
              </a:ln>
              <a:solidFill>
                <a:srgbClr val="101C30"/>
              </a:solidFill>
              <a:effectLst/>
              <a:uLnTx/>
              <a:uFillTx/>
              <a:latin typeface="Aptos"/>
              <a:ea typeface="+mn-ea"/>
              <a:cs typeface="+mn-cs"/>
            </a:endParaRPr>
          </a:p>
        </p:txBody>
      </p:sp>
      <p:cxnSp>
        <p:nvCxnSpPr>
          <p:cNvPr id="30" name="Straight Arrow Connector 29">
            <a:extLst>
              <a:ext uri="{FF2B5EF4-FFF2-40B4-BE49-F238E27FC236}">
                <a16:creationId xmlns:a16="http://schemas.microsoft.com/office/drawing/2014/main" id="{96098D65-0E18-0CD1-4157-A12EDB8C32CB}"/>
              </a:ext>
            </a:extLst>
          </p:cNvPr>
          <p:cNvCxnSpPr>
            <a:cxnSpLocks/>
          </p:cNvCxnSpPr>
          <p:nvPr/>
        </p:nvCxnSpPr>
        <p:spPr>
          <a:xfrm>
            <a:off x="5141686" y="5688993"/>
            <a:ext cx="8839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5A5FF142-4AEE-5C3A-A7DA-3CE19C7AEBA4}"/>
              </a:ext>
            </a:extLst>
          </p:cNvPr>
          <p:cNvCxnSpPr>
            <a:cxnSpLocks/>
          </p:cNvCxnSpPr>
          <p:nvPr/>
        </p:nvCxnSpPr>
        <p:spPr>
          <a:xfrm>
            <a:off x="6741886" y="5696411"/>
            <a:ext cx="8839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C3456998-E431-A388-96ED-4068E875B289}"/>
              </a:ext>
            </a:extLst>
          </p:cNvPr>
          <p:cNvCxnSpPr>
            <a:cxnSpLocks/>
          </p:cNvCxnSpPr>
          <p:nvPr/>
        </p:nvCxnSpPr>
        <p:spPr>
          <a:xfrm>
            <a:off x="8327231" y="5696411"/>
            <a:ext cx="8839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3BC34833-B783-958E-53F9-F557B30A5AFE}"/>
              </a:ext>
            </a:extLst>
          </p:cNvPr>
          <p:cNvCxnSpPr>
            <a:cxnSpLocks/>
          </p:cNvCxnSpPr>
          <p:nvPr/>
        </p:nvCxnSpPr>
        <p:spPr>
          <a:xfrm>
            <a:off x="9942286" y="5696411"/>
            <a:ext cx="8839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Loop Connector 12.22-5.5">
            <a:extLst>
              <a:ext uri="{FF2B5EF4-FFF2-40B4-BE49-F238E27FC236}">
                <a16:creationId xmlns:a16="http://schemas.microsoft.com/office/drawing/2014/main" id="{96098D65-0E18-0CD1-4157-A12EDB8C32CB}"/>
              </a:ext>
            </a:extLst>
          </p:cNvPr>
          <p:cNvCxnSpPr>
            <a:cxnSpLocks/>
          </p:cNvCxnSpPr>
          <p:nvPr/>
        </p:nvCxnSpPr>
        <p:spPr>
          <a:xfrm>
            <a:off x="11173968" y="5029200"/>
            <a:ext cx="1" cy="347471"/>
          </a:xfrm>
          <a:prstGeom prst="straightConnector1">
            <a:avLst/>
          </a:prstGeom>
          <a:ln>
            <a:prstDash val="dash"/>
          </a:ln>
        </p:spPr>
        <p:style>
          <a:lnRef idx="2">
            <a:schemeClr val="accent1"/>
          </a:lnRef>
          <a:fillRef idx="0">
            <a:schemeClr val="accent1"/>
          </a:fillRef>
          <a:effectRef idx="1">
            <a:schemeClr val="accent1"/>
          </a:effectRef>
          <a:fontRef idx="minor">
            <a:schemeClr val="tx1"/>
          </a:fontRef>
        </p:style>
      </p:cxnSp>
      <p:cxnSp>
        <p:nvCxnSpPr>
          <p:cNvPr id="14" name="Loop Connector 12.22-5.5">
            <a:extLst>
              <a:ext uri="{FF2B5EF4-FFF2-40B4-BE49-F238E27FC236}">
                <a16:creationId xmlns:a16="http://schemas.microsoft.com/office/drawing/2014/main" id="{96098D65-0E18-0CD1-4157-A12EDB8C32CB}"/>
              </a:ext>
            </a:extLst>
          </p:cNvPr>
          <p:cNvCxnSpPr>
            <a:cxnSpLocks/>
          </p:cNvCxnSpPr>
          <p:nvPr/>
        </p:nvCxnSpPr>
        <p:spPr>
          <a:xfrm flipH="1">
            <a:off x="4773168" y="5029200"/>
            <a:ext cx="6400800" cy="1"/>
          </a:xfrm>
          <a:prstGeom prst="straightConnector1">
            <a:avLst/>
          </a:prstGeom>
          <a:ln>
            <a:prstDash val="dash"/>
          </a:ln>
        </p:spPr>
        <p:style>
          <a:lnRef idx="2">
            <a:schemeClr val="accent1"/>
          </a:lnRef>
          <a:fillRef idx="0">
            <a:schemeClr val="accent1"/>
          </a:fillRef>
          <a:effectRef idx="1">
            <a:schemeClr val="accent1"/>
          </a:effectRef>
          <a:fontRef idx="minor">
            <a:schemeClr val="tx1"/>
          </a:fontRef>
        </p:style>
      </p:cxnSp>
      <p:cxnSp>
        <p:nvCxnSpPr>
          <p:cNvPr id="16" name="Loop Connector 5.22-5.5">
            <a:extLst>
              <a:ext uri="{FF2B5EF4-FFF2-40B4-BE49-F238E27FC236}">
                <a16:creationId xmlns:a16="http://schemas.microsoft.com/office/drawing/2014/main" id="{96098D65-0E18-0CD1-4157-A12EDB8C32CB}"/>
              </a:ext>
            </a:extLst>
          </p:cNvPr>
          <p:cNvCxnSpPr>
            <a:cxnSpLocks/>
          </p:cNvCxnSpPr>
          <p:nvPr/>
        </p:nvCxnSpPr>
        <p:spPr>
          <a:xfrm>
            <a:off x="4773168" y="5029200"/>
            <a:ext cx="1" cy="356615"/>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502920"/>
            <a:ext cx="2286000" cy="228600"/>
          </a:xfrm>
          <a:prstGeom prst="rect">
            <a:avLst/>
          </a:prstGeom>
          <a:noFill/>
        </p:spPr>
        <p:txBody>
          <a:bodyPr wrap="none" lIns="0" tIns="0" rIns="0" bIns="0" anchor="t">
            <a:spAutoFit/>
          </a:bodyPr>
          <a:lstStyle/>
          <a:p>
            <a:pPr algn="l"/>
            <a:r>
              <a:rPr sz="1000" b="1" i="0">
                <a:solidFill>
                  <a:srgbClr val="1F5BFF"/>
                </a:solidFill>
                <a:latin typeface="Aptos"/>
              </a:rPr>
              <a:t>02 / HOW I THINK</a:t>
            </a:r>
          </a:p>
        </p:txBody>
      </p:sp>
      <p:sp>
        <p:nvSpPr>
          <p:cNvPr id="3" name="TextBox 2"/>
          <p:cNvSpPr txBox="1"/>
          <p:nvPr/>
        </p:nvSpPr>
        <p:spPr>
          <a:xfrm>
            <a:off x="731520" y="841248"/>
            <a:ext cx="2585644" cy="461665"/>
          </a:xfrm>
          <a:prstGeom prst="rect">
            <a:avLst/>
          </a:prstGeom>
          <a:noFill/>
        </p:spPr>
        <p:txBody>
          <a:bodyPr wrap="none" lIns="0" tIns="0" rIns="0" bIns="0" anchor="t">
            <a:spAutoFit/>
          </a:bodyPr>
          <a:lstStyle/>
          <a:p>
            <a:pPr algn="l"/>
            <a:r>
              <a:rPr lang="en-ZA" sz="3000" b="1" dirty="0">
                <a:solidFill>
                  <a:srgbClr val="101C30"/>
                </a:solidFill>
                <a:latin typeface="Georgia"/>
              </a:rPr>
              <a:t>My approach</a:t>
            </a:r>
            <a:endParaRPr sz="3000" b="1" i="0" dirty="0">
              <a:solidFill>
                <a:srgbClr val="101C30"/>
              </a:solidFill>
              <a:latin typeface="Georgia"/>
            </a:endParaRPr>
          </a:p>
        </p:txBody>
      </p:sp>
      <p:sp>
        <p:nvSpPr>
          <p:cNvPr id="4" name="TextBox 3"/>
          <p:cNvSpPr txBox="1"/>
          <p:nvPr/>
        </p:nvSpPr>
        <p:spPr>
          <a:xfrm>
            <a:off x="731520" y="1508760"/>
            <a:ext cx="9572300" cy="200055"/>
          </a:xfrm>
          <a:prstGeom prst="rect">
            <a:avLst/>
          </a:prstGeom>
          <a:noFill/>
        </p:spPr>
        <p:txBody>
          <a:bodyPr wrap="none" lIns="0" tIns="0" rIns="0" bIns="0" anchor="t">
            <a:spAutoFit/>
          </a:bodyPr>
          <a:lstStyle/>
          <a:p>
            <a:pPr algn="l"/>
            <a:r>
              <a:rPr sz="1300" b="0" i="0" dirty="0">
                <a:solidFill>
                  <a:srgbClr val="696F7A"/>
                </a:solidFill>
                <a:latin typeface="Aptos"/>
              </a:rPr>
              <a:t>Systems thinking helps me look beyond the interface</a:t>
            </a:r>
            <a:r>
              <a:rPr lang="en-ZA" sz="1300" b="0" i="0" dirty="0">
                <a:solidFill>
                  <a:srgbClr val="696F7A"/>
                </a:solidFill>
                <a:latin typeface="Aptos"/>
              </a:rPr>
              <a:t>, mainly </a:t>
            </a:r>
            <a:r>
              <a:rPr sz="1300" b="0" i="0" dirty="0">
                <a:solidFill>
                  <a:srgbClr val="696F7A"/>
                </a:solidFill>
                <a:latin typeface="Aptos"/>
              </a:rPr>
              <a:t>at the relationships, constraints, incentives and feedback loops around it.</a:t>
            </a:r>
          </a:p>
        </p:txBody>
      </p:sp>
      <p:sp>
        <p:nvSpPr>
          <p:cNvPr id="5" name="Oval 4"/>
          <p:cNvSpPr/>
          <p:nvPr/>
        </p:nvSpPr>
        <p:spPr>
          <a:xfrm>
            <a:off x="4663440" y="2568564"/>
            <a:ext cx="1600200" cy="1600200"/>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28032" y="2961756"/>
            <a:ext cx="1280160" cy="400110"/>
          </a:xfrm>
          <a:prstGeom prst="rect">
            <a:avLst/>
          </a:prstGeom>
          <a:noFill/>
        </p:spPr>
        <p:txBody>
          <a:bodyPr wrap="square" lIns="0" tIns="0" rIns="0" bIns="0" anchor="t">
            <a:spAutoFit/>
          </a:bodyPr>
          <a:lstStyle/>
          <a:p>
            <a:pPr algn="ctr"/>
            <a:r>
              <a:rPr sz="1300" b="1" i="0">
                <a:solidFill>
                  <a:srgbClr val="FFFFFF"/>
                </a:solidFill>
                <a:latin typeface="Aptos"/>
              </a:rPr>
              <a:t>USER
EXPERIENCE</a:t>
            </a:r>
          </a:p>
        </p:txBody>
      </p:sp>
      <p:sp>
        <p:nvSpPr>
          <p:cNvPr id="7" name="Oval 6"/>
          <p:cNvSpPr/>
          <p:nvPr/>
        </p:nvSpPr>
        <p:spPr>
          <a:xfrm>
            <a:off x="914400" y="1837044"/>
            <a:ext cx="777240" cy="777240"/>
          </a:xfrm>
          <a:prstGeom prst="ellipse">
            <a:avLst/>
          </a:prstGeom>
          <a:solidFill>
            <a:srgbClr val="FFFFFF"/>
          </a:solidFill>
          <a:ln w="1778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2733156"/>
            <a:ext cx="1600200" cy="201168"/>
          </a:xfrm>
          <a:prstGeom prst="rect">
            <a:avLst/>
          </a:prstGeom>
          <a:noFill/>
        </p:spPr>
        <p:txBody>
          <a:bodyPr wrap="none" lIns="0" tIns="0" rIns="0" bIns="0" anchor="t">
            <a:spAutoFit/>
          </a:bodyPr>
          <a:lstStyle/>
          <a:p>
            <a:pPr algn="ctr"/>
            <a:r>
              <a:rPr sz="900" b="1" i="0">
                <a:solidFill>
                  <a:srgbClr val="1F5BFF"/>
                </a:solidFill>
                <a:latin typeface="Aptos"/>
              </a:rPr>
              <a:t>PEOPLE</a:t>
            </a:r>
          </a:p>
        </p:txBody>
      </p:sp>
      <p:sp>
        <p:nvSpPr>
          <p:cNvPr id="9" name="TextBox 8"/>
          <p:cNvSpPr txBox="1"/>
          <p:nvPr/>
        </p:nvSpPr>
        <p:spPr>
          <a:xfrm>
            <a:off x="228600" y="2980044"/>
            <a:ext cx="2148840" cy="502920"/>
          </a:xfrm>
          <a:prstGeom prst="rect">
            <a:avLst/>
          </a:prstGeom>
          <a:noFill/>
        </p:spPr>
        <p:txBody>
          <a:bodyPr wrap="none" lIns="0" tIns="0" rIns="0" bIns="0" anchor="t">
            <a:spAutoFit/>
          </a:bodyPr>
          <a:lstStyle/>
          <a:p>
            <a:pPr algn="ctr"/>
            <a:r>
              <a:rPr sz="1000" b="0" i="0">
                <a:solidFill>
                  <a:srgbClr val="696F7A"/>
                </a:solidFill>
                <a:latin typeface="Aptos"/>
              </a:rPr>
              <a:t>Needs, behaviours,
expectations</a:t>
            </a:r>
          </a:p>
        </p:txBody>
      </p:sp>
      <p:cxnSp>
        <p:nvCxnSpPr>
          <p:cNvPr id="10" name="Connector 9"/>
          <p:cNvCxnSpPr>
            <a:cxnSpLocks/>
          </p:cNvCxnSpPr>
          <p:nvPr/>
        </p:nvCxnSpPr>
        <p:spPr>
          <a:xfrm flipH="1" flipV="1">
            <a:off x="1303020" y="2225663"/>
            <a:ext cx="4165092" cy="1147573"/>
          </a:xfrm>
          <a:prstGeom prst="line">
            <a:avLst/>
          </a:prstGeom>
          <a:ln w="16510">
            <a:solidFill>
              <a:srgbClr val="E0E5EE"/>
            </a:solidFill>
            <a:prstDash val="dash"/>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743200" y="4488804"/>
            <a:ext cx="777240" cy="777240"/>
          </a:xfrm>
          <a:prstGeom prst="ellipse">
            <a:avLst/>
          </a:prstGeom>
          <a:solidFill>
            <a:srgbClr val="FFFFFF"/>
          </a:solidFill>
          <a:ln w="1778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57400" y="5389880"/>
            <a:ext cx="2148840" cy="502920"/>
          </a:xfrm>
          <a:prstGeom prst="rect">
            <a:avLst/>
          </a:prstGeom>
          <a:noFill/>
        </p:spPr>
        <p:txBody>
          <a:bodyPr wrap="none" lIns="0" tIns="0" rIns="0" bIns="0" anchor="t">
            <a:spAutoFit/>
          </a:bodyPr>
          <a:lstStyle/>
          <a:p>
            <a:pPr algn="ctr"/>
            <a:r>
              <a:rPr sz="1000" b="0" i="0">
                <a:solidFill>
                  <a:srgbClr val="696F7A"/>
                </a:solidFill>
                <a:latin typeface="Aptos"/>
              </a:rPr>
              <a:t>Signals, evidence,
measurement</a:t>
            </a:r>
          </a:p>
        </p:txBody>
      </p:sp>
      <p:cxnSp>
        <p:nvCxnSpPr>
          <p:cNvPr id="14" name="Connector 13"/>
          <p:cNvCxnSpPr>
            <a:cxnSpLocks/>
          </p:cNvCxnSpPr>
          <p:nvPr/>
        </p:nvCxnSpPr>
        <p:spPr>
          <a:xfrm flipH="1">
            <a:off x="3131820" y="3373236"/>
            <a:ext cx="2336292" cy="1504188"/>
          </a:xfrm>
          <a:prstGeom prst="line">
            <a:avLst/>
          </a:prstGeom>
          <a:ln w="16510">
            <a:solidFill>
              <a:srgbClr val="E0E5EE"/>
            </a:solidFill>
            <a:prstDash val="dash"/>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18120" y="1837044"/>
            <a:ext cx="777240" cy="777240"/>
          </a:xfrm>
          <a:prstGeom prst="ellipse">
            <a:avLst/>
          </a:prstGeom>
          <a:solidFill>
            <a:srgbClr val="FFFFFF"/>
          </a:solidFill>
          <a:ln w="1778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06640" y="2733156"/>
            <a:ext cx="1600200" cy="138499"/>
          </a:xfrm>
          <a:prstGeom prst="rect">
            <a:avLst/>
          </a:prstGeom>
          <a:noFill/>
        </p:spPr>
        <p:txBody>
          <a:bodyPr wrap="square" lIns="0" tIns="0" rIns="0" bIns="0" anchor="t">
            <a:spAutoFit/>
          </a:bodyPr>
          <a:lstStyle/>
          <a:p>
            <a:pPr algn="ctr"/>
            <a:r>
              <a:rPr sz="900" b="1" i="0">
                <a:solidFill>
                  <a:srgbClr val="1F5BFF"/>
                </a:solidFill>
                <a:latin typeface="Aptos"/>
              </a:rPr>
              <a:t>SERVICE</a:t>
            </a:r>
          </a:p>
        </p:txBody>
      </p:sp>
      <p:sp>
        <p:nvSpPr>
          <p:cNvPr id="17" name="TextBox 16"/>
          <p:cNvSpPr txBox="1"/>
          <p:nvPr/>
        </p:nvSpPr>
        <p:spPr>
          <a:xfrm>
            <a:off x="7132320" y="2980044"/>
            <a:ext cx="2148840" cy="307777"/>
          </a:xfrm>
          <a:prstGeom prst="rect">
            <a:avLst/>
          </a:prstGeom>
          <a:noFill/>
        </p:spPr>
        <p:txBody>
          <a:bodyPr wrap="square" lIns="0" tIns="0" rIns="0" bIns="0" anchor="t">
            <a:spAutoFit/>
          </a:bodyPr>
          <a:lstStyle/>
          <a:p>
            <a:pPr algn="ctr"/>
            <a:r>
              <a:rPr sz="1000" b="0" i="0">
                <a:solidFill>
                  <a:srgbClr val="696F7A"/>
                </a:solidFill>
                <a:latin typeface="Aptos"/>
              </a:rPr>
              <a:t>Processes,
channels, touchpoints</a:t>
            </a:r>
          </a:p>
        </p:txBody>
      </p:sp>
      <p:cxnSp>
        <p:nvCxnSpPr>
          <p:cNvPr id="18" name="Connector 17"/>
          <p:cNvCxnSpPr>
            <a:cxnSpLocks/>
          </p:cNvCxnSpPr>
          <p:nvPr/>
        </p:nvCxnSpPr>
        <p:spPr>
          <a:xfrm flipV="1">
            <a:off x="5468112" y="2225663"/>
            <a:ext cx="2738628" cy="1147573"/>
          </a:xfrm>
          <a:prstGeom prst="line">
            <a:avLst/>
          </a:prstGeom>
          <a:ln w="16510">
            <a:solidFill>
              <a:srgbClr val="E0E5EE"/>
            </a:solidFill>
            <a:prstDash val="dash"/>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281160" y="4488804"/>
            <a:ext cx="777240" cy="777240"/>
          </a:xfrm>
          <a:prstGeom prst="ellipse">
            <a:avLst/>
          </a:prstGeom>
          <a:solidFill>
            <a:srgbClr val="FFFFFF"/>
          </a:solidFill>
          <a:ln w="1778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0" y="5389880"/>
            <a:ext cx="2148840" cy="502920"/>
          </a:xfrm>
          <a:prstGeom prst="rect">
            <a:avLst/>
          </a:prstGeom>
          <a:noFill/>
        </p:spPr>
        <p:txBody>
          <a:bodyPr wrap="none" lIns="0" tIns="0" rIns="0" bIns="0" anchor="t">
            <a:spAutoFit/>
          </a:bodyPr>
          <a:lstStyle/>
          <a:p>
            <a:pPr algn="ctr"/>
            <a:r>
              <a:rPr sz="1000" b="0" i="0">
                <a:solidFill>
                  <a:srgbClr val="696F7A"/>
                </a:solidFill>
                <a:latin typeface="Aptos"/>
              </a:rPr>
              <a:t>Goals, constraints,
trade-offs</a:t>
            </a:r>
          </a:p>
        </p:txBody>
      </p:sp>
      <p:cxnSp>
        <p:nvCxnSpPr>
          <p:cNvPr id="22" name="Connector 21"/>
          <p:cNvCxnSpPr>
            <a:cxnSpLocks/>
          </p:cNvCxnSpPr>
          <p:nvPr/>
        </p:nvCxnSpPr>
        <p:spPr>
          <a:xfrm>
            <a:off x="5468112" y="3373236"/>
            <a:ext cx="4201668" cy="1504188"/>
          </a:xfrm>
          <a:prstGeom prst="line">
            <a:avLst/>
          </a:prstGeom>
          <a:ln w="16510">
            <a:solidFill>
              <a:srgbClr val="E0E5EE"/>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1109960" y="6473952"/>
            <a:ext cx="365760" cy="164592"/>
          </a:xfrm>
          <a:prstGeom prst="rect">
            <a:avLst/>
          </a:prstGeom>
          <a:noFill/>
        </p:spPr>
        <p:txBody>
          <a:bodyPr wrap="none" lIns="0" tIns="0" rIns="0" bIns="0" anchor="t">
            <a:spAutoFit/>
          </a:bodyPr>
          <a:lstStyle/>
          <a:p>
            <a:pPr algn="r"/>
            <a:r>
              <a:rPr sz="800" b="0" i="0">
                <a:solidFill>
                  <a:srgbClr val="A4ABB8"/>
                </a:solidFill>
                <a:latin typeface="Aptos"/>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502920"/>
            <a:ext cx="1112484" cy="153888"/>
          </a:xfrm>
          <a:prstGeom prst="rect">
            <a:avLst/>
          </a:prstGeom>
          <a:noFill/>
        </p:spPr>
        <p:txBody>
          <a:bodyPr wrap="none" lIns="0" tIns="0" rIns="0" bIns="0" anchor="t">
            <a:spAutoFit/>
          </a:bodyPr>
          <a:lstStyle/>
          <a:p>
            <a:pPr algn="l"/>
            <a:r>
              <a:rPr sz="1000" b="1" i="0" dirty="0">
                <a:solidFill>
                  <a:srgbClr val="1F5BFF"/>
                </a:solidFill>
                <a:latin typeface="Aptos"/>
              </a:rPr>
              <a:t>0</a:t>
            </a:r>
            <a:r>
              <a:rPr lang="en-ZA" sz="1000" b="1" i="0" dirty="0">
                <a:solidFill>
                  <a:srgbClr val="1F5BFF"/>
                </a:solidFill>
                <a:latin typeface="Aptos"/>
              </a:rPr>
              <a:t>4</a:t>
            </a:r>
            <a:r>
              <a:rPr sz="1000" b="1" i="0" dirty="0">
                <a:solidFill>
                  <a:srgbClr val="1F5BFF"/>
                </a:solidFill>
                <a:latin typeface="Aptos"/>
              </a:rPr>
              <a:t> / BACKGROUND</a:t>
            </a:r>
          </a:p>
        </p:txBody>
      </p:sp>
      <p:sp>
        <p:nvSpPr>
          <p:cNvPr id="3" name="TextBox 2"/>
          <p:cNvSpPr txBox="1"/>
          <p:nvPr/>
        </p:nvSpPr>
        <p:spPr>
          <a:xfrm>
            <a:off x="731520" y="841248"/>
            <a:ext cx="2532745" cy="492443"/>
          </a:xfrm>
          <a:prstGeom prst="rect">
            <a:avLst/>
          </a:prstGeom>
          <a:noFill/>
        </p:spPr>
        <p:txBody>
          <a:bodyPr wrap="none" lIns="0" tIns="0" rIns="0" bIns="0" anchor="t">
            <a:spAutoFit/>
          </a:bodyPr>
          <a:lstStyle/>
          <a:p>
            <a:pPr algn="l"/>
            <a:r>
              <a:rPr lang="en-ZA" sz="3200" b="1" i="0" dirty="0">
                <a:solidFill>
                  <a:srgbClr val="101C30"/>
                </a:solidFill>
                <a:latin typeface="Georgia"/>
              </a:rPr>
              <a:t>My jo</a:t>
            </a:r>
            <a:r>
              <a:rPr lang="en-ZA" sz="3200" b="1" dirty="0">
                <a:solidFill>
                  <a:srgbClr val="101C30"/>
                </a:solidFill>
                <a:latin typeface="Georgia"/>
              </a:rPr>
              <a:t>urney</a:t>
            </a:r>
            <a:r>
              <a:rPr sz="3200" b="1" i="0" dirty="0">
                <a:solidFill>
                  <a:srgbClr val="101C30"/>
                </a:solidFill>
                <a:latin typeface="Georgia"/>
              </a:rPr>
              <a:t>.</a:t>
            </a:r>
          </a:p>
        </p:txBody>
      </p:sp>
      <p:sp>
        <p:nvSpPr>
          <p:cNvPr id="5" name="TextBox 4"/>
          <p:cNvSpPr txBox="1"/>
          <p:nvPr/>
        </p:nvSpPr>
        <p:spPr>
          <a:xfrm>
            <a:off x="11155680" y="6473952"/>
            <a:ext cx="320040" cy="164592"/>
          </a:xfrm>
          <a:prstGeom prst="rect">
            <a:avLst/>
          </a:prstGeom>
          <a:noFill/>
        </p:spPr>
        <p:txBody>
          <a:bodyPr wrap="none" lIns="0" tIns="0" rIns="0" bIns="0" anchor="t">
            <a:spAutoFit/>
          </a:bodyPr>
          <a:lstStyle/>
          <a:p>
            <a:pPr algn="r"/>
            <a:r>
              <a:rPr sz="800" b="0" i="0">
                <a:solidFill>
                  <a:srgbClr val="A4ABB8"/>
                </a:solidFill>
                <a:latin typeface="Aptos"/>
              </a:rPr>
              <a:t>06</a:t>
            </a:r>
          </a:p>
        </p:txBody>
      </p:sp>
      <p:sp>
        <p:nvSpPr>
          <p:cNvPr id="6" name="TextBox 5"/>
          <p:cNvSpPr txBox="1"/>
          <p:nvPr/>
        </p:nvSpPr>
        <p:spPr>
          <a:xfrm>
            <a:off x="731520" y="1600200"/>
            <a:ext cx="1828800" cy="228600"/>
          </a:xfrm>
          <a:prstGeom prst="rect">
            <a:avLst/>
          </a:prstGeom>
          <a:noFill/>
        </p:spPr>
        <p:txBody>
          <a:bodyPr wrap="none" lIns="0" tIns="0" rIns="0" bIns="0" anchor="t">
            <a:spAutoFit/>
          </a:bodyPr>
          <a:lstStyle/>
          <a:p>
            <a:pPr algn="l"/>
            <a:r>
              <a:rPr sz="1000" b="1" i="0">
                <a:solidFill>
                  <a:srgbClr val="1F5BFF"/>
                </a:solidFill>
                <a:latin typeface="Aptos"/>
              </a:rPr>
              <a:t>EXPERIENCE</a:t>
            </a:r>
          </a:p>
        </p:txBody>
      </p:sp>
      <p:sp>
        <p:nvSpPr>
          <p:cNvPr id="7" name="TextBox 6"/>
          <p:cNvSpPr txBox="1"/>
          <p:nvPr/>
        </p:nvSpPr>
        <p:spPr>
          <a:xfrm>
            <a:off x="731520" y="1965960"/>
            <a:ext cx="2926080" cy="320040"/>
          </a:xfrm>
          <a:prstGeom prst="rect">
            <a:avLst/>
          </a:prstGeom>
          <a:noFill/>
        </p:spPr>
        <p:txBody>
          <a:bodyPr wrap="none" lIns="0" tIns="0" rIns="0" bIns="0" anchor="t">
            <a:spAutoFit/>
          </a:bodyPr>
          <a:lstStyle/>
          <a:p>
            <a:pPr algn="l"/>
            <a:r>
              <a:rPr sz="2000" b="1" i="0">
                <a:solidFill>
                  <a:srgbClr val="101C30"/>
                </a:solidFill>
                <a:latin typeface="Aptos"/>
              </a:rPr>
              <a:t>UluntuXD</a:t>
            </a:r>
          </a:p>
        </p:txBody>
      </p:sp>
      <p:sp>
        <p:nvSpPr>
          <p:cNvPr id="8" name="TextBox 7"/>
          <p:cNvSpPr txBox="1"/>
          <p:nvPr/>
        </p:nvSpPr>
        <p:spPr>
          <a:xfrm>
            <a:off x="731520" y="2331720"/>
            <a:ext cx="2926080" cy="256032"/>
          </a:xfrm>
          <a:prstGeom prst="rect">
            <a:avLst/>
          </a:prstGeom>
          <a:noFill/>
        </p:spPr>
        <p:txBody>
          <a:bodyPr wrap="none" lIns="0" tIns="0" rIns="0" bIns="0" anchor="t">
            <a:spAutoFit/>
          </a:bodyPr>
          <a:lstStyle/>
          <a:p>
            <a:pPr algn="l"/>
            <a:r>
              <a:rPr sz="1200" b="1" i="0">
                <a:solidFill>
                  <a:srgbClr val="141416"/>
                </a:solidFill>
                <a:latin typeface="Aptos"/>
              </a:rPr>
              <a:t>User Experience Designer</a:t>
            </a:r>
          </a:p>
        </p:txBody>
      </p:sp>
      <p:sp>
        <p:nvSpPr>
          <p:cNvPr id="9" name="TextBox 8"/>
          <p:cNvSpPr txBox="1"/>
          <p:nvPr/>
        </p:nvSpPr>
        <p:spPr>
          <a:xfrm>
            <a:off x="731520" y="2651760"/>
            <a:ext cx="2926080" cy="228600"/>
          </a:xfrm>
          <a:prstGeom prst="rect">
            <a:avLst/>
          </a:prstGeom>
          <a:noFill/>
        </p:spPr>
        <p:txBody>
          <a:bodyPr wrap="none" lIns="0" tIns="0" rIns="0" bIns="0" anchor="t">
            <a:spAutoFit/>
          </a:bodyPr>
          <a:lstStyle/>
          <a:p>
            <a:pPr algn="l"/>
            <a:r>
              <a:rPr sz="1100" b="0" i="0">
                <a:solidFill>
                  <a:srgbClr val="696F7A"/>
                </a:solidFill>
                <a:latin typeface="Aptos"/>
              </a:rPr>
              <a:t>Sept 2026 — present</a:t>
            </a:r>
          </a:p>
        </p:txBody>
      </p:sp>
      <p:sp>
        <p:nvSpPr>
          <p:cNvPr id="10" name="Rectangle 9"/>
          <p:cNvSpPr/>
          <p:nvPr/>
        </p:nvSpPr>
        <p:spPr>
          <a:xfrm>
            <a:off x="731520" y="3063240"/>
            <a:ext cx="3383280" cy="27432"/>
          </a:xfrm>
          <a:prstGeom prst="rect">
            <a:avLst/>
          </a:prstGeom>
          <a:solidFill>
            <a:srgbClr val="E0E5EE"/>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401568"/>
            <a:ext cx="1828800" cy="228600"/>
          </a:xfrm>
          <a:prstGeom prst="rect">
            <a:avLst/>
          </a:prstGeom>
          <a:noFill/>
        </p:spPr>
        <p:txBody>
          <a:bodyPr wrap="none" lIns="0" tIns="0" rIns="0" bIns="0" anchor="t">
            <a:spAutoFit/>
          </a:bodyPr>
          <a:lstStyle/>
          <a:p>
            <a:pPr algn="l"/>
            <a:r>
              <a:rPr sz="1000" b="1" i="0">
                <a:solidFill>
                  <a:srgbClr val="1F5BFF"/>
                </a:solidFill>
                <a:latin typeface="Aptos"/>
              </a:rPr>
              <a:t>EDUCATION</a:t>
            </a:r>
          </a:p>
        </p:txBody>
      </p:sp>
      <p:sp>
        <p:nvSpPr>
          <p:cNvPr id="12" name="TextBox 11"/>
          <p:cNvSpPr txBox="1"/>
          <p:nvPr/>
        </p:nvSpPr>
        <p:spPr>
          <a:xfrm>
            <a:off x="731520" y="3749039"/>
            <a:ext cx="3291840" cy="274320"/>
          </a:xfrm>
          <a:prstGeom prst="rect">
            <a:avLst/>
          </a:prstGeom>
          <a:noFill/>
        </p:spPr>
        <p:txBody>
          <a:bodyPr wrap="none" lIns="0" tIns="0" rIns="0" bIns="0" anchor="t">
            <a:spAutoFit/>
          </a:bodyPr>
          <a:lstStyle/>
          <a:p>
            <a:pPr algn="l"/>
            <a:r>
              <a:rPr sz="1500" b="1" i="0" dirty="0">
                <a:solidFill>
                  <a:srgbClr val="101C30"/>
                </a:solidFill>
                <a:latin typeface="Aptos"/>
              </a:rPr>
              <a:t>UX/UI Design Program</a:t>
            </a:r>
          </a:p>
        </p:txBody>
      </p:sp>
      <p:sp>
        <p:nvSpPr>
          <p:cNvPr id="13" name="TextBox 12"/>
          <p:cNvSpPr txBox="1"/>
          <p:nvPr/>
        </p:nvSpPr>
        <p:spPr>
          <a:xfrm>
            <a:off x="731520" y="4007612"/>
            <a:ext cx="1546898" cy="169277"/>
          </a:xfrm>
          <a:prstGeom prst="rect">
            <a:avLst/>
          </a:prstGeom>
          <a:noFill/>
        </p:spPr>
        <p:txBody>
          <a:bodyPr wrap="none" lIns="0" tIns="0" rIns="0" bIns="0" anchor="t">
            <a:spAutoFit/>
          </a:bodyPr>
          <a:lstStyle/>
          <a:p>
            <a:pPr algn="l"/>
            <a:r>
              <a:rPr sz="1100" b="0" i="0" dirty="0">
                <a:solidFill>
                  <a:srgbClr val="696F7A"/>
                </a:solidFill>
                <a:latin typeface="Aptos"/>
              </a:rPr>
              <a:t>March 2026 </a:t>
            </a:r>
            <a:r>
              <a:rPr lang="en-ZA" sz="1100" dirty="0">
                <a:solidFill>
                  <a:srgbClr val="696F7A"/>
                </a:solidFill>
                <a:latin typeface="Aptos"/>
              </a:rPr>
              <a:t>-</a:t>
            </a:r>
            <a:r>
              <a:rPr sz="1100" b="0" i="0" dirty="0">
                <a:solidFill>
                  <a:srgbClr val="696F7A"/>
                </a:solidFill>
                <a:latin typeface="Aptos"/>
              </a:rPr>
              <a:t>August 2026</a:t>
            </a:r>
          </a:p>
        </p:txBody>
      </p:sp>
      <p:sp>
        <p:nvSpPr>
          <p:cNvPr id="14" name="TextBox 13"/>
          <p:cNvSpPr txBox="1"/>
          <p:nvPr/>
        </p:nvSpPr>
        <p:spPr>
          <a:xfrm>
            <a:off x="731520" y="4340860"/>
            <a:ext cx="2338269" cy="861774"/>
          </a:xfrm>
          <a:prstGeom prst="rect">
            <a:avLst/>
          </a:prstGeom>
          <a:noFill/>
        </p:spPr>
        <p:txBody>
          <a:bodyPr wrap="none" lIns="0" tIns="0" rIns="0" bIns="0" anchor="t">
            <a:spAutoFit/>
          </a:bodyPr>
          <a:lstStyle/>
          <a:p>
            <a:pPr algn="l"/>
            <a:r>
              <a:rPr lang="en-ZA" sz="1500" b="1" i="0" dirty="0">
                <a:solidFill>
                  <a:srgbClr val="141416"/>
                </a:solidFill>
                <a:latin typeface="Aptos"/>
              </a:rPr>
              <a:t>Nelson Mandela University</a:t>
            </a:r>
          </a:p>
          <a:p>
            <a:r>
              <a:rPr lang="en-US" sz="1400" dirty="0">
                <a:solidFill>
                  <a:srgbClr val="696F7A"/>
                </a:solidFill>
                <a:latin typeface="Aptos"/>
              </a:rPr>
              <a:t>BCom Statistics </a:t>
            </a:r>
          </a:p>
          <a:p>
            <a:r>
              <a:rPr lang="en-US" sz="1100" dirty="0">
                <a:solidFill>
                  <a:srgbClr val="696F7A"/>
                </a:solidFill>
                <a:latin typeface="Aptos"/>
              </a:rPr>
              <a:t>2022 - 2026</a:t>
            </a:r>
          </a:p>
          <a:p>
            <a:pPr algn="l"/>
            <a:endParaRPr lang="en-ZA" sz="1600" b="1" i="0" dirty="0">
              <a:solidFill>
                <a:srgbClr val="141416"/>
              </a:solidFill>
              <a:latin typeface="Aptos"/>
            </a:endParaRPr>
          </a:p>
        </p:txBody>
      </p:sp>
      <p:sp>
        <p:nvSpPr>
          <p:cNvPr id="15" name="TextBox 14"/>
          <p:cNvSpPr txBox="1"/>
          <p:nvPr/>
        </p:nvSpPr>
        <p:spPr>
          <a:xfrm>
            <a:off x="731520" y="5074618"/>
            <a:ext cx="2012410" cy="400110"/>
          </a:xfrm>
          <a:prstGeom prst="rect">
            <a:avLst/>
          </a:prstGeom>
          <a:noFill/>
        </p:spPr>
        <p:txBody>
          <a:bodyPr wrap="none" lIns="0" tIns="0" rIns="0" bIns="0" anchor="t">
            <a:spAutoFit/>
          </a:bodyPr>
          <a:lstStyle/>
          <a:p>
            <a:pPr algn="l"/>
            <a:r>
              <a:rPr sz="1500" b="1" i="0" dirty="0">
                <a:latin typeface="Aptos"/>
              </a:rPr>
              <a:t>Germiston High School</a:t>
            </a:r>
            <a:endParaRPr lang="en-ZA" sz="1500" b="1" i="0" dirty="0">
              <a:latin typeface="Aptos"/>
            </a:endParaRPr>
          </a:p>
          <a:p>
            <a:pPr algn="l"/>
            <a:r>
              <a:rPr sz="1100" b="0" i="0" dirty="0">
                <a:solidFill>
                  <a:srgbClr val="696F7A"/>
                </a:solidFill>
                <a:latin typeface="Aptos"/>
              </a:rPr>
              <a:t>2017 — 2021</a:t>
            </a:r>
          </a:p>
        </p:txBody>
      </p:sp>
      <p:sp>
        <p:nvSpPr>
          <p:cNvPr id="16" name="TextBox 15"/>
          <p:cNvSpPr txBox="1"/>
          <p:nvPr/>
        </p:nvSpPr>
        <p:spPr>
          <a:xfrm>
            <a:off x="4800600" y="1600200"/>
            <a:ext cx="1828800" cy="228600"/>
          </a:xfrm>
          <a:prstGeom prst="rect">
            <a:avLst/>
          </a:prstGeom>
          <a:noFill/>
        </p:spPr>
        <p:txBody>
          <a:bodyPr wrap="none" lIns="0" tIns="0" rIns="0" bIns="0" anchor="t">
            <a:spAutoFit/>
          </a:bodyPr>
          <a:lstStyle/>
          <a:p>
            <a:r>
              <a:t>CAPABILITY MATRIX</a:t>
            </a:r>
          </a:p>
        </p:txBody>
      </p:sp>
      <p:sp>
        <p:nvSpPr>
          <p:cNvPr id="19" name="TextBox 18"/>
          <p:cNvSpPr txBox="1"/>
          <p:nvPr/>
        </p:nvSpPr>
        <p:spPr>
          <a:xfrm>
            <a:off x="5577840" y="1993392"/>
            <a:ext cx="2011680" cy="256032"/>
          </a:xfrm>
          <a:prstGeom prst="rect">
            <a:avLst/>
          </a:prstGeom>
          <a:noFill/>
        </p:spPr>
        <p:txBody>
          <a:bodyPr wrap="none" lIns="0" tIns="0" rIns="0" bIns="0" anchor="t">
            <a:spAutoFit/>
          </a:bodyPr>
          <a:lstStyle/>
          <a:p>
            <a:r>
              <a:t>Design</a:t>
            </a:r>
          </a:p>
        </p:txBody>
      </p:sp>
      <p:sp>
        <p:nvSpPr>
          <p:cNvPr id="20" name="TextBox 19"/>
          <p:cNvSpPr txBox="1"/>
          <p:nvPr/>
        </p:nvSpPr>
        <p:spPr>
          <a:xfrm>
            <a:off x="5577840" y="2313432"/>
            <a:ext cx="3566160" cy="274320"/>
          </a:xfrm>
          <a:prstGeom prst="rect">
            <a:avLst/>
          </a:prstGeom>
          <a:noFill/>
        </p:spPr>
        <p:txBody>
          <a:bodyPr wrap="none" lIns="0" tIns="0" rIns="0" bIns="0" anchor="t">
            <a:spAutoFit/>
          </a:bodyPr>
          <a:lstStyle/>
          <a:p>
            <a:r>
              <a:t>Figma · Prototyping · Components · Responsive layouts</a:t>
            </a:r>
          </a:p>
        </p:txBody>
      </p:sp>
      <p:sp>
        <p:nvSpPr>
          <p:cNvPr id="23" name="TextBox 22"/>
          <p:cNvSpPr txBox="1"/>
          <p:nvPr/>
        </p:nvSpPr>
        <p:spPr>
          <a:xfrm>
            <a:off x="5577840" y="3044952"/>
            <a:ext cx="2011680" cy="256032"/>
          </a:xfrm>
          <a:prstGeom prst="rect">
            <a:avLst/>
          </a:prstGeom>
          <a:noFill/>
        </p:spPr>
        <p:txBody>
          <a:bodyPr wrap="none" lIns="0" tIns="0" rIns="0" bIns="0" anchor="t">
            <a:spAutoFit/>
          </a:bodyPr>
          <a:lstStyle/>
          <a:p>
            <a:r>
              <a:t>Research</a:t>
            </a:r>
          </a:p>
        </p:txBody>
      </p:sp>
      <p:sp>
        <p:nvSpPr>
          <p:cNvPr id="24" name="TextBox 23"/>
          <p:cNvSpPr txBox="1"/>
          <p:nvPr/>
        </p:nvSpPr>
        <p:spPr>
          <a:xfrm>
            <a:off x="5577840" y="3364992"/>
            <a:ext cx="3566160" cy="274320"/>
          </a:xfrm>
          <a:prstGeom prst="rect">
            <a:avLst/>
          </a:prstGeom>
          <a:noFill/>
        </p:spPr>
        <p:txBody>
          <a:bodyPr wrap="none" lIns="0" tIns="0" rIns="0" bIns="0" anchor="t">
            <a:spAutoFit/>
          </a:bodyPr>
          <a:lstStyle/>
          <a:p>
            <a:r>
              <a:t>Interview protocols · Interviews · Synthesis · Usability testing</a:t>
            </a:r>
          </a:p>
        </p:txBody>
      </p:sp>
      <p:sp>
        <p:nvSpPr>
          <p:cNvPr id="27" name="TextBox 26"/>
          <p:cNvSpPr txBox="1"/>
          <p:nvPr/>
        </p:nvSpPr>
        <p:spPr>
          <a:xfrm>
            <a:off x="5577840" y="4096512"/>
            <a:ext cx="2011680" cy="256032"/>
          </a:xfrm>
          <a:prstGeom prst="rect">
            <a:avLst/>
          </a:prstGeom>
          <a:noFill/>
        </p:spPr>
        <p:txBody>
          <a:bodyPr wrap="none" lIns="0" tIns="0" rIns="0" bIns="0" anchor="t">
            <a:spAutoFit/>
          </a:bodyPr>
          <a:lstStyle/>
          <a:p>
            <a:r>
              <a:t>Strategy + Data</a:t>
            </a:r>
          </a:p>
        </p:txBody>
      </p:sp>
      <p:sp>
        <p:nvSpPr>
          <p:cNvPr id="28" name="TextBox 27"/>
          <p:cNvSpPr txBox="1"/>
          <p:nvPr/>
        </p:nvSpPr>
        <p:spPr>
          <a:xfrm>
            <a:off x="5577840" y="4416552"/>
            <a:ext cx="3566160" cy="274320"/>
          </a:xfrm>
          <a:prstGeom prst="rect">
            <a:avLst/>
          </a:prstGeom>
          <a:noFill/>
        </p:spPr>
        <p:txBody>
          <a:bodyPr wrap="none" lIns="0" tIns="0" rIns="0" bIns="0" anchor="t">
            <a:spAutoFit/>
          </a:bodyPr>
          <a:lstStyle/>
          <a:p>
            <a:r>
              <a:t>Systems thinking · Statistics · Evidence synthesis · AI-assisted workflow</a:t>
            </a:r>
          </a:p>
        </p:txBody>
      </p:sp>
      <p:sp>
        <p:nvSpPr>
          <p:cNvPr id="32" name="TextBox 31"/>
          <p:cNvSpPr txBox="1"/>
          <p:nvPr/>
        </p:nvSpPr>
        <p:spPr>
          <a:xfrm>
            <a:off x="11366716" y="6473952"/>
            <a:ext cx="109004" cy="123111"/>
          </a:xfrm>
          <a:prstGeom prst="rect">
            <a:avLst/>
          </a:prstGeom>
          <a:noFill/>
        </p:spPr>
        <p:txBody>
          <a:bodyPr wrap="none" lIns="0" tIns="0" rIns="0" bIns="0" anchor="t">
            <a:spAutoFit/>
          </a:bodyPr>
          <a:lstStyle/>
          <a:p>
            <a:pPr algn="r"/>
            <a:r>
              <a:rPr sz="800" b="0" i="0" dirty="0">
                <a:solidFill>
                  <a:srgbClr val="A4ABB8"/>
                </a:solidFill>
                <a:latin typeface="Aptos"/>
              </a:rPr>
              <a:t>0</a:t>
            </a:r>
            <a:r>
              <a:rPr lang="en-ZA" sz="800" b="0" i="0" dirty="0">
                <a:solidFill>
                  <a:srgbClr val="A4ABB8"/>
                </a:solidFill>
                <a:latin typeface="Aptos"/>
              </a:rPr>
              <a:t>4</a:t>
            </a:r>
            <a:endParaRPr sz="800" b="0" i="0" dirty="0">
              <a:solidFill>
                <a:srgbClr val="A4ABB8"/>
              </a:solidFill>
              <a:latin typeface="Aptos"/>
            </a:endParaRPr>
          </a:p>
        </p:txBody>
      </p:sp>
      <p:sp>
        <p:nvSpPr>
          <p:cNvPr id="34" name="Oval 33">
            <a:extLst>
              <a:ext uri="{FF2B5EF4-FFF2-40B4-BE49-F238E27FC236}">
                <a16:creationId xmlns:a16="http://schemas.microsoft.com/office/drawing/2014/main" id="{A1D139D8-D591-BC47-FFE8-243DC113579F}"/>
              </a:ext>
            </a:extLst>
          </p:cNvPr>
          <p:cNvSpPr/>
          <p:nvPr/>
        </p:nvSpPr>
        <p:spPr>
          <a:xfrm>
            <a:off x="8160978" y="1576923"/>
            <a:ext cx="2926080" cy="2926080"/>
          </a:xfrm>
          <a:prstGeom prst="ellipse">
            <a:avLst/>
          </a:prstGeom>
          <a:solidFill>
            <a:srgbClr val="F6F8FC"/>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a:extLst>
              <a:ext uri="{FF2B5EF4-FFF2-40B4-BE49-F238E27FC236}">
                <a16:creationId xmlns:a16="http://schemas.microsoft.com/office/drawing/2014/main" id="{59966971-5632-4C7A-1D3B-D70D1D13F9E9}"/>
              </a:ext>
            </a:extLst>
          </p:cNvPr>
          <p:cNvSpPr/>
          <p:nvPr/>
        </p:nvSpPr>
        <p:spPr>
          <a:xfrm>
            <a:off x="9075379" y="2308443"/>
            <a:ext cx="1143000" cy="1143000"/>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a:extLst>
              <a:ext uri="{FF2B5EF4-FFF2-40B4-BE49-F238E27FC236}">
                <a16:creationId xmlns:a16="http://schemas.microsoft.com/office/drawing/2014/main" id="{C5D3B40E-ACF8-E1B9-D24F-2FAEF7DACD9D}"/>
              </a:ext>
            </a:extLst>
          </p:cNvPr>
          <p:cNvSpPr/>
          <p:nvPr/>
        </p:nvSpPr>
        <p:spPr>
          <a:xfrm>
            <a:off x="9395419" y="2628483"/>
            <a:ext cx="502920" cy="502920"/>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Arc 39">
            <a:extLst>
              <a:ext uri="{FF2B5EF4-FFF2-40B4-BE49-F238E27FC236}">
                <a16:creationId xmlns:a16="http://schemas.microsoft.com/office/drawing/2014/main" id="{FCA83B81-2651-95EB-647E-E634CA28856D}"/>
              </a:ext>
            </a:extLst>
          </p:cNvPr>
          <p:cNvSpPr/>
          <p:nvPr/>
        </p:nvSpPr>
        <p:spPr>
          <a:xfrm>
            <a:off x="7795219" y="1256883"/>
            <a:ext cx="3931920" cy="3931920"/>
          </a:xfrm>
          <a:prstGeom prst="arc">
            <a:avLst/>
          </a:prstGeom>
          <a:noFill/>
          <a:ln w="15240">
            <a:solidFill>
              <a:srgbClr val="696F7A"/>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a:extLst>
              <a:ext uri="{FF2B5EF4-FFF2-40B4-BE49-F238E27FC236}">
                <a16:creationId xmlns:a16="http://schemas.microsoft.com/office/drawing/2014/main" id="{FF5906A6-CC2D-E2FD-B249-30AE2D989AAD}"/>
              </a:ext>
            </a:extLst>
          </p:cNvPr>
          <p:cNvSpPr/>
          <p:nvPr/>
        </p:nvSpPr>
        <p:spPr>
          <a:xfrm>
            <a:off x="10584139" y="1366611"/>
            <a:ext cx="146304" cy="146304"/>
          </a:xfrm>
          <a:prstGeom prst="ellipse">
            <a:avLst/>
          </a:prstGeom>
          <a:solidFill>
            <a:srgbClr val="1F5BFF"/>
          </a:solidFill>
          <a:ln w="12700">
            <a:solidFill>
              <a:srgbClr val="1F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a:extLst>
              <a:ext uri="{FF2B5EF4-FFF2-40B4-BE49-F238E27FC236}">
                <a16:creationId xmlns:a16="http://schemas.microsoft.com/office/drawing/2014/main" id="{01E506C3-4198-3EF2-00B3-6E946D6DD54D}"/>
              </a:ext>
            </a:extLst>
          </p:cNvPr>
          <p:cNvSpPr/>
          <p:nvPr/>
        </p:nvSpPr>
        <p:spPr>
          <a:xfrm>
            <a:off x="8023819" y="3908643"/>
            <a:ext cx="146304" cy="146304"/>
          </a:xfrm>
          <a:prstGeom prst="ellipse">
            <a:avLst/>
          </a:prstGeom>
          <a:solidFill>
            <a:srgbClr val="FFFFFF"/>
          </a:solidFill>
          <a:ln w="12700">
            <a:solidFill>
              <a:srgbClr val="696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21">
            <a:extLst>
              <a:ext uri="{FF2B5EF4-FFF2-40B4-BE49-F238E27FC236}">
                <a16:creationId xmlns:a16="http://schemas.microsoft.com/office/drawing/2014/main" id="{A9BA0870-D9B2-24B6-B44F-A7686CBCEAEC}"/>
              </a:ext>
            </a:extLst>
          </p:cNvPr>
          <p:cNvSpPr/>
          <p:nvPr/>
        </p:nvSpPr>
        <p:spPr>
          <a:xfrm>
            <a:off x="9212539" y="4411563"/>
            <a:ext cx="2331720" cy="1325880"/>
          </a:xfrm>
          <a:prstGeom prst="roundRect">
            <a:avLst>
              <a:gd name="adj" fmla="val 12000"/>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EFDFAE0E-CA4C-2933-A480-803AED84112B}"/>
              </a:ext>
            </a:extLst>
          </p:cNvPr>
          <p:cNvSpPr txBox="1"/>
          <p:nvPr/>
        </p:nvSpPr>
        <p:spPr>
          <a:xfrm>
            <a:off x="9459427" y="4749891"/>
            <a:ext cx="640080" cy="411480"/>
          </a:xfrm>
          <a:prstGeom prst="rect">
            <a:avLst/>
          </a:prstGeom>
          <a:noFill/>
        </p:spPr>
        <p:txBody>
          <a:bodyPr wrap="none" lIns="0" tIns="0" rIns="0" bIns="0" anchor="t">
            <a:spAutoFit/>
          </a:bodyPr>
          <a:lstStyle/>
          <a:p>
            <a:pPr algn="l"/>
            <a:r>
              <a:rPr sz="2300" b="1" i="0">
                <a:solidFill>
                  <a:srgbClr val="101C30"/>
                </a:solidFill>
                <a:latin typeface="Aptos Mono"/>
              </a:rPr>
              <a:t>&lt;/&gt;</a:t>
            </a:r>
          </a:p>
        </p:txBody>
      </p:sp>
      <p:sp>
        <p:nvSpPr>
          <p:cNvPr id="50" name="TextBox 49">
            <a:extLst>
              <a:ext uri="{FF2B5EF4-FFF2-40B4-BE49-F238E27FC236}">
                <a16:creationId xmlns:a16="http://schemas.microsoft.com/office/drawing/2014/main" id="{FFAA551A-8EA4-5893-F877-587E23545768}"/>
              </a:ext>
            </a:extLst>
          </p:cNvPr>
          <p:cNvSpPr txBox="1"/>
          <p:nvPr/>
        </p:nvSpPr>
        <p:spPr>
          <a:xfrm>
            <a:off x="10126939" y="4759035"/>
            <a:ext cx="914400" cy="274320"/>
          </a:xfrm>
          <a:prstGeom prst="rect">
            <a:avLst/>
          </a:prstGeom>
          <a:noFill/>
        </p:spPr>
        <p:txBody>
          <a:bodyPr wrap="none" lIns="0" tIns="0" rIns="0" bIns="0" anchor="t">
            <a:spAutoFit/>
          </a:bodyPr>
          <a:lstStyle/>
          <a:p>
            <a:pPr algn="l"/>
            <a:r>
              <a:rPr sz="1100" b="1" i="0">
                <a:solidFill>
                  <a:srgbClr val="1F5BFF"/>
                </a:solidFill>
                <a:latin typeface="Aptos"/>
              </a:rPr>
              <a:t>UX / UI</a:t>
            </a:r>
          </a:p>
        </p:txBody>
      </p:sp>
      <p:pic>
        <p:nvPicPr>
          <p:cNvPr id="52" name="Picture 51">
            <a:extLst>
              <a:ext uri="{FF2B5EF4-FFF2-40B4-BE49-F238E27FC236}">
                <a16:creationId xmlns:a16="http://schemas.microsoft.com/office/drawing/2014/main" id="{A2F3FCA7-EF54-51BD-A271-D040E1E0BC87}"/>
              </a:ext>
            </a:extLst>
          </p:cNvPr>
          <p:cNvPicPr>
            <a:picLocks noChangeAspect="1"/>
          </p:cNvPicPr>
          <p:nvPr/>
        </p:nvPicPr>
        <p:blipFill>
          <a:blip r:embed="rId2"/>
          <a:stretch>
            <a:fillRect/>
          </a:stretch>
        </p:blipFill>
        <p:spPr>
          <a:xfrm>
            <a:off x="4777152" y="4007612"/>
            <a:ext cx="621855" cy="629535"/>
          </a:xfrm>
          <a:prstGeom prst="rect">
            <a:avLst/>
          </a:prstGeom>
        </p:spPr>
      </p:pic>
      <p:pic>
        <p:nvPicPr>
          <p:cNvPr id="54" name="Picture 53">
            <a:extLst>
              <a:ext uri="{FF2B5EF4-FFF2-40B4-BE49-F238E27FC236}">
                <a16:creationId xmlns:a16="http://schemas.microsoft.com/office/drawing/2014/main" id="{DF2CCC86-E8FA-302A-4DD7-D7B02F3E0D96}"/>
              </a:ext>
            </a:extLst>
          </p:cNvPr>
          <p:cNvPicPr>
            <a:picLocks noChangeAspect="1"/>
          </p:cNvPicPr>
          <p:nvPr/>
        </p:nvPicPr>
        <p:blipFill>
          <a:blip r:embed="rId3"/>
          <a:stretch>
            <a:fillRect/>
          </a:stretch>
        </p:blipFill>
        <p:spPr>
          <a:xfrm flipH="1">
            <a:off x="4777153" y="2946877"/>
            <a:ext cx="621854" cy="621854"/>
          </a:xfrm>
          <a:prstGeom prst="rect">
            <a:avLst/>
          </a:prstGeom>
        </p:spPr>
      </p:pic>
      <p:pic>
        <p:nvPicPr>
          <p:cNvPr id="56" name="Picture 55">
            <a:extLst>
              <a:ext uri="{FF2B5EF4-FFF2-40B4-BE49-F238E27FC236}">
                <a16:creationId xmlns:a16="http://schemas.microsoft.com/office/drawing/2014/main" id="{A4A3F47E-FEBE-B936-2274-9F0EAE7015F9}"/>
              </a:ext>
            </a:extLst>
          </p:cNvPr>
          <p:cNvPicPr>
            <a:picLocks noChangeAspect="1"/>
          </p:cNvPicPr>
          <p:nvPr/>
        </p:nvPicPr>
        <p:blipFill>
          <a:blip r:embed="rId4"/>
          <a:stretch>
            <a:fillRect/>
          </a:stretch>
        </p:blipFill>
        <p:spPr>
          <a:xfrm>
            <a:off x="4747465" y="1936504"/>
            <a:ext cx="681228" cy="6812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658368"/>
            <a:ext cx="5486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8B7FE8"/>
                </a:solidFill>
                <a:effectLst/>
                <a:uLnTx/>
                <a:uFillTx/>
                <a:latin typeface="Calibri" pitchFamily="34" charset="0"/>
                <a:ea typeface="Calibri" pitchFamily="34" charset="-122"/>
                <a:cs typeface="Calibri" pitchFamily="34" charset="-120"/>
              </a:rPr>
              <a:t>UX RESEARCH CASE STUDY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424378" y="3789035"/>
            <a:ext cx="66751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From Fragmented Capability to Connected Ecosystem</a:t>
            </a:r>
            <a:endParaRPr kumimoji="0" lang="en-US" sz="15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Shape 4"/>
          <p:cNvSpPr/>
          <p:nvPr/>
        </p:nvSpPr>
        <p:spPr>
          <a:xfrm>
            <a:off x="6302496" y="2586143"/>
            <a:ext cx="384048" cy="384048"/>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1" descr="bg/ring.png"/>
          <p:cNvPicPr>
            <a:picLocks noChangeAspect="1"/>
          </p:cNvPicPr>
          <p:nvPr/>
        </p:nvPicPr>
        <p:blipFill>
          <a:blip r:embed="rId4"/>
          <a:stretch>
            <a:fillRect/>
          </a:stretch>
        </p:blipFill>
        <p:spPr>
          <a:xfrm>
            <a:off x="6229344" y="2512991"/>
            <a:ext cx="530352" cy="530352"/>
          </a:xfrm>
          <a:prstGeom prst="rect">
            <a:avLst/>
          </a:prstGeom>
        </p:spPr>
      </p:pic>
      <p:pic>
        <p:nvPicPr>
          <p:cNvPr id="9" name="Image 2" descr="icons/target_purple.png"/>
          <p:cNvPicPr>
            <a:picLocks noChangeAspect="1"/>
          </p:cNvPicPr>
          <p:nvPr/>
        </p:nvPicPr>
        <p:blipFill>
          <a:blip r:embed="rId5"/>
          <a:stretch>
            <a:fillRect/>
          </a:stretch>
        </p:blipFill>
        <p:spPr>
          <a:xfrm>
            <a:off x="6398508" y="2682155"/>
            <a:ext cx="192024" cy="192024"/>
          </a:xfrm>
          <a:prstGeom prst="rect">
            <a:avLst/>
          </a:prstGeom>
        </p:spPr>
      </p:pic>
      <p:sp>
        <p:nvSpPr>
          <p:cNvPr id="10" name="Text 5"/>
          <p:cNvSpPr/>
          <p:nvPr/>
        </p:nvSpPr>
        <p:spPr>
          <a:xfrm>
            <a:off x="6805416" y="2558711"/>
            <a:ext cx="6400800" cy="45720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C9C2F7"/>
                </a:solidFill>
                <a:effectLst/>
                <a:uLnTx/>
                <a:uFillTx/>
                <a:latin typeface="Calibri" pitchFamily="34" charset="0"/>
                <a:ea typeface="Calibri" pitchFamily="34" charset="-122"/>
                <a:cs typeface="Calibri" pitchFamily="34" charset="-120"/>
              </a:rPr>
              <a:t>Client  </a:t>
            </a:r>
            <a:r>
              <a:rPr kumimoji="0" lang="en-US" sz="115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Banking Client (Tier-1 African Bank)</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6"/>
          <p:cNvSpPr/>
          <p:nvPr/>
        </p:nvSpPr>
        <p:spPr>
          <a:xfrm>
            <a:off x="6302496" y="3189647"/>
            <a:ext cx="384048" cy="384048"/>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3" descr="bg/ring.png"/>
          <p:cNvPicPr>
            <a:picLocks noChangeAspect="1"/>
          </p:cNvPicPr>
          <p:nvPr/>
        </p:nvPicPr>
        <p:blipFill>
          <a:blip r:embed="rId4"/>
          <a:stretch>
            <a:fillRect/>
          </a:stretch>
        </p:blipFill>
        <p:spPr>
          <a:xfrm>
            <a:off x="6229344" y="3116495"/>
            <a:ext cx="530352" cy="530352"/>
          </a:xfrm>
          <a:prstGeom prst="rect">
            <a:avLst/>
          </a:prstGeom>
        </p:spPr>
      </p:pic>
      <p:pic>
        <p:nvPicPr>
          <p:cNvPr id="13" name="Image 4" descr="icons/compass_purple.png"/>
          <p:cNvPicPr>
            <a:picLocks noChangeAspect="1"/>
          </p:cNvPicPr>
          <p:nvPr/>
        </p:nvPicPr>
        <p:blipFill>
          <a:blip r:embed="rId6"/>
          <a:stretch>
            <a:fillRect/>
          </a:stretch>
        </p:blipFill>
        <p:spPr>
          <a:xfrm>
            <a:off x="6398508" y="3285659"/>
            <a:ext cx="192024" cy="192024"/>
          </a:xfrm>
          <a:prstGeom prst="rect">
            <a:avLst/>
          </a:prstGeom>
        </p:spPr>
      </p:pic>
      <p:sp>
        <p:nvSpPr>
          <p:cNvPr id="14" name="Text 7"/>
          <p:cNvSpPr/>
          <p:nvPr/>
        </p:nvSpPr>
        <p:spPr>
          <a:xfrm>
            <a:off x="6805416" y="3162215"/>
            <a:ext cx="6400800" cy="45720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C9C2F7"/>
                </a:solidFill>
                <a:effectLst/>
                <a:uLnTx/>
                <a:uFillTx/>
                <a:latin typeface="Calibri" pitchFamily="34" charset="0"/>
                <a:ea typeface="Calibri" pitchFamily="34" charset="-122"/>
                <a:cs typeface="Calibri" pitchFamily="34" charset="-120"/>
              </a:rPr>
              <a:t>Engagement  </a:t>
            </a:r>
            <a:r>
              <a:rPr kumimoji="0" lang="en-US" sz="115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FUSE Community of Practice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8"/>
          <p:cNvSpPr/>
          <p:nvPr/>
        </p:nvSpPr>
        <p:spPr>
          <a:xfrm>
            <a:off x="6302496" y="3793151"/>
            <a:ext cx="384048" cy="384048"/>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5" descr="bg/ring.png"/>
          <p:cNvPicPr>
            <a:picLocks noChangeAspect="1"/>
          </p:cNvPicPr>
          <p:nvPr/>
        </p:nvPicPr>
        <p:blipFill>
          <a:blip r:embed="rId4"/>
          <a:stretch>
            <a:fillRect/>
          </a:stretch>
        </p:blipFill>
        <p:spPr>
          <a:xfrm>
            <a:off x="6229344" y="3719999"/>
            <a:ext cx="530352" cy="530352"/>
          </a:xfrm>
          <a:prstGeom prst="rect">
            <a:avLst/>
          </a:prstGeom>
        </p:spPr>
      </p:pic>
      <p:pic>
        <p:nvPicPr>
          <p:cNvPr id="17" name="Image 6" descr="icons/users_purple.png"/>
          <p:cNvPicPr>
            <a:picLocks noChangeAspect="1"/>
          </p:cNvPicPr>
          <p:nvPr/>
        </p:nvPicPr>
        <p:blipFill>
          <a:blip r:embed="rId7"/>
          <a:stretch>
            <a:fillRect/>
          </a:stretch>
        </p:blipFill>
        <p:spPr>
          <a:xfrm>
            <a:off x="6398508" y="3889163"/>
            <a:ext cx="192024" cy="192024"/>
          </a:xfrm>
          <a:prstGeom prst="rect">
            <a:avLst/>
          </a:prstGeom>
        </p:spPr>
      </p:pic>
      <p:sp>
        <p:nvSpPr>
          <p:cNvPr id="18" name="Text 9"/>
          <p:cNvSpPr/>
          <p:nvPr/>
        </p:nvSpPr>
        <p:spPr>
          <a:xfrm>
            <a:off x="8123604" y="3747430"/>
            <a:ext cx="6400800" cy="45720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C9C2F7"/>
                </a:solidFill>
                <a:effectLst/>
                <a:uLnTx/>
                <a:uFillTx/>
                <a:latin typeface="Calibri" pitchFamily="34" charset="0"/>
                <a:ea typeface="Calibri" pitchFamily="34" charset="-122"/>
                <a:cs typeface="Calibri" pitchFamily="34" charset="-120"/>
              </a:rPr>
              <a:t>My Role </a:t>
            </a:r>
            <a:r>
              <a:rPr kumimoji="0" lang="en-US" sz="115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 UX Researcher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0"/>
          <p:cNvSpPr/>
          <p:nvPr/>
        </p:nvSpPr>
        <p:spPr>
          <a:xfrm>
            <a:off x="548640" y="5948172"/>
            <a:ext cx="69494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Shared for portfolio purposes under NDA. Client identity, verbatim findings, and internal artifacts have been anonymized or generalized to protect confidentiality. The Community of Practice covered here has not yet been built or shipped.</a:t>
            </a:r>
            <a:endParaRPr kumimoji="0" lang="en-US" sz="8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Shape 25"/>
          <p:cNvSpPr/>
          <p:nvPr/>
        </p:nvSpPr>
        <p:spPr>
          <a:xfrm>
            <a:off x="457200" y="6400800"/>
            <a:ext cx="11274552" cy="0"/>
          </a:xfrm>
          <a:prstGeom prst="line">
            <a:avLst/>
          </a:prstGeom>
          <a:noFill/>
          <a:ln w="9525">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Text 27"/>
          <p:cNvSpPr/>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9">
            <a:extLst>
              <a:ext uri="{FF2B5EF4-FFF2-40B4-BE49-F238E27FC236}">
                <a16:creationId xmlns:a16="http://schemas.microsoft.com/office/drawing/2014/main" id="{A4E9094D-3328-A646-6593-D8FC43E497D1}"/>
              </a:ext>
            </a:extLst>
          </p:cNvPr>
          <p:cNvSpPr/>
          <p:nvPr/>
        </p:nvSpPr>
        <p:spPr>
          <a:xfrm>
            <a:off x="6823704" y="3747430"/>
            <a:ext cx="6400800" cy="45720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C9C2F7"/>
                </a:solidFill>
                <a:effectLst/>
                <a:uLnTx/>
                <a:uFillTx/>
                <a:latin typeface="Calibri" pitchFamily="34" charset="0"/>
                <a:ea typeface="Calibri" pitchFamily="34" charset="-122"/>
                <a:cs typeface="Calibri" pitchFamily="34" charset="-120"/>
              </a:rPr>
              <a:t>Team: </a:t>
            </a:r>
            <a:r>
              <a:rPr kumimoji="0" lang="en-US" sz="115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7 Designers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1">
            <a:extLst>
              <a:ext uri="{FF2B5EF4-FFF2-40B4-BE49-F238E27FC236}">
                <a16:creationId xmlns:a16="http://schemas.microsoft.com/office/drawing/2014/main" id="{71AA4D03-572B-35FA-0D5F-4D608CD8BB0D}"/>
              </a:ext>
            </a:extLst>
          </p:cNvPr>
          <p:cNvSpPr/>
          <p:nvPr/>
        </p:nvSpPr>
        <p:spPr>
          <a:xfrm>
            <a:off x="401726" y="2704607"/>
            <a:ext cx="6995159"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API Community of practice.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50" normalizeH="0" baseline="0" noProof="0" dirty="0">
                <a:ln>
                  <a:noFill/>
                </a:ln>
                <a:solidFill>
                  <a:srgbClr val="8B7FE8"/>
                </a:solidFill>
                <a:effectLst/>
                <a:uLnTx/>
                <a:uFillTx/>
                <a:latin typeface="Calibri" pitchFamily="34" charset="0"/>
                <a:ea typeface="Calibri" pitchFamily="34" charset="-122"/>
                <a:cs typeface="Calibri" pitchFamily="34" charset="-120"/>
              </a:rPr>
              <a:t>PROJECT CONTEXT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A discovery engagement for the human layer of the ecosystem</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1600200"/>
            <a:ext cx="11091672" cy="1188720"/>
          </a:xfrm>
          <a:prstGeom prst="roundRect">
            <a:avLst>
              <a:gd name="adj" fmla="val 3846"/>
            </a:avLst>
          </a:prstGeom>
          <a:solidFill>
            <a:srgbClr val="16181F"/>
          </a:solidFill>
          <a:ln w="12700">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868680" y="1783080"/>
            <a:ext cx="10515600" cy="86868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The API Marketplace already exists as a live platform. What hadn't been resolved was the human side: whether teams trusted, found, and reused what was on it. This case study covers the discovery phase for FUSE, the proposed API Community of Practice.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48640" y="3063240"/>
            <a:ext cx="3593592" cy="3017520"/>
          </a:xfrm>
          <a:prstGeom prst="roundRect">
            <a:avLst>
              <a:gd name="adj" fmla="val 1818"/>
            </a:avLst>
          </a:prstGeom>
          <a:solidFill>
            <a:srgbClr val="16181F"/>
          </a:solidFill>
          <a:ln w="12700">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48640" y="3063240"/>
            <a:ext cx="3593592" cy="45720"/>
          </a:xfrm>
          <a:prstGeom prst="rect">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868680" y="3401568"/>
            <a:ext cx="640080" cy="640080"/>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Image 0" descr="bg/ring.png"/>
          <p:cNvPicPr>
            <a:picLocks noChangeAspect="1"/>
          </p:cNvPicPr>
          <p:nvPr/>
        </p:nvPicPr>
        <p:blipFill>
          <a:blip r:embed="rId4"/>
          <a:stretch>
            <a:fillRect/>
          </a:stretch>
        </p:blipFill>
        <p:spPr>
          <a:xfrm>
            <a:off x="768096" y="3300984"/>
            <a:ext cx="841248" cy="841248"/>
          </a:xfrm>
          <a:prstGeom prst="rect">
            <a:avLst/>
          </a:prstGeom>
        </p:spPr>
      </p:pic>
      <p:pic>
        <p:nvPicPr>
          <p:cNvPr id="10" name="Image 1" descr="icons/target_purple.png"/>
          <p:cNvPicPr>
            <a:picLocks noChangeAspect="1"/>
          </p:cNvPicPr>
          <p:nvPr/>
        </p:nvPicPr>
        <p:blipFill>
          <a:blip r:embed="rId5"/>
          <a:stretch>
            <a:fillRect/>
          </a:stretch>
        </p:blipFill>
        <p:spPr>
          <a:xfrm>
            <a:off x="1028700" y="3561588"/>
            <a:ext cx="320040" cy="320040"/>
          </a:xfrm>
          <a:prstGeom prst="rect">
            <a:avLst/>
          </a:prstGeom>
        </p:spPr>
      </p:pic>
      <p:sp>
        <p:nvSpPr>
          <p:cNvPr id="11" name="Text 7"/>
          <p:cNvSpPr/>
          <p:nvPr/>
        </p:nvSpPr>
        <p:spPr>
          <a:xfrm>
            <a:off x="868680" y="4242816"/>
            <a:ext cx="295351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The Ask</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868680" y="4636008"/>
            <a:ext cx="2953512" cy="137160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Establish qualitative evidence of how the live API Marketplace was being experienced, to inform the design of FUSE.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9"/>
          <p:cNvSpPr/>
          <p:nvPr/>
        </p:nvSpPr>
        <p:spPr>
          <a:xfrm>
            <a:off x="4297680" y="3063240"/>
            <a:ext cx="3593592" cy="3017520"/>
          </a:xfrm>
          <a:prstGeom prst="roundRect">
            <a:avLst>
              <a:gd name="adj" fmla="val 1818"/>
            </a:avLst>
          </a:prstGeom>
          <a:solidFill>
            <a:srgbClr val="16181F"/>
          </a:solidFill>
          <a:ln w="12700">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0"/>
          <p:cNvSpPr/>
          <p:nvPr/>
        </p:nvSpPr>
        <p:spPr>
          <a:xfrm>
            <a:off x="4297680" y="3063240"/>
            <a:ext cx="3593592" cy="45720"/>
          </a:xfrm>
          <a:prstGeom prst="rect">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4617720" y="3401568"/>
            <a:ext cx="640080" cy="640080"/>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2" descr="bg/ring.png"/>
          <p:cNvPicPr>
            <a:picLocks noChangeAspect="1"/>
          </p:cNvPicPr>
          <p:nvPr/>
        </p:nvPicPr>
        <p:blipFill>
          <a:blip r:embed="rId4"/>
          <a:stretch>
            <a:fillRect/>
          </a:stretch>
        </p:blipFill>
        <p:spPr>
          <a:xfrm>
            <a:off x="4517136" y="3300984"/>
            <a:ext cx="841248" cy="841248"/>
          </a:xfrm>
          <a:prstGeom prst="rect">
            <a:avLst/>
          </a:prstGeom>
        </p:spPr>
      </p:pic>
      <p:pic>
        <p:nvPicPr>
          <p:cNvPr id="17" name="Image 3" descr="icons/search_purple.png"/>
          <p:cNvPicPr>
            <a:picLocks noChangeAspect="1"/>
          </p:cNvPicPr>
          <p:nvPr/>
        </p:nvPicPr>
        <p:blipFill>
          <a:blip r:embed="rId6"/>
          <a:stretch>
            <a:fillRect/>
          </a:stretch>
        </p:blipFill>
        <p:spPr>
          <a:xfrm>
            <a:off x="4777740" y="3561588"/>
            <a:ext cx="320040" cy="320040"/>
          </a:xfrm>
          <a:prstGeom prst="rect">
            <a:avLst/>
          </a:prstGeom>
        </p:spPr>
      </p:pic>
      <p:sp>
        <p:nvSpPr>
          <p:cNvPr id="18" name="Text 12"/>
          <p:cNvSpPr/>
          <p:nvPr/>
        </p:nvSpPr>
        <p:spPr>
          <a:xfrm>
            <a:off x="4617720" y="4242816"/>
            <a:ext cx="295351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The Gap</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3"/>
          <p:cNvSpPr/>
          <p:nvPr/>
        </p:nvSpPr>
        <p:spPr>
          <a:xfrm>
            <a:off x="4617720" y="4636008"/>
            <a:ext cx="2953512" cy="137160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Leadership suspected collaboration, discoverability, and reuse were breaking down on the platform but had no structured evidence of where or why.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4"/>
          <p:cNvSpPr/>
          <p:nvPr/>
        </p:nvSpPr>
        <p:spPr>
          <a:xfrm>
            <a:off x="8046720" y="3063240"/>
            <a:ext cx="3593592" cy="3017520"/>
          </a:xfrm>
          <a:prstGeom prst="roundRect">
            <a:avLst>
              <a:gd name="adj" fmla="val 1818"/>
            </a:avLst>
          </a:prstGeom>
          <a:solidFill>
            <a:srgbClr val="16181F"/>
          </a:solidFill>
          <a:ln w="12700">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5"/>
          <p:cNvSpPr/>
          <p:nvPr/>
        </p:nvSpPr>
        <p:spPr>
          <a:xfrm>
            <a:off x="8046720" y="3063240"/>
            <a:ext cx="3593592" cy="45720"/>
          </a:xfrm>
          <a:prstGeom prst="rect">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6"/>
          <p:cNvSpPr/>
          <p:nvPr/>
        </p:nvSpPr>
        <p:spPr>
          <a:xfrm>
            <a:off x="8366760" y="3401568"/>
            <a:ext cx="640080" cy="640080"/>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4" descr="bg/ring.png"/>
          <p:cNvPicPr>
            <a:picLocks noChangeAspect="1"/>
          </p:cNvPicPr>
          <p:nvPr/>
        </p:nvPicPr>
        <p:blipFill>
          <a:blip r:embed="rId4"/>
          <a:stretch>
            <a:fillRect/>
          </a:stretch>
        </p:blipFill>
        <p:spPr>
          <a:xfrm>
            <a:off x="8266176" y="3300984"/>
            <a:ext cx="841248" cy="841248"/>
          </a:xfrm>
          <a:prstGeom prst="rect">
            <a:avLst/>
          </a:prstGeom>
        </p:spPr>
      </p:pic>
      <p:pic>
        <p:nvPicPr>
          <p:cNvPr id="24" name="Image 5" descr="icons/clipboard_purple.png"/>
          <p:cNvPicPr>
            <a:picLocks noChangeAspect="1"/>
          </p:cNvPicPr>
          <p:nvPr/>
        </p:nvPicPr>
        <p:blipFill>
          <a:blip r:embed="rId7"/>
          <a:stretch>
            <a:fillRect/>
          </a:stretch>
        </p:blipFill>
        <p:spPr>
          <a:xfrm>
            <a:off x="8526780" y="3561588"/>
            <a:ext cx="320040" cy="320040"/>
          </a:xfrm>
          <a:prstGeom prst="rect">
            <a:avLst/>
          </a:prstGeom>
        </p:spPr>
      </p:pic>
      <p:sp>
        <p:nvSpPr>
          <p:cNvPr id="25" name="Text 17"/>
          <p:cNvSpPr/>
          <p:nvPr/>
        </p:nvSpPr>
        <p:spPr>
          <a:xfrm>
            <a:off x="8366760" y="4242816"/>
            <a:ext cx="295351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Confidentiality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18"/>
          <p:cNvSpPr/>
          <p:nvPr/>
        </p:nvSpPr>
        <p:spPr>
          <a:xfrm>
            <a:off x="8366760" y="4636008"/>
            <a:ext cx="2953512" cy="137160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Contracted under NDA. Client identity, org structure, and verbatim quotes are withheld or generalized throughout this deck.</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19"/>
          <p:cNvSpPr/>
          <p:nvPr/>
        </p:nvSpPr>
        <p:spPr>
          <a:xfrm>
            <a:off x="457200" y="6400800"/>
            <a:ext cx="11274552" cy="0"/>
          </a:xfrm>
          <a:prstGeom prst="line">
            <a:avLst/>
          </a:prstGeom>
          <a:noFill/>
          <a:ln w="9525">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0"/>
          <p:cNvSpPr/>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Confidential — UX Research Case Study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1"/>
          <p:cNvSpPr/>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50" normalizeH="0" baseline="0" noProof="0" dirty="0">
                <a:ln>
                  <a:noFill/>
                </a:ln>
                <a:solidFill>
                  <a:srgbClr val="8B7FE8"/>
                </a:solidFill>
                <a:effectLst/>
                <a:uLnTx/>
                <a:uFillTx/>
                <a:latin typeface="Calibri" pitchFamily="34" charset="0"/>
                <a:ea typeface="Calibri" pitchFamily="34" charset="-122"/>
                <a:cs typeface="Calibri" pitchFamily="34" charset="-120"/>
              </a:rPr>
              <a:t>MY CONTRIBUTION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760750"/>
            <a:ext cx="9634451"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Worked on the research end-to-end, from protocol to insight</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2098271"/>
            <a:ext cx="3593592" cy="36576"/>
          </a:xfrm>
          <a:prstGeom prst="rect">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2372591"/>
            <a:ext cx="566928" cy="566928"/>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bg/ring.png"/>
          <p:cNvPicPr>
            <a:picLocks noChangeAspect="1"/>
          </p:cNvPicPr>
          <p:nvPr/>
        </p:nvPicPr>
        <p:blipFill>
          <a:blip r:embed="rId4"/>
          <a:stretch>
            <a:fillRect/>
          </a:stretch>
        </p:blipFill>
        <p:spPr>
          <a:xfrm>
            <a:off x="457200" y="2281151"/>
            <a:ext cx="749808" cy="749808"/>
          </a:xfrm>
          <a:prstGeom prst="rect">
            <a:avLst/>
          </a:prstGeom>
        </p:spPr>
      </p:pic>
      <p:pic>
        <p:nvPicPr>
          <p:cNvPr id="7" name="Image 1" descr="icons/clipboard_purple.png"/>
          <p:cNvPicPr>
            <a:picLocks noChangeAspect="1"/>
          </p:cNvPicPr>
          <p:nvPr/>
        </p:nvPicPr>
        <p:blipFill>
          <a:blip r:embed="rId5"/>
          <a:stretch>
            <a:fillRect/>
          </a:stretch>
        </p:blipFill>
        <p:spPr>
          <a:xfrm>
            <a:off x="690372" y="2514323"/>
            <a:ext cx="283464" cy="283464"/>
          </a:xfrm>
          <a:prstGeom prst="rect">
            <a:avLst/>
          </a:prstGeom>
        </p:spPr>
      </p:pic>
      <p:sp>
        <p:nvSpPr>
          <p:cNvPr id="8" name="Text 4"/>
          <p:cNvSpPr/>
          <p:nvPr/>
        </p:nvSpPr>
        <p:spPr>
          <a:xfrm>
            <a:off x="548640" y="3104111"/>
            <a:ext cx="3593592"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01 - Protocol Design</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p:cNvSpPr/>
          <p:nvPr/>
        </p:nvSpPr>
        <p:spPr>
          <a:xfrm>
            <a:off x="548640" y="3533879"/>
            <a:ext cx="3593592" cy="237744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Designed the full interview protocol: research objectives, opening/consent framing, a five-section question flow, scenario-based prompts, and role-specific tracks for executives.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6"/>
          <p:cNvSpPr/>
          <p:nvPr/>
        </p:nvSpPr>
        <p:spPr>
          <a:xfrm>
            <a:off x="4297680" y="2098271"/>
            <a:ext cx="3593592" cy="36576"/>
          </a:xfrm>
          <a:prstGeom prst="rect">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7"/>
          <p:cNvSpPr/>
          <p:nvPr/>
        </p:nvSpPr>
        <p:spPr>
          <a:xfrm>
            <a:off x="4297680" y="2372591"/>
            <a:ext cx="566928" cy="566928"/>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2" descr="bg/ring.png"/>
          <p:cNvPicPr>
            <a:picLocks noChangeAspect="1"/>
          </p:cNvPicPr>
          <p:nvPr/>
        </p:nvPicPr>
        <p:blipFill>
          <a:blip r:embed="rId4"/>
          <a:stretch>
            <a:fillRect/>
          </a:stretch>
        </p:blipFill>
        <p:spPr>
          <a:xfrm>
            <a:off x="4206240" y="2281151"/>
            <a:ext cx="749808" cy="749808"/>
          </a:xfrm>
          <a:prstGeom prst="rect">
            <a:avLst/>
          </a:prstGeom>
        </p:spPr>
      </p:pic>
      <p:pic>
        <p:nvPicPr>
          <p:cNvPr id="13" name="Image 3" descr="icons/users_purple.png"/>
          <p:cNvPicPr>
            <a:picLocks noChangeAspect="1"/>
          </p:cNvPicPr>
          <p:nvPr/>
        </p:nvPicPr>
        <p:blipFill>
          <a:blip r:embed="rId6"/>
          <a:stretch>
            <a:fillRect/>
          </a:stretch>
        </p:blipFill>
        <p:spPr>
          <a:xfrm>
            <a:off x="4439412" y="2514323"/>
            <a:ext cx="283464" cy="283464"/>
          </a:xfrm>
          <a:prstGeom prst="rect">
            <a:avLst/>
          </a:prstGeom>
        </p:spPr>
      </p:pic>
      <p:sp>
        <p:nvSpPr>
          <p:cNvPr id="14" name="Text 8"/>
          <p:cNvSpPr/>
          <p:nvPr/>
        </p:nvSpPr>
        <p:spPr>
          <a:xfrm>
            <a:off x="4297680" y="3104111"/>
            <a:ext cx="3593592"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02 - Stakeholder Interviews</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9"/>
          <p:cNvSpPr/>
          <p:nvPr/>
        </p:nvSpPr>
        <p:spPr>
          <a:xfrm>
            <a:off x="4297680" y="3533879"/>
            <a:ext cx="3593592" cy="237744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Facilitated 16 interviews across solution architects, SMEs, business analysts, developers, UX designers, Heads of APIs, and executives.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0"/>
          <p:cNvSpPr/>
          <p:nvPr/>
        </p:nvSpPr>
        <p:spPr>
          <a:xfrm>
            <a:off x="8046720" y="2098271"/>
            <a:ext cx="3593592" cy="36576"/>
          </a:xfrm>
          <a:prstGeom prst="rect">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1"/>
          <p:cNvSpPr/>
          <p:nvPr/>
        </p:nvSpPr>
        <p:spPr>
          <a:xfrm>
            <a:off x="8046720" y="2372591"/>
            <a:ext cx="566928" cy="566928"/>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4" descr="bg/ring.png"/>
          <p:cNvPicPr>
            <a:picLocks noChangeAspect="1"/>
          </p:cNvPicPr>
          <p:nvPr/>
        </p:nvPicPr>
        <p:blipFill>
          <a:blip r:embed="rId4"/>
          <a:stretch>
            <a:fillRect/>
          </a:stretch>
        </p:blipFill>
        <p:spPr>
          <a:xfrm>
            <a:off x="7955280" y="2281151"/>
            <a:ext cx="749808" cy="749808"/>
          </a:xfrm>
          <a:prstGeom prst="rect">
            <a:avLst/>
          </a:prstGeom>
        </p:spPr>
      </p:pic>
      <p:pic>
        <p:nvPicPr>
          <p:cNvPr id="19" name="Image 5" descr="icons/grid_purple.png"/>
          <p:cNvPicPr>
            <a:picLocks noChangeAspect="1"/>
          </p:cNvPicPr>
          <p:nvPr/>
        </p:nvPicPr>
        <p:blipFill>
          <a:blip r:embed="rId7"/>
          <a:stretch>
            <a:fillRect/>
          </a:stretch>
        </p:blipFill>
        <p:spPr>
          <a:xfrm>
            <a:off x="8188452" y="2514323"/>
            <a:ext cx="283464" cy="283464"/>
          </a:xfrm>
          <a:prstGeom prst="rect">
            <a:avLst/>
          </a:prstGeom>
        </p:spPr>
      </p:pic>
      <p:sp>
        <p:nvSpPr>
          <p:cNvPr id="20" name="Text 12"/>
          <p:cNvSpPr/>
          <p:nvPr/>
        </p:nvSpPr>
        <p:spPr>
          <a:xfrm>
            <a:off x="8046720" y="3104111"/>
            <a:ext cx="3593592"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03 - Mapping &amp; Synthesis</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3"/>
          <p:cNvSpPr/>
          <p:nvPr/>
        </p:nvSpPr>
        <p:spPr>
          <a:xfrm>
            <a:off x="8046720" y="3533879"/>
            <a:ext cx="3593592" cy="237744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Clustered raw interview data into affinity groups, surfaced recurring patterns, and distilled them into thematic insights and a maturity read for leadership.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17"/>
          <p:cNvSpPr/>
          <p:nvPr/>
        </p:nvSpPr>
        <p:spPr>
          <a:xfrm>
            <a:off x="457200" y="6400800"/>
            <a:ext cx="11274552" cy="0"/>
          </a:xfrm>
          <a:prstGeom prst="line">
            <a:avLst/>
          </a:prstGeom>
          <a:noFill/>
          <a:ln w="9525">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18"/>
          <p:cNvSpPr/>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Confidential — UX Research Case Study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19"/>
          <p:cNvSpPr/>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50" normalizeH="0" baseline="0" noProof="0" dirty="0">
                <a:ln>
                  <a:noFill/>
                </a:ln>
                <a:solidFill>
                  <a:srgbClr val="6E5FE0"/>
                </a:solidFill>
                <a:effectLst/>
                <a:uLnTx/>
                <a:uFillTx/>
                <a:latin typeface="Calibri" pitchFamily="34" charset="0"/>
                <a:ea typeface="Calibri" pitchFamily="34" charset="-122"/>
                <a:cs typeface="Calibri" pitchFamily="34" charset="-120"/>
              </a:rPr>
              <a:t>RESEARCH DESIGN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A1A2E"/>
                </a:solidFill>
                <a:effectLst/>
                <a:uLnTx/>
                <a:uFillTx/>
                <a:latin typeface="Georgia" pitchFamily="34" charset="0"/>
                <a:ea typeface="Georgia" pitchFamily="34" charset="-122"/>
                <a:cs typeface="Georgia" pitchFamily="34" charset="-120"/>
              </a:rPr>
              <a:t>Four objectives shaped every question I wrote</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1737360"/>
            <a:ext cx="11091672" cy="1024128"/>
          </a:xfrm>
          <a:prstGeom prst="roundRect">
            <a:avLst>
              <a:gd name="adj" fmla="val 5357"/>
            </a:avLst>
          </a:prstGeom>
          <a:solidFill>
            <a:srgbClr val="F4F3FC"/>
          </a:solidFill>
          <a:ln w="12700">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777240" y="2020824"/>
            <a:ext cx="457200" cy="457200"/>
          </a:xfrm>
          <a:prstGeom prst="ellipse">
            <a:avLst/>
          </a:prstGeom>
          <a:solidFill>
            <a:srgbClr val="FFFFFF"/>
          </a:solidFill>
          <a:ln/>
          <a:effectLst>
            <a:outerShdw blurRad="76200" dist="25400" dir="5400000" algn="bl" rotWithShape="0">
              <a:srgbClr val="6E5FE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bg_light/ring.png"/>
          <p:cNvPicPr>
            <a:picLocks noChangeAspect="1"/>
          </p:cNvPicPr>
          <p:nvPr/>
        </p:nvPicPr>
        <p:blipFill>
          <a:blip r:embed="rId4"/>
          <a:stretch>
            <a:fillRect/>
          </a:stretch>
        </p:blipFill>
        <p:spPr>
          <a:xfrm>
            <a:off x="685800" y="1929384"/>
            <a:ext cx="640080" cy="640080"/>
          </a:xfrm>
          <a:prstGeom prst="rect">
            <a:avLst/>
          </a:prstGeom>
        </p:spPr>
      </p:pic>
      <p:sp>
        <p:nvSpPr>
          <p:cNvPr id="7" name="Text 4"/>
          <p:cNvSpPr/>
          <p:nvPr/>
        </p:nvSpPr>
        <p:spPr>
          <a:xfrm>
            <a:off x="777240" y="2020824"/>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6E5FE0"/>
                </a:solidFill>
                <a:effectLst/>
                <a:uLnTx/>
                <a:uFillTx/>
                <a:latin typeface="Georgia" pitchFamily="34" charset="0"/>
                <a:ea typeface="Georgia" pitchFamily="34" charset="-122"/>
                <a:cs typeface="Georgia" pitchFamily="34" charset="-120"/>
              </a:rPr>
              <a:t>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1417320" y="1828800"/>
            <a:ext cx="9966960" cy="86868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Understand how the API ecosystem is experienced across product, platform, architecture, engineering, delivery, and business teams.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48640" y="2907792"/>
            <a:ext cx="11091672" cy="1024128"/>
          </a:xfrm>
          <a:prstGeom prst="roundRect">
            <a:avLst>
              <a:gd name="adj" fmla="val 5357"/>
            </a:avLst>
          </a:prstGeom>
          <a:solidFill>
            <a:srgbClr val="FAFAFE"/>
          </a:solidFill>
          <a:ln w="12700">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77240" y="3191256"/>
            <a:ext cx="457200" cy="457200"/>
          </a:xfrm>
          <a:prstGeom prst="ellipse">
            <a:avLst/>
          </a:prstGeom>
          <a:solidFill>
            <a:srgbClr val="FFFFFF"/>
          </a:solidFill>
          <a:ln/>
          <a:effectLst>
            <a:outerShdw blurRad="76200" dist="25400" dir="5400000" algn="bl" rotWithShape="0">
              <a:srgbClr val="6E5FE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bg_light/ring.png"/>
          <p:cNvPicPr>
            <a:picLocks noChangeAspect="1"/>
          </p:cNvPicPr>
          <p:nvPr/>
        </p:nvPicPr>
        <p:blipFill>
          <a:blip r:embed="rId4"/>
          <a:stretch>
            <a:fillRect/>
          </a:stretch>
        </p:blipFill>
        <p:spPr>
          <a:xfrm>
            <a:off x="685800" y="3099816"/>
            <a:ext cx="640080" cy="640080"/>
          </a:xfrm>
          <a:prstGeom prst="rect">
            <a:avLst/>
          </a:prstGeom>
        </p:spPr>
      </p:pic>
      <p:sp>
        <p:nvSpPr>
          <p:cNvPr id="12" name="Text 8"/>
          <p:cNvSpPr/>
          <p:nvPr/>
        </p:nvSpPr>
        <p:spPr>
          <a:xfrm>
            <a:off x="777240" y="3191256"/>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6E5FE0"/>
                </a:solidFill>
                <a:effectLst/>
                <a:uLnTx/>
                <a:uFillTx/>
                <a:latin typeface="Georgia" pitchFamily="34" charset="0"/>
                <a:ea typeface="Georgia" pitchFamily="34" charset="-122"/>
                <a:cs typeface="Georgia" pitchFamily="34" charset="-120"/>
              </a:rPr>
              <a:t>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1417320" y="2999232"/>
            <a:ext cx="9966960" cy="86868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Identify opportunities and barriers related to collaboration, discoverability, reuse, and knowledge-sharing.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0"/>
          <p:cNvSpPr/>
          <p:nvPr/>
        </p:nvSpPr>
        <p:spPr>
          <a:xfrm>
            <a:off x="548640" y="4078224"/>
            <a:ext cx="11091672" cy="1024128"/>
          </a:xfrm>
          <a:prstGeom prst="roundRect">
            <a:avLst>
              <a:gd name="adj" fmla="val 5357"/>
            </a:avLst>
          </a:prstGeom>
          <a:solidFill>
            <a:srgbClr val="F4F3FC"/>
          </a:solidFill>
          <a:ln w="12700">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777240" y="4361688"/>
            <a:ext cx="457200" cy="457200"/>
          </a:xfrm>
          <a:prstGeom prst="ellipse">
            <a:avLst/>
          </a:prstGeom>
          <a:solidFill>
            <a:srgbClr val="FFFFFF"/>
          </a:solidFill>
          <a:ln/>
          <a:effectLst>
            <a:outerShdw blurRad="76200" dist="25400" dir="5400000" algn="bl" rotWithShape="0">
              <a:srgbClr val="6E5FE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2" descr="bg_light/ring.png"/>
          <p:cNvPicPr>
            <a:picLocks noChangeAspect="1"/>
          </p:cNvPicPr>
          <p:nvPr/>
        </p:nvPicPr>
        <p:blipFill>
          <a:blip r:embed="rId4"/>
          <a:stretch>
            <a:fillRect/>
          </a:stretch>
        </p:blipFill>
        <p:spPr>
          <a:xfrm>
            <a:off x="685800" y="4270248"/>
            <a:ext cx="640080" cy="640080"/>
          </a:xfrm>
          <a:prstGeom prst="rect">
            <a:avLst/>
          </a:prstGeom>
        </p:spPr>
      </p:pic>
      <p:sp>
        <p:nvSpPr>
          <p:cNvPr id="17" name="Text 12"/>
          <p:cNvSpPr/>
          <p:nvPr/>
        </p:nvSpPr>
        <p:spPr>
          <a:xfrm>
            <a:off x="777240" y="4361688"/>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6E5FE0"/>
                </a:solidFill>
                <a:effectLst/>
                <a:uLnTx/>
                <a:uFillTx/>
                <a:latin typeface="Georgia" pitchFamily="34" charset="0"/>
                <a:ea typeface="Georgia" pitchFamily="34" charset="-122"/>
                <a:cs typeface="Georgia" pitchFamily="34" charset="-120"/>
              </a:rPr>
              <a:t>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3"/>
          <p:cNvSpPr/>
          <p:nvPr/>
        </p:nvSpPr>
        <p:spPr>
          <a:xfrm>
            <a:off x="1417320" y="4169664"/>
            <a:ext cx="9966960" cy="86868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Assess organisational readiness for an API Community of Practice and broader ecosystem enablement.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4"/>
          <p:cNvSpPr/>
          <p:nvPr/>
        </p:nvSpPr>
        <p:spPr>
          <a:xfrm>
            <a:off x="548640" y="5248656"/>
            <a:ext cx="11091672" cy="1024128"/>
          </a:xfrm>
          <a:prstGeom prst="roundRect">
            <a:avLst>
              <a:gd name="adj" fmla="val 5357"/>
            </a:avLst>
          </a:prstGeom>
          <a:solidFill>
            <a:srgbClr val="FAFAFE"/>
          </a:solidFill>
          <a:ln w="12700">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5"/>
          <p:cNvSpPr/>
          <p:nvPr/>
        </p:nvSpPr>
        <p:spPr>
          <a:xfrm>
            <a:off x="777240" y="5532120"/>
            <a:ext cx="457200" cy="457200"/>
          </a:xfrm>
          <a:prstGeom prst="ellipse">
            <a:avLst/>
          </a:prstGeom>
          <a:solidFill>
            <a:srgbClr val="FFFFFF"/>
          </a:solidFill>
          <a:ln/>
          <a:effectLst>
            <a:outerShdw blurRad="76200" dist="25400" dir="5400000" algn="bl" rotWithShape="0">
              <a:srgbClr val="6E5FE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3" descr="bg_light/ring.png"/>
          <p:cNvPicPr>
            <a:picLocks noChangeAspect="1"/>
          </p:cNvPicPr>
          <p:nvPr/>
        </p:nvPicPr>
        <p:blipFill>
          <a:blip r:embed="rId4"/>
          <a:stretch>
            <a:fillRect/>
          </a:stretch>
        </p:blipFill>
        <p:spPr>
          <a:xfrm>
            <a:off x="685800" y="5440680"/>
            <a:ext cx="640080" cy="640080"/>
          </a:xfrm>
          <a:prstGeom prst="rect">
            <a:avLst/>
          </a:prstGeom>
        </p:spPr>
      </p:pic>
      <p:sp>
        <p:nvSpPr>
          <p:cNvPr id="22" name="Text 16"/>
          <p:cNvSpPr/>
          <p:nvPr/>
        </p:nvSpPr>
        <p:spPr>
          <a:xfrm>
            <a:off x="777240" y="553212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6E5FE0"/>
                </a:solidFill>
                <a:effectLst/>
                <a:uLnTx/>
                <a:uFillTx/>
                <a:latin typeface="Georgia" pitchFamily="34" charset="0"/>
                <a:ea typeface="Georgia" pitchFamily="34" charset="-122"/>
                <a:cs typeface="Georgia" pitchFamily="34" charset="-120"/>
              </a:rPr>
              <a:t>4</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7"/>
          <p:cNvSpPr/>
          <p:nvPr/>
        </p:nvSpPr>
        <p:spPr>
          <a:xfrm>
            <a:off x="1417320" y="5340096"/>
            <a:ext cx="9966960" cy="86868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Establish qualitative indicators of ecosystem maturity to inform FUSE's design, operating model, and governance approach.</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18"/>
          <p:cNvSpPr/>
          <p:nvPr/>
        </p:nvSpPr>
        <p:spPr>
          <a:xfrm>
            <a:off x="457200" y="6400800"/>
            <a:ext cx="11274552" cy="0"/>
          </a:xfrm>
          <a:prstGeom prst="line">
            <a:avLst/>
          </a:prstGeom>
          <a:noFill/>
          <a:ln w="9525">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19"/>
          <p:cNvSpPr/>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Confidential — UX Research Case Study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0"/>
          <p:cNvSpPr/>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50" normalizeH="0" baseline="0" noProof="0" dirty="0">
                <a:ln>
                  <a:noFill/>
                </a:ln>
                <a:solidFill>
                  <a:srgbClr val="8B7FE8"/>
                </a:solidFill>
                <a:effectLst/>
                <a:uLnTx/>
                <a:uFillTx/>
                <a:latin typeface="Calibri" pitchFamily="34" charset="0"/>
                <a:ea typeface="Calibri" pitchFamily="34" charset="-122"/>
                <a:cs typeface="Calibri" pitchFamily="34" charset="-120"/>
              </a:rPr>
              <a:t>METHODOLOGY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711200"/>
            <a:ext cx="940816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A five-step path from raw conversation to strategic theme</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Image 0" descr="bg/roadmap.png"/>
          <p:cNvPicPr>
            <a:picLocks noChangeAspect="1"/>
          </p:cNvPicPr>
          <p:nvPr/>
        </p:nvPicPr>
        <p:blipFill>
          <a:blip r:embed="rId4"/>
          <a:stretch>
            <a:fillRect/>
          </a:stretch>
        </p:blipFill>
        <p:spPr>
          <a:xfrm>
            <a:off x="457200" y="2331720"/>
            <a:ext cx="11274552" cy="2367656"/>
          </a:xfrm>
          <a:prstGeom prst="rect">
            <a:avLst/>
          </a:prstGeom>
        </p:spPr>
      </p:pic>
      <p:sp>
        <p:nvSpPr>
          <p:cNvPr id="5" name="Shape 2"/>
          <p:cNvSpPr/>
          <p:nvPr/>
        </p:nvSpPr>
        <p:spPr>
          <a:xfrm>
            <a:off x="487558" y="3094924"/>
            <a:ext cx="841248" cy="841248"/>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1" descr="bg/ring.png"/>
          <p:cNvPicPr>
            <a:picLocks noChangeAspect="1"/>
          </p:cNvPicPr>
          <p:nvPr/>
        </p:nvPicPr>
        <p:blipFill>
          <a:blip r:embed="rId5"/>
          <a:stretch>
            <a:fillRect/>
          </a:stretch>
        </p:blipFill>
        <p:spPr>
          <a:xfrm>
            <a:off x="377830" y="2985196"/>
            <a:ext cx="1060704" cy="1060704"/>
          </a:xfrm>
          <a:prstGeom prst="rect">
            <a:avLst/>
          </a:prstGeom>
        </p:spPr>
      </p:pic>
      <p:pic>
        <p:nvPicPr>
          <p:cNvPr id="7" name="Image 2" descr="icons/clipboard_purple.png"/>
          <p:cNvPicPr>
            <a:picLocks noChangeAspect="1"/>
          </p:cNvPicPr>
          <p:nvPr/>
        </p:nvPicPr>
        <p:blipFill>
          <a:blip r:embed="rId6"/>
          <a:stretch>
            <a:fillRect/>
          </a:stretch>
        </p:blipFill>
        <p:spPr>
          <a:xfrm>
            <a:off x="697870" y="3305236"/>
            <a:ext cx="420624" cy="420624"/>
          </a:xfrm>
          <a:prstGeom prst="rect">
            <a:avLst/>
          </a:prstGeom>
        </p:spPr>
      </p:pic>
      <p:sp>
        <p:nvSpPr>
          <p:cNvPr id="8" name="Shape 3"/>
          <p:cNvSpPr/>
          <p:nvPr/>
        </p:nvSpPr>
        <p:spPr>
          <a:xfrm>
            <a:off x="1127638" y="3058348"/>
            <a:ext cx="310896" cy="310896"/>
          </a:xfrm>
          <a:prstGeom prst="ellipse">
            <a:avLst/>
          </a:prstGeom>
          <a:solidFill>
            <a:srgbClr val="8B7FE8"/>
          </a:solidFill>
          <a:ln w="25400">
            <a:solidFill>
              <a:srgbClr val="0B0C1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4"/>
          <p:cNvSpPr/>
          <p:nvPr/>
        </p:nvSpPr>
        <p:spPr>
          <a:xfrm>
            <a:off x="1127638" y="3058348"/>
            <a:ext cx="310896"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B0C10"/>
                </a:solidFill>
                <a:effectLst/>
                <a:uLnTx/>
                <a:uFillTx/>
                <a:latin typeface="Calibri" pitchFamily="34" charset="0"/>
                <a:ea typeface="Calibri" pitchFamily="34" charset="-122"/>
                <a:cs typeface="Calibri" pitchFamily="34" charset="-120"/>
              </a:rPr>
              <a:t>1</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5"/>
          <p:cNvSpPr/>
          <p:nvPr/>
        </p:nvSpPr>
        <p:spPr>
          <a:xfrm>
            <a:off x="-6218" y="4082476"/>
            <a:ext cx="18288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Design Protocol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6"/>
          <p:cNvSpPr/>
          <p:nvPr/>
        </p:nvSpPr>
        <p:spPr>
          <a:xfrm>
            <a:off x="-6218" y="4375084"/>
            <a:ext cx="1828800" cy="50292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Objectives, flow, prompts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7"/>
          <p:cNvSpPr/>
          <p:nvPr/>
        </p:nvSpPr>
        <p:spPr>
          <a:xfrm>
            <a:off x="3080705" y="2418451"/>
            <a:ext cx="841248" cy="841248"/>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3" descr="bg/ring.png"/>
          <p:cNvPicPr>
            <a:picLocks noChangeAspect="1"/>
          </p:cNvPicPr>
          <p:nvPr/>
        </p:nvPicPr>
        <p:blipFill>
          <a:blip r:embed="rId5"/>
          <a:stretch>
            <a:fillRect/>
          </a:stretch>
        </p:blipFill>
        <p:spPr>
          <a:xfrm>
            <a:off x="2970977" y="2308723"/>
            <a:ext cx="1060704" cy="1060704"/>
          </a:xfrm>
          <a:prstGeom prst="rect">
            <a:avLst/>
          </a:prstGeom>
        </p:spPr>
      </p:pic>
      <p:pic>
        <p:nvPicPr>
          <p:cNvPr id="14" name="Image 4" descr="icons/users_purple.png"/>
          <p:cNvPicPr>
            <a:picLocks noChangeAspect="1"/>
          </p:cNvPicPr>
          <p:nvPr/>
        </p:nvPicPr>
        <p:blipFill>
          <a:blip r:embed="rId7"/>
          <a:stretch>
            <a:fillRect/>
          </a:stretch>
        </p:blipFill>
        <p:spPr>
          <a:xfrm>
            <a:off x="3291017" y="2628763"/>
            <a:ext cx="420624" cy="420624"/>
          </a:xfrm>
          <a:prstGeom prst="rect">
            <a:avLst/>
          </a:prstGeom>
        </p:spPr>
      </p:pic>
      <p:sp>
        <p:nvSpPr>
          <p:cNvPr id="15" name="Shape 8"/>
          <p:cNvSpPr/>
          <p:nvPr/>
        </p:nvSpPr>
        <p:spPr>
          <a:xfrm>
            <a:off x="3720785" y="2381875"/>
            <a:ext cx="310896" cy="310896"/>
          </a:xfrm>
          <a:prstGeom prst="ellipse">
            <a:avLst/>
          </a:prstGeom>
          <a:solidFill>
            <a:srgbClr val="8B7FE8"/>
          </a:solidFill>
          <a:ln w="25400">
            <a:solidFill>
              <a:srgbClr val="0B0C1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9"/>
          <p:cNvSpPr/>
          <p:nvPr/>
        </p:nvSpPr>
        <p:spPr>
          <a:xfrm>
            <a:off x="3720785" y="2381875"/>
            <a:ext cx="310896"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B0C10"/>
                </a:solidFill>
                <a:effectLst/>
                <a:uLnTx/>
                <a:uFillTx/>
                <a:latin typeface="Calibri" pitchFamily="34" charset="0"/>
                <a:ea typeface="Calibri" pitchFamily="34" charset="-122"/>
                <a:cs typeface="Calibri" pitchFamily="34" charset="-120"/>
              </a:rPr>
              <a:t>2</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0"/>
          <p:cNvSpPr/>
          <p:nvPr/>
        </p:nvSpPr>
        <p:spPr>
          <a:xfrm>
            <a:off x="2586929" y="1632067"/>
            <a:ext cx="18288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Recruit &amp; Brief</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1"/>
          <p:cNvSpPr/>
          <p:nvPr/>
        </p:nvSpPr>
        <p:spPr>
          <a:xfrm>
            <a:off x="2586929" y="1924675"/>
            <a:ext cx="1828800" cy="50292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Cross-functional stakeholders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2"/>
          <p:cNvSpPr/>
          <p:nvPr/>
        </p:nvSpPr>
        <p:spPr>
          <a:xfrm>
            <a:off x="5673852" y="3376788"/>
            <a:ext cx="841248" cy="841248"/>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0" name="Image 5" descr="bg/ring.png"/>
          <p:cNvPicPr>
            <a:picLocks noChangeAspect="1"/>
          </p:cNvPicPr>
          <p:nvPr/>
        </p:nvPicPr>
        <p:blipFill>
          <a:blip r:embed="rId5"/>
          <a:stretch>
            <a:fillRect/>
          </a:stretch>
        </p:blipFill>
        <p:spPr>
          <a:xfrm>
            <a:off x="5564124" y="3267060"/>
            <a:ext cx="1060704" cy="1060704"/>
          </a:xfrm>
          <a:prstGeom prst="rect">
            <a:avLst/>
          </a:prstGeom>
        </p:spPr>
      </p:pic>
      <p:pic>
        <p:nvPicPr>
          <p:cNvPr id="21" name="Image 6" descr="icons/message_purple.png"/>
          <p:cNvPicPr>
            <a:picLocks noChangeAspect="1"/>
          </p:cNvPicPr>
          <p:nvPr/>
        </p:nvPicPr>
        <p:blipFill>
          <a:blip r:embed="rId8"/>
          <a:stretch>
            <a:fillRect/>
          </a:stretch>
        </p:blipFill>
        <p:spPr>
          <a:xfrm>
            <a:off x="5884164" y="3587100"/>
            <a:ext cx="420624" cy="420624"/>
          </a:xfrm>
          <a:prstGeom prst="rect">
            <a:avLst/>
          </a:prstGeom>
        </p:spPr>
      </p:pic>
      <p:sp>
        <p:nvSpPr>
          <p:cNvPr id="22" name="Shape 13"/>
          <p:cNvSpPr/>
          <p:nvPr/>
        </p:nvSpPr>
        <p:spPr>
          <a:xfrm>
            <a:off x="6313932" y="3340212"/>
            <a:ext cx="310896" cy="310896"/>
          </a:xfrm>
          <a:prstGeom prst="ellipse">
            <a:avLst/>
          </a:prstGeom>
          <a:solidFill>
            <a:srgbClr val="8B7FE8"/>
          </a:solidFill>
          <a:ln w="25400">
            <a:solidFill>
              <a:srgbClr val="0B0C1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14"/>
          <p:cNvSpPr/>
          <p:nvPr/>
        </p:nvSpPr>
        <p:spPr>
          <a:xfrm>
            <a:off x="6313932" y="3340212"/>
            <a:ext cx="310896"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B0C10"/>
                </a:solidFill>
                <a:effectLst/>
                <a:uLnTx/>
                <a:uFillTx/>
                <a:latin typeface="Calibri" pitchFamily="34" charset="0"/>
                <a:ea typeface="Calibri" pitchFamily="34" charset="-122"/>
                <a:cs typeface="Calibri" pitchFamily="34" charset="-120"/>
              </a:rPr>
              <a:t>3</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5"/>
          <p:cNvSpPr/>
          <p:nvPr/>
        </p:nvSpPr>
        <p:spPr>
          <a:xfrm>
            <a:off x="5180076" y="4364340"/>
            <a:ext cx="18288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Interview</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6"/>
          <p:cNvSpPr/>
          <p:nvPr/>
        </p:nvSpPr>
        <p:spPr>
          <a:xfrm>
            <a:off x="5180076" y="4656948"/>
            <a:ext cx="1828800" cy="50292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30–45 min, think-aloud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17"/>
          <p:cNvSpPr/>
          <p:nvPr/>
        </p:nvSpPr>
        <p:spPr>
          <a:xfrm>
            <a:off x="8266999" y="2643942"/>
            <a:ext cx="841248" cy="841248"/>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7" name="Image 7" descr="bg/ring.png"/>
          <p:cNvPicPr>
            <a:picLocks noChangeAspect="1"/>
          </p:cNvPicPr>
          <p:nvPr/>
        </p:nvPicPr>
        <p:blipFill>
          <a:blip r:embed="rId5"/>
          <a:stretch>
            <a:fillRect/>
          </a:stretch>
        </p:blipFill>
        <p:spPr>
          <a:xfrm>
            <a:off x="8157271" y="2534214"/>
            <a:ext cx="1060704" cy="1060704"/>
          </a:xfrm>
          <a:prstGeom prst="rect">
            <a:avLst/>
          </a:prstGeom>
        </p:spPr>
      </p:pic>
      <p:pic>
        <p:nvPicPr>
          <p:cNvPr id="28" name="Image 8" descr="icons/grid_purple.png"/>
          <p:cNvPicPr>
            <a:picLocks noChangeAspect="1"/>
          </p:cNvPicPr>
          <p:nvPr/>
        </p:nvPicPr>
        <p:blipFill>
          <a:blip r:embed="rId9"/>
          <a:stretch>
            <a:fillRect/>
          </a:stretch>
        </p:blipFill>
        <p:spPr>
          <a:xfrm>
            <a:off x="8477311" y="2854254"/>
            <a:ext cx="420624" cy="420624"/>
          </a:xfrm>
          <a:prstGeom prst="rect">
            <a:avLst/>
          </a:prstGeom>
        </p:spPr>
      </p:pic>
      <p:sp>
        <p:nvSpPr>
          <p:cNvPr id="29" name="Shape 18"/>
          <p:cNvSpPr/>
          <p:nvPr/>
        </p:nvSpPr>
        <p:spPr>
          <a:xfrm>
            <a:off x="8907079" y="2607366"/>
            <a:ext cx="310896" cy="310896"/>
          </a:xfrm>
          <a:prstGeom prst="ellipse">
            <a:avLst/>
          </a:prstGeom>
          <a:solidFill>
            <a:srgbClr val="8B7FE8"/>
          </a:solidFill>
          <a:ln w="25400">
            <a:solidFill>
              <a:srgbClr val="0B0C1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19"/>
          <p:cNvSpPr/>
          <p:nvPr/>
        </p:nvSpPr>
        <p:spPr>
          <a:xfrm>
            <a:off x="8907079" y="2607366"/>
            <a:ext cx="310896"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B0C10"/>
                </a:solidFill>
                <a:effectLst/>
                <a:uLnTx/>
                <a:uFillTx/>
                <a:latin typeface="Calibri" pitchFamily="34" charset="0"/>
                <a:ea typeface="Calibri" pitchFamily="34" charset="-122"/>
                <a:cs typeface="Calibri" pitchFamily="34" charset="-120"/>
              </a:rPr>
              <a:t>4</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0"/>
          <p:cNvSpPr/>
          <p:nvPr/>
        </p:nvSpPr>
        <p:spPr>
          <a:xfrm>
            <a:off x="7773223" y="1857558"/>
            <a:ext cx="18288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Affinity Map</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1"/>
          <p:cNvSpPr/>
          <p:nvPr/>
        </p:nvSpPr>
        <p:spPr>
          <a:xfrm>
            <a:off x="7773223" y="2150166"/>
            <a:ext cx="1828800" cy="50292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Cluster raw data into patterns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22"/>
          <p:cNvSpPr/>
          <p:nvPr/>
        </p:nvSpPr>
        <p:spPr>
          <a:xfrm>
            <a:off x="10860146" y="3094924"/>
            <a:ext cx="841248" cy="841248"/>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4" name="Image 9" descr="bg/ring.png"/>
          <p:cNvPicPr>
            <a:picLocks noChangeAspect="1"/>
          </p:cNvPicPr>
          <p:nvPr/>
        </p:nvPicPr>
        <p:blipFill>
          <a:blip r:embed="rId5"/>
          <a:stretch>
            <a:fillRect/>
          </a:stretch>
        </p:blipFill>
        <p:spPr>
          <a:xfrm>
            <a:off x="10750418" y="2985196"/>
            <a:ext cx="1060704" cy="1060704"/>
          </a:xfrm>
          <a:prstGeom prst="rect">
            <a:avLst/>
          </a:prstGeom>
        </p:spPr>
      </p:pic>
      <p:pic>
        <p:nvPicPr>
          <p:cNvPr id="35" name="Image 10" descr="icons/trend_purple.png"/>
          <p:cNvPicPr>
            <a:picLocks noChangeAspect="1"/>
          </p:cNvPicPr>
          <p:nvPr/>
        </p:nvPicPr>
        <p:blipFill>
          <a:blip r:embed="rId10"/>
          <a:stretch>
            <a:fillRect/>
          </a:stretch>
        </p:blipFill>
        <p:spPr>
          <a:xfrm>
            <a:off x="11070458" y="3305236"/>
            <a:ext cx="420624" cy="420624"/>
          </a:xfrm>
          <a:prstGeom prst="rect">
            <a:avLst/>
          </a:prstGeom>
        </p:spPr>
      </p:pic>
      <p:sp>
        <p:nvSpPr>
          <p:cNvPr id="36" name="Shape 23"/>
          <p:cNvSpPr/>
          <p:nvPr/>
        </p:nvSpPr>
        <p:spPr>
          <a:xfrm>
            <a:off x="11500226" y="3058348"/>
            <a:ext cx="310896" cy="310896"/>
          </a:xfrm>
          <a:prstGeom prst="ellipse">
            <a:avLst/>
          </a:prstGeom>
          <a:solidFill>
            <a:srgbClr val="8B7FE8"/>
          </a:solidFill>
          <a:ln w="25400">
            <a:solidFill>
              <a:srgbClr val="0B0C1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24"/>
          <p:cNvSpPr/>
          <p:nvPr/>
        </p:nvSpPr>
        <p:spPr>
          <a:xfrm>
            <a:off x="11500226" y="3058348"/>
            <a:ext cx="310896"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B0C10"/>
                </a:solidFill>
                <a:effectLst/>
                <a:uLnTx/>
                <a:uFillTx/>
                <a:latin typeface="Calibri" pitchFamily="34" charset="0"/>
                <a:ea typeface="Calibri" pitchFamily="34" charset="-122"/>
                <a:cs typeface="Calibri" pitchFamily="34" charset="-120"/>
              </a:rPr>
              <a:t>5</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25"/>
          <p:cNvSpPr/>
          <p:nvPr/>
        </p:nvSpPr>
        <p:spPr>
          <a:xfrm>
            <a:off x="10366370" y="4082476"/>
            <a:ext cx="18288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Synthesize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26"/>
          <p:cNvSpPr/>
          <p:nvPr/>
        </p:nvSpPr>
        <p:spPr>
          <a:xfrm>
            <a:off x="10366370" y="4375084"/>
            <a:ext cx="1828800" cy="50292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Themes, maturity, recommendations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27"/>
          <p:cNvSpPr/>
          <p:nvPr/>
        </p:nvSpPr>
        <p:spPr>
          <a:xfrm>
            <a:off x="548640" y="5440680"/>
            <a:ext cx="11091672" cy="868680"/>
          </a:xfrm>
          <a:prstGeom prst="roundRect">
            <a:avLst>
              <a:gd name="adj" fmla="val 5263"/>
            </a:avLst>
          </a:prstGeom>
          <a:solidFill>
            <a:srgbClr val="1E212B"/>
          </a:solidFill>
          <a:ln w="12700">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28"/>
          <p:cNvSpPr/>
          <p:nvPr/>
        </p:nvSpPr>
        <p:spPr>
          <a:xfrm>
            <a:off x="548640" y="5440680"/>
            <a:ext cx="54864" cy="868680"/>
          </a:xfrm>
          <a:prstGeom prst="rect">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29"/>
          <p:cNvSpPr/>
          <p:nvPr/>
        </p:nvSpPr>
        <p:spPr>
          <a:xfrm>
            <a:off x="868680" y="5440680"/>
            <a:ext cx="10515600" cy="86868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C9C2F7"/>
                </a:solidFill>
                <a:effectLst/>
                <a:uLnTx/>
                <a:uFillTx/>
                <a:latin typeface="Calibri" pitchFamily="34" charset="0"/>
                <a:ea typeface="Calibri" pitchFamily="34" charset="-122"/>
                <a:cs typeface="Calibri" pitchFamily="34" charset="-120"/>
              </a:rPr>
              <a:t>My hand touched every stage of this chain. That continuity is what let subtle, cross-cutting signals like unspoken incentive problems surface in synthesis instead of getting lost in handoffs between researcher, interviewer, and analyst.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30"/>
          <p:cNvSpPr/>
          <p:nvPr/>
        </p:nvSpPr>
        <p:spPr>
          <a:xfrm>
            <a:off x="457200" y="6400800"/>
            <a:ext cx="11274552" cy="0"/>
          </a:xfrm>
          <a:prstGeom prst="line">
            <a:avLst/>
          </a:prstGeom>
          <a:noFill/>
          <a:ln w="9525">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31"/>
          <p:cNvSpPr/>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Confidential — UX Research Case Study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32"/>
          <p:cNvSpPr/>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50" normalizeH="0" baseline="0" noProof="0" dirty="0">
                <a:ln>
                  <a:noFill/>
                </a:ln>
                <a:solidFill>
                  <a:srgbClr val="8B7FE8"/>
                </a:solidFill>
                <a:effectLst/>
                <a:uLnTx/>
                <a:uFillTx/>
                <a:latin typeface="Calibri" pitchFamily="34" charset="0"/>
                <a:ea typeface="Calibri" pitchFamily="34" charset="-122"/>
                <a:cs typeface="Calibri" pitchFamily="34" charset="-120"/>
              </a:rPr>
              <a:t>01 · PROTOCOL DESIGN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Designing a protocol that surfaces behaviour, not opinion</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1691640"/>
            <a:ext cx="51206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8B7FE8"/>
                </a:solidFill>
                <a:effectLst/>
                <a:uLnTx/>
                <a:uFillTx/>
                <a:latin typeface="Georgia" pitchFamily="34" charset="0"/>
                <a:ea typeface="Georgia" pitchFamily="34" charset="-122"/>
                <a:cs typeface="Georgia" pitchFamily="34" charset="-120"/>
              </a:rPr>
              <a:t>My thinking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2203704"/>
            <a:ext cx="82296" cy="82296"/>
          </a:xfrm>
          <a:prstGeom prst="ellipse">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777240" y="2075688"/>
            <a:ext cx="5074920" cy="7772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Open with consent, framing, and a think-aloud instruction, the goal was psychological safety, not evaluation.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48640" y="3099816"/>
            <a:ext cx="82296" cy="82296"/>
          </a:xfrm>
          <a:prstGeom prst="ellipse">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777240" y="2971800"/>
            <a:ext cx="5074920" cy="7772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Sequence from context → current-state → delivery behaviour → culture → future vision, so trust builds before asking about friction.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48640" y="3995928"/>
            <a:ext cx="82296" cy="82296"/>
          </a:xfrm>
          <a:prstGeom prst="ellipse">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3867912"/>
            <a:ext cx="5074920" cy="7772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Use scenario-based prompts (“imagine a change is made to a shared API…”) to get concrete behaviour instead of self-reported opinion.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48640" y="4892040"/>
            <a:ext cx="82296" cy="82296"/>
          </a:xfrm>
          <a:prstGeom prst="ellipse">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777240" y="4764024"/>
            <a:ext cx="5074920" cy="7772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Write a separate executive track focused on strategic risk, investment, and leadership's role, same themes, different altitude.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080760" y="1691640"/>
            <a:ext cx="5559552" cy="4526280"/>
          </a:xfrm>
          <a:prstGeom prst="roundRect">
            <a:avLst>
              <a:gd name="adj" fmla="val 1212"/>
            </a:avLst>
          </a:prstGeom>
          <a:solidFill>
            <a:srgbClr val="16181F"/>
          </a:solidFill>
          <a:ln w="12700">
            <a:solidFill>
              <a:srgbClr val="3D3A6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355080" y="1874520"/>
            <a:ext cx="5029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8B7FE8"/>
                </a:solidFill>
                <a:effectLst/>
                <a:uLnTx/>
                <a:uFillTx/>
                <a:latin typeface="Georgia" pitchFamily="34" charset="0"/>
                <a:ea typeface="Georgia" pitchFamily="34" charset="-122"/>
                <a:cs typeface="Georgia" pitchFamily="34" charset="-120"/>
              </a:rPr>
              <a:t>Protocol briefly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55080" y="2331720"/>
            <a:ext cx="1920240" cy="53035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Opening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8321040" y="2331720"/>
            <a:ext cx="3108960" cy="530352"/>
          </a:xfrm>
          <a:prstGeom prst="rect">
            <a:avLst/>
          </a:prstGeom>
          <a:noFill/>
          <a:ln/>
        </p:spPr>
        <p:txBody>
          <a:bodyPr wrap="square" lIns="0" tIns="0" rIns="0" bIns="0"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Consent, framing, think-aloud  (3–5 min)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355080" y="2843784"/>
            <a:ext cx="5074920" cy="0"/>
          </a:xfrm>
          <a:prstGeom prst="line">
            <a:avLst/>
          </a:prstGeom>
          <a:noFill/>
          <a:ln w="9525">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6355080" y="2939796"/>
            <a:ext cx="1920240" cy="53035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Their Context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321040" y="2939796"/>
            <a:ext cx="3108960" cy="530352"/>
          </a:xfrm>
          <a:prstGeom prst="rect">
            <a:avLst/>
          </a:prstGeom>
          <a:noFill/>
          <a:ln/>
        </p:spPr>
        <p:txBody>
          <a:bodyPr wrap="square" lIns="0" tIns="0" rIns="0" bIns="0"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Role, ecosystem relationship, discovery habits ( 5–7 min)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6355080" y="3451860"/>
            <a:ext cx="5074920" cy="0"/>
          </a:xfrm>
          <a:prstGeom prst="line">
            <a:avLst/>
          </a:prstGeom>
          <a:noFill/>
          <a:ln w="9525">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6355080" y="3547872"/>
            <a:ext cx="1920240" cy="53035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Current State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321040" y="3547872"/>
            <a:ext cx="3108960" cy="530352"/>
          </a:xfrm>
          <a:prstGeom prst="rect">
            <a:avLst/>
          </a:prstGeom>
          <a:noFill/>
          <a:ln/>
        </p:spPr>
        <p:txBody>
          <a:bodyPr wrap="square" lIns="0" tIns="0" rIns="0" bIns="0"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What works, friction, reinvention (10–12 min)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6355080" y="4059936"/>
            <a:ext cx="5074920" cy="0"/>
          </a:xfrm>
          <a:prstGeom prst="line">
            <a:avLst/>
          </a:prstGeom>
          <a:noFill/>
          <a:ln w="9525">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6355080" y="4155948"/>
            <a:ext cx="1920240" cy="53035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Delivery Behaviour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8321040" y="4155948"/>
            <a:ext cx="3108960" cy="530352"/>
          </a:xfrm>
          <a:prstGeom prst="rect">
            <a:avLst/>
          </a:prstGeom>
          <a:noFill/>
          <a:ln/>
        </p:spPr>
        <p:txBody>
          <a:bodyPr wrap="square" lIns="0" tIns="0" rIns="0" bIns="0"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Scenario-based reuse &amp; governance probes  (10–12 min)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6355080" y="4668012"/>
            <a:ext cx="5074920" cy="0"/>
          </a:xfrm>
          <a:prstGeom prst="line">
            <a:avLst/>
          </a:prstGeom>
          <a:noFill/>
          <a:ln w="9525">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6355080" y="4764024"/>
            <a:ext cx="1920240" cy="53035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Culture &amp; Readiness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8321040" y="4764024"/>
            <a:ext cx="3108960" cy="530352"/>
          </a:xfrm>
          <a:prstGeom prst="rect">
            <a:avLst/>
          </a:prstGeom>
          <a:noFill/>
          <a:ln/>
        </p:spPr>
        <p:txBody>
          <a:bodyPr wrap="square" lIns="0" tIns="0" rIns="0" bIns="0"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Knowledge-sharing, incentives, community appetite (8 min)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6355080" y="5276088"/>
            <a:ext cx="5074920" cy="0"/>
          </a:xfrm>
          <a:prstGeom prst="line">
            <a:avLst/>
          </a:prstGeom>
          <a:noFill/>
          <a:ln w="9525">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6355080" y="5372100"/>
            <a:ext cx="1920240" cy="53035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Future State &amp; Close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8321040" y="5372100"/>
            <a:ext cx="3108960" cy="530352"/>
          </a:xfrm>
          <a:prstGeom prst="rect">
            <a:avLst/>
          </a:prstGeom>
          <a:noFill/>
          <a:ln/>
        </p:spPr>
        <p:txBody>
          <a:bodyPr wrap="square" lIns="0" tIns="0" rIns="0" bIns="0"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2-year vision, biggest lever, referrals  (8 min)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6355080" y="5884164"/>
            <a:ext cx="5074920" cy="0"/>
          </a:xfrm>
          <a:prstGeom prst="line">
            <a:avLst/>
          </a:prstGeom>
          <a:noFill/>
          <a:ln w="9525">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457200" y="6400800"/>
            <a:ext cx="11274552" cy="0"/>
          </a:xfrm>
          <a:prstGeom prst="line">
            <a:avLst/>
          </a:prstGeom>
          <a:noFill/>
          <a:ln w="9525">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Confidential — UX Research Case Study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50" normalizeH="0" baseline="0" noProof="0" dirty="0">
                <a:ln>
                  <a:noFill/>
                </a:ln>
                <a:solidFill>
                  <a:srgbClr val="8B7FE8"/>
                </a:solidFill>
                <a:effectLst/>
                <a:uLnTx/>
                <a:uFillTx/>
                <a:latin typeface="Calibri" pitchFamily="34" charset="0"/>
                <a:ea typeface="Calibri" pitchFamily="34" charset="-122"/>
                <a:cs typeface="Calibri" pitchFamily="34" charset="-120"/>
              </a:rPr>
              <a:t>02 · STAKEHOLDER INTERVIEWS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Getting honest signals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1691640"/>
            <a:ext cx="5349240" cy="4526280"/>
          </a:xfrm>
          <a:prstGeom prst="roundRect">
            <a:avLst>
              <a:gd name="adj" fmla="val 1212"/>
            </a:avLst>
          </a:prstGeom>
          <a:solidFill>
            <a:srgbClr val="16181F"/>
          </a:solidFill>
          <a:ln w="12700">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822960" y="1828800"/>
            <a:ext cx="48463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Who I spoke to</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22960" y="2194560"/>
            <a:ext cx="48463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8B7FE8"/>
                </a:solidFill>
                <a:effectLst/>
                <a:uLnTx/>
                <a:uFillTx/>
                <a:latin typeface="Georgia" pitchFamily="34" charset="0"/>
                <a:ea typeface="Georgia" pitchFamily="34" charset="-122"/>
                <a:cs typeface="Georgia" pitchFamily="34" charset="-120"/>
              </a:rPr>
              <a:t>16</a:t>
            </a:r>
            <a:r>
              <a:rPr kumimoji="0" lang="en-US" sz="12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  interviews across 7 stakeholder groups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822960" y="2743200"/>
            <a:ext cx="219456" cy="219456"/>
          </a:xfrm>
          <a:prstGeom prst="ellipse">
            <a:avLst/>
          </a:prstGeom>
          <a:solidFill>
            <a:srgbClr val="1E212B"/>
          </a:solidFill>
          <a:ln w="12700">
            <a:solidFill>
              <a:srgbClr val="8B7F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icons/users_purple.png"/>
          <p:cNvPicPr>
            <a:picLocks noChangeAspect="1"/>
          </p:cNvPicPr>
          <p:nvPr/>
        </p:nvPicPr>
        <p:blipFill>
          <a:blip r:embed="rId4"/>
          <a:stretch>
            <a:fillRect/>
          </a:stretch>
        </p:blipFill>
        <p:spPr>
          <a:xfrm>
            <a:off x="864108" y="2784348"/>
            <a:ext cx="137160" cy="137160"/>
          </a:xfrm>
          <a:prstGeom prst="rect">
            <a:avLst/>
          </a:prstGeom>
        </p:spPr>
      </p:pic>
      <p:sp>
        <p:nvSpPr>
          <p:cNvPr id="9" name="Text 6"/>
          <p:cNvSpPr/>
          <p:nvPr/>
        </p:nvSpPr>
        <p:spPr>
          <a:xfrm>
            <a:off x="1170432" y="2688336"/>
            <a:ext cx="4572000"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Solution Architects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22960" y="3076956"/>
            <a:ext cx="219456" cy="219456"/>
          </a:xfrm>
          <a:prstGeom prst="ellipse">
            <a:avLst/>
          </a:prstGeom>
          <a:solidFill>
            <a:srgbClr val="1E212B"/>
          </a:solidFill>
          <a:ln w="12700">
            <a:solidFill>
              <a:srgbClr val="8B7F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icons/users_purple.png"/>
          <p:cNvPicPr>
            <a:picLocks noChangeAspect="1"/>
          </p:cNvPicPr>
          <p:nvPr/>
        </p:nvPicPr>
        <p:blipFill>
          <a:blip r:embed="rId4"/>
          <a:stretch>
            <a:fillRect/>
          </a:stretch>
        </p:blipFill>
        <p:spPr>
          <a:xfrm>
            <a:off x="864108" y="3118104"/>
            <a:ext cx="137160" cy="137160"/>
          </a:xfrm>
          <a:prstGeom prst="rect">
            <a:avLst/>
          </a:prstGeom>
        </p:spPr>
      </p:pic>
      <p:sp>
        <p:nvSpPr>
          <p:cNvPr id="12" name="Text 8"/>
          <p:cNvSpPr/>
          <p:nvPr/>
        </p:nvSpPr>
        <p:spPr>
          <a:xfrm>
            <a:off x="1170432" y="3022092"/>
            <a:ext cx="4572000"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Subject Matter Experts (SMEs)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9"/>
          <p:cNvSpPr/>
          <p:nvPr/>
        </p:nvSpPr>
        <p:spPr>
          <a:xfrm>
            <a:off x="822960" y="3410712"/>
            <a:ext cx="219456" cy="219456"/>
          </a:xfrm>
          <a:prstGeom prst="ellipse">
            <a:avLst/>
          </a:prstGeom>
          <a:solidFill>
            <a:srgbClr val="1E212B"/>
          </a:solidFill>
          <a:ln w="12700">
            <a:solidFill>
              <a:srgbClr val="8B7F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Image 2" descr="icons/users_purple.png"/>
          <p:cNvPicPr>
            <a:picLocks noChangeAspect="1"/>
          </p:cNvPicPr>
          <p:nvPr/>
        </p:nvPicPr>
        <p:blipFill>
          <a:blip r:embed="rId4"/>
          <a:stretch>
            <a:fillRect/>
          </a:stretch>
        </p:blipFill>
        <p:spPr>
          <a:xfrm>
            <a:off x="864108" y="3451860"/>
            <a:ext cx="137160" cy="137160"/>
          </a:xfrm>
          <a:prstGeom prst="rect">
            <a:avLst/>
          </a:prstGeom>
        </p:spPr>
      </p:pic>
      <p:sp>
        <p:nvSpPr>
          <p:cNvPr id="15" name="Text 10"/>
          <p:cNvSpPr/>
          <p:nvPr/>
        </p:nvSpPr>
        <p:spPr>
          <a:xfrm>
            <a:off x="1170432" y="3355848"/>
            <a:ext cx="4572000"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Business Analysts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1"/>
          <p:cNvSpPr/>
          <p:nvPr/>
        </p:nvSpPr>
        <p:spPr>
          <a:xfrm>
            <a:off x="822960" y="3744468"/>
            <a:ext cx="219456" cy="219456"/>
          </a:xfrm>
          <a:prstGeom prst="ellipse">
            <a:avLst/>
          </a:prstGeom>
          <a:solidFill>
            <a:srgbClr val="1E212B"/>
          </a:solidFill>
          <a:ln w="12700">
            <a:solidFill>
              <a:srgbClr val="8B7F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7" name="Image 3" descr="icons/users_purple.png"/>
          <p:cNvPicPr>
            <a:picLocks noChangeAspect="1"/>
          </p:cNvPicPr>
          <p:nvPr/>
        </p:nvPicPr>
        <p:blipFill>
          <a:blip r:embed="rId4"/>
          <a:stretch>
            <a:fillRect/>
          </a:stretch>
        </p:blipFill>
        <p:spPr>
          <a:xfrm>
            <a:off x="864108" y="3785616"/>
            <a:ext cx="137160" cy="137160"/>
          </a:xfrm>
          <a:prstGeom prst="rect">
            <a:avLst/>
          </a:prstGeom>
        </p:spPr>
      </p:pic>
      <p:sp>
        <p:nvSpPr>
          <p:cNvPr id="18" name="Text 12"/>
          <p:cNvSpPr/>
          <p:nvPr/>
        </p:nvSpPr>
        <p:spPr>
          <a:xfrm>
            <a:off x="1170432" y="3689604"/>
            <a:ext cx="4572000"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Developers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3"/>
          <p:cNvSpPr/>
          <p:nvPr/>
        </p:nvSpPr>
        <p:spPr>
          <a:xfrm>
            <a:off x="822960" y="4078224"/>
            <a:ext cx="219456" cy="219456"/>
          </a:xfrm>
          <a:prstGeom prst="ellipse">
            <a:avLst/>
          </a:prstGeom>
          <a:solidFill>
            <a:srgbClr val="1E212B"/>
          </a:solidFill>
          <a:ln w="12700">
            <a:solidFill>
              <a:srgbClr val="8B7F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0" name="Image 4" descr="icons/users_purple.png"/>
          <p:cNvPicPr>
            <a:picLocks noChangeAspect="1"/>
          </p:cNvPicPr>
          <p:nvPr/>
        </p:nvPicPr>
        <p:blipFill>
          <a:blip r:embed="rId4"/>
          <a:stretch>
            <a:fillRect/>
          </a:stretch>
        </p:blipFill>
        <p:spPr>
          <a:xfrm>
            <a:off x="864108" y="4119372"/>
            <a:ext cx="137160" cy="137160"/>
          </a:xfrm>
          <a:prstGeom prst="rect">
            <a:avLst/>
          </a:prstGeom>
        </p:spPr>
      </p:pic>
      <p:sp>
        <p:nvSpPr>
          <p:cNvPr id="21" name="Text 14"/>
          <p:cNvSpPr/>
          <p:nvPr/>
        </p:nvSpPr>
        <p:spPr>
          <a:xfrm>
            <a:off x="1170432" y="4023360"/>
            <a:ext cx="4572000"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UX Designers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5"/>
          <p:cNvSpPr/>
          <p:nvPr/>
        </p:nvSpPr>
        <p:spPr>
          <a:xfrm>
            <a:off x="822960" y="4411980"/>
            <a:ext cx="219456" cy="219456"/>
          </a:xfrm>
          <a:prstGeom prst="ellipse">
            <a:avLst/>
          </a:prstGeom>
          <a:solidFill>
            <a:srgbClr val="1E212B"/>
          </a:solidFill>
          <a:ln w="12700">
            <a:solidFill>
              <a:srgbClr val="8B7F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5" descr="icons/users_purple.png"/>
          <p:cNvPicPr>
            <a:picLocks noChangeAspect="1"/>
          </p:cNvPicPr>
          <p:nvPr/>
        </p:nvPicPr>
        <p:blipFill>
          <a:blip r:embed="rId4"/>
          <a:stretch>
            <a:fillRect/>
          </a:stretch>
        </p:blipFill>
        <p:spPr>
          <a:xfrm>
            <a:off x="864108" y="4453128"/>
            <a:ext cx="137160" cy="137160"/>
          </a:xfrm>
          <a:prstGeom prst="rect">
            <a:avLst/>
          </a:prstGeom>
        </p:spPr>
      </p:pic>
      <p:sp>
        <p:nvSpPr>
          <p:cNvPr id="24" name="Text 16"/>
          <p:cNvSpPr/>
          <p:nvPr/>
        </p:nvSpPr>
        <p:spPr>
          <a:xfrm>
            <a:off x="1170432" y="4357116"/>
            <a:ext cx="4572000"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Heads of API's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17"/>
          <p:cNvSpPr/>
          <p:nvPr/>
        </p:nvSpPr>
        <p:spPr>
          <a:xfrm>
            <a:off x="822960" y="4745736"/>
            <a:ext cx="219456" cy="219456"/>
          </a:xfrm>
          <a:prstGeom prst="ellipse">
            <a:avLst/>
          </a:prstGeom>
          <a:solidFill>
            <a:srgbClr val="1E212B"/>
          </a:solidFill>
          <a:ln w="12700">
            <a:solidFill>
              <a:srgbClr val="8B7F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6" name="Image 6" descr="icons/users_purple.png"/>
          <p:cNvPicPr>
            <a:picLocks noChangeAspect="1"/>
          </p:cNvPicPr>
          <p:nvPr/>
        </p:nvPicPr>
        <p:blipFill>
          <a:blip r:embed="rId4"/>
          <a:stretch>
            <a:fillRect/>
          </a:stretch>
        </p:blipFill>
        <p:spPr>
          <a:xfrm>
            <a:off x="864108" y="4786884"/>
            <a:ext cx="137160" cy="137160"/>
          </a:xfrm>
          <a:prstGeom prst="rect">
            <a:avLst/>
          </a:prstGeom>
        </p:spPr>
      </p:pic>
      <p:sp>
        <p:nvSpPr>
          <p:cNvPr id="27" name="Text 18"/>
          <p:cNvSpPr/>
          <p:nvPr/>
        </p:nvSpPr>
        <p:spPr>
          <a:xfrm>
            <a:off x="1170432" y="4690872"/>
            <a:ext cx="4572000"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2F1ED"/>
                </a:solidFill>
                <a:effectLst/>
                <a:uLnTx/>
                <a:uFillTx/>
                <a:latin typeface="Calibri" pitchFamily="34" charset="0"/>
                <a:ea typeface="Calibri" pitchFamily="34" charset="-122"/>
                <a:cs typeface="Calibri" pitchFamily="34" charset="-120"/>
              </a:rPr>
              <a:t>Executives &amp; business stakeholders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19"/>
          <p:cNvSpPr/>
          <p:nvPr/>
        </p:nvSpPr>
        <p:spPr>
          <a:xfrm>
            <a:off x="822960" y="5134356"/>
            <a:ext cx="4800600" cy="0"/>
          </a:xfrm>
          <a:prstGeom prst="line">
            <a:avLst/>
          </a:prstGeom>
          <a:noFill/>
          <a:ln w="12700">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0"/>
          <p:cNvSpPr/>
          <p:nvPr/>
        </p:nvSpPr>
        <p:spPr>
          <a:xfrm>
            <a:off x="822960" y="5298948"/>
            <a:ext cx="4846320" cy="86868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Each session ran 30–45 minutes, was recorded with consent for analysis only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1"/>
          <p:cNvSpPr/>
          <p:nvPr/>
        </p:nvSpPr>
        <p:spPr>
          <a:xfrm>
            <a:off x="6172200" y="1691640"/>
            <a:ext cx="5468112" cy="4526280"/>
          </a:xfrm>
          <a:prstGeom prst="roundRect">
            <a:avLst>
              <a:gd name="adj" fmla="val 1212"/>
            </a:avLst>
          </a:prstGeom>
          <a:solidFill>
            <a:srgbClr val="0B0C10"/>
          </a:solidFill>
          <a:ln w="12700">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2"/>
          <p:cNvSpPr/>
          <p:nvPr/>
        </p:nvSpPr>
        <p:spPr>
          <a:xfrm>
            <a:off x="6446520" y="1874520"/>
            <a:ext cx="4937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2F1ED"/>
                </a:solidFill>
                <a:effectLst/>
                <a:uLnTx/>
                <a:uFillTx/>
                <a:latin typeface="Georgia" pitchFamily="34" charset="0"/>
                <a:ea typeface="Georgia" pitchFamily="34" charset="-122"/>
                <a:cs typeface="Georgia" pitchFamily="34" charset="-120"/>
              </a:rPr>
              <a:t>How I ran the room</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3"/>
          <p:cNvSpPr/>
          <p:nvPr/>
        </p:nvSpPr>
        <p:spPr>
          <a:xfrm>
            <a:off x="6446520" y="2377440"/>
            <a:ext cx="49377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B7FE8"/>
                </a:solidFill>
                <a:effectLst/>
                <a:uLnTx/>
                <a:uFillTx/>
                <a:latin typeface="Calibri" pitchFamily="34" charset="0"/>
                <a:ea typeface="Calibri" pitchFamily="34" charset="-122"/>
                <a:cs typeface="Calibri" pitchFamily="34" charset="-120"/>
              </a:rPr>
              <a:t>Framed it as diagnosis, not audit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4"/>
          <p:cNvSpPr/>
          <p:nvPr/>
        </p:nvSpPr>
        <p:spPr>
          <a:xfrm>
            <a:off x="6446520" y="2679192"/>
            <a:ext cx="4937760" cy="640080"/>
          </a:xfrm>
          <a:prstGeom prst="rect">
            <a:avLst/>
          </a:prstGeom>
          <a:noFill/>
          <a:ln/>
        </p:spPr>
        <p:txBody>
          <a:bodyPr wrap="square" lIns="0" tIns="0" rIns="0" bIns="0" rtlCol="0" anchor="ctr"/>
          <a:lstStyle/>
          <a:p>
            <a:r>
              <a:t>Told every stakeholder explicitly that this wasn't a performance evaluation, which opened candour about failures and workarounds.</a:t>
            </a:r>
          </a:p>
        </p:txBody>
      </p:sp>
      <p:sp>
        <p:nvSpPr>
          <p:cNvPr id="34" name="Text 25"/>
          <p:cNvSpPr/>
          <p:nvPr/>
        </p:nvSpPr>
        <p:spPr>
          <a:xfrm>
            <a:off x="6446520" y="3364992"/>
            <a:ext cx="49377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B7FE8"/>
                </a:solidFill>
                <a:effectLst/>
                <a:uLnTx/>
                <a:uFillTx/>
                <a:latin typeface="Calibri" pitchFamily="34" charset="0"/>
                <a:ea typeface="Calibri" pitchFamily="34" charset="-122"/>
                <a:cs typeface="Calibri" pitchFamily="34" charset="-120"/>
              </a:rPr>
              <a:t>Named the observers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26"/>
          <p:cNvSpPr/>
          <p:nvPr/>
        </p:nvSpPr>
        <p:spPr>
          <a:xfrm>
            <a:off x="6446520" y="3666744"/>
            <a:ext cx="4937760" cy="64008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8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Silent note-takers were disclosed upfront, so nobody was surprised mid-conversation, protecting trust in the process.</a:t>
            </a:r>
            <a:endParaRPr kumimoji="0" lang="en-US" sz="10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27"/>
          <p:cNvSpPr/>
          <p:nvPr/>
        </p:nvSpPr>
        <p:spPr>
          <a:xfrm>
            <a:off x="6446520" y="4352544"/>
            <a:ext cx="49377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B7FE8"/>
                </a:solidFill>
                <a:effectLst/>
                <a:uLnTx/>
                <a:uFillTx/>
                <a:latin typeface="Calibri" pitchFamily="34" charset="0"/>
                <a:ea typeface="Calibri" pitchFamily="34" charset="-122"/>
                <a:cs typeface="Calibri" pitchFamily="34" charset="-120"/>
              </a:rPr>
              <a:t>Followed energy, not just the script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28"/>
          <p:cNvSpPr/>
          <p:nvPr/>
        </p:nvSpPr>
        <p:spPr>
          <a:xfrm>
            <a:off x="6446520" y="4654296"/>
            <a:ext cx="4937760" cy="64008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8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Used open follow-up prompts (“walk me through a recent example…”) to chase specificity wherever a stakeholder got animated.</a:t>
            </a:r>
            <a:endParaRPr kumimoji="0" lang="en-US" sz="10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29"/>
          <p:cNvSpPr/>
          <p:nvPr/>
        </p:nvSpPr>
        <p:spPr>
          <a:xfrm>
            <a:off x="6446520" y="5340096"/>
            <a:ext cx="49377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B7FE8"/>
                </a:solidFill>
                <a:effectLst/>
                <a:uLnTx/>
                <a:uFillTx/>
                <a:latin typeface="Calibri" pitchFamily="34" charset="0"/>
                <a:ea typeface="Calibri" pitchFamily="34" charset="-122"/>
                <a:cs typeface="Calibri" pitchFamily="34" charset="-120"/>
              </a:rPr>
              <a:t>Watched for what wasn't said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0"/>
          <p:cNvSpPr/>
          <p:nvPr/>
        </p:nvSpPr>
        <p:spPr>
          <a:xfrm>
            <a:off x="6446520" y="5641848"/>
            <a:ext cx="4937760" cy="64008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8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Hesitation, deflection, and vague answers around ownership and incentives were as telling as direct complaints.</a:t>
            </a:r>
            <a:endParaRPr kumimoji="0" lang="en-US" sz="10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1"/>
          <p:cNvSpPr/>
          <p:nvPr/>
        </p:nvSpPr>
        <p:spPr>
          <a:xfrm>
            <a:off x="457200" y="6400800"/>
            <a:ext cx="11274552" cy="0"/>
          </a:xfrm>
          <a:prstGeom prst="line">
            <a:avLst/>
          </a:prstGeom>
          <a:noFill/>
          <a:ln w="9525">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2"/>
          <p:cNvSpPr/>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Confidential — UX Research Case Study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3"/>
          <p:cNvSpPr/>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50" normalizeH="0" baseline="0" noProof="0" dirty="0">
                <a:ln>
                  <a:noFill/>
                </a:ln>
                <a:solidFill>
                  <a:srgbClr val="6E5FE0"/>
                </a:solidFill>
                <a:effectLst/>
                <a:uLnTx/>
                <a:uFillTx/>
                <a:latin typeface="Calibri" pitchFamily="34" charset="0"/>
                <a:ea typeface="Calibri" pitchFamily="34" charset="-122"/>
                <a:cs typeface="Calibri" pitchFamily="34" charset="-120"/>
              </a:rPr>
              <a:t>03 · AFFINITY MAPPING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A1A2E"/>
                </a:solidFill>
                <a:effectLst/>
                <a:uLnTx/>
                <a:uFillTx/>
                <a:latin typeface="Georgia" pitchFamily="34" charset="0"/>
                <a:ea typeface="Georgia" pitchFamily="34" charset="-122"/>
                <a:cs typeface="Georgia" pitchFamily="34" charset="-120"/>
              </a:rPr>
              <a:t>Turning interview transcripts into defensible themes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1737360"/>
            <a:ext cx="2724912" cy="3017520"/>
          </a:xfrm>
          <a:prstGeom prst="roundRect">
            <a:avLst>
              <a:gd name="adj" fmla="val 2013"/>
            </a:avLst>
          </a:prstGeom>
          <a:solidFill>
            <a:srgbClr val="F4F3FC"/>
          </a:solidFill>
          <a:ln w="12700">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777240" y="1920240"/>
            <a:ext cx="226771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6E5FE0"/>
                </a:solidFill>
                <a:effectLst/>
                <a:uLnTx/>
                <a:uFillTx/>
                <a:latin typeface="Georgia" pitchFamily="34" charset="0"/>
                <a:ea typeface="Georgia" pitchFamily="34" charset="-122"/>
                <a:cs typeface="Georgia" pitchFamily="34" charset="-120"/>
              </a:rPr>
              <a:t>01</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77240" y="2423160"/>
            <a:ext cx="226771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1A2E"/>
                </a:solidFill>
                <a:effectLst/>
                <a:uLnTx/>
                <a:uFillTx/>
                <a:latin typeface="Georgia" pitchFamily="34" charset="0"/>
                <a:ea typeface="Georgia" pitchFamily="34" charset="-122"/>
                <a:cs typeface="Georgia" pitchFamily="34" charset="-120"/>
              </a:rPr>
              <a:t>Fragment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77240" y="2816352"/>
            <a:ext cx="2267712" cy="1783080"/>
          </a:xfrm>
          <a:prstGeom prst="rect">
            <a:avLst/>
          </a:prstGeom>
          <a:noFill/>
          <a:ln/>
        </p:spPr>
        <p:txBody>
          <a:bodyPr wrap="square" lIns="0" tIns="0" rIns="0" bIns="0" rtlCol="0" anchor="ctr"/>
          <a:lstStyle/>
          <a:p>
            <a:pPr marL="0" marR="0" lvl="0" indent="0" algn="l" defTabSz="914400" rtl="0" eaLnBrk="1" fontAlgn="auto" latinLnBrk="0" hangingPunct="1">
              <a:lnSpc>
                <a:spcPct val="12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Broke every transcript into single observations, one sticky note, one idea, stripped of speaker identity.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447288" y="1737360"/>
            <a:ext cx="2724912" cy="3017520"/>
          </a:xfrm>
          <a:prstGeom prst="roundRect">
            <a:avLst>
              <a:gd name="adj" fmla="val 2013"/>
            </a:avLst>
          </a:prstGeom>
          <a:solidFill>
            <a:srgbClr val="6E5FE0"/>
          </a:solidFill>
          <a:ln w="12700">
            <a:solidFill>
              <a:srgbClr val="6E5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3675888" y="1920240"/>
            <a:ext cx="226771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AFAFE"/>
                </a:solidFill>
                <a:effectLst/>
                <a:uLnTx/>
                <a:uFillTx/>
                <a:latin typeface="Georgia" pitchFamily="34" charset="0"/>
                <a:ea typeface="Georgia" pitchFamily="34" charset="-122"/>
                <a:cs typeface="Georgia" pitchFamily="34" charset="-120"/>
              </a:rPr>
              <a:t>02</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3675888" y="2423160"/>
            <a:ext cx="226771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AFAFE"/>
                </a:solidFill>
                <a:effectLst/>
                <a:uLnTx/>
                <a:uFillTx/>
                <a:latin typeface="Georgia" pitchFamily="34" charset="0"/>
                <a:ea typeface="Georgia" pitchFamily="34" charset="-122"/>
                <a:cs typeface="Georgia" pitchFamily="34" charset="-120"/>
              </a:rPr>
              <a:t>Cluster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675888" y="2816352"/>
            <a:ext cx="2267712" cy="1783080"/>
          </a:xfrm>
          <a:prstGeom prst="rect">
            <a:avLst/>
          </a:prstGeom>
          <a:noFill/>
          <a:ln/>
        </p:spPr>
        <p:txBody>
          <a:bodyPr wrap="square" lIns="0" tIns="0" rIns="0" bIns="0" rtlCol="0" anchor="ctr"/>
          <a:lstStyle/>
          <a:p>
            <a:pPr marL="0" marR="0" lvl="0" indent="0" algn="l" defTabSz="914400" rtl="0" eaLnBrk="1" fontAlgn="auto" latinLnBrk="0" hangingPunct="1">
              <a:lnSpc>
                <a:spcPct val="12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AFAFE"/>
                </a:solidFill>
                <a:effectLst/>
                <a:uLnTx/>
                <a:uFillTx/>
                <a:latin typeface="Calibri" pitchFamily="34" charset="0"/>
                <a:ea typeface="Calibri" pitchFamily="34" charset="-122"/>
                <a:cs typeface="Calibri" pitchFamily="34" charset="-120"/>
              </a:rPr>
              <a:t>Grouped observations bottom-up by underlying behaviour, not by which question prompted them.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345936" y="1737360"/>
            <a:ext cx="2724912" cy="3017520"/>
          </a:xfrm>
          <a:prstGeom prst="roundRect">
            <a:avLst>
              <a:gd name="adj" fmla="val 2013"/>
            </a:avLst>
          </a:prstGeom>
          <a:solidFill>
            <a:srgbClr val="F4F3FC"/>
          </a:solidFill>
          <a:ln w="12700">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6574536" y="1920240"/>
            <a:ext cx="226771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6E5FE0"/>
                </a:solidFill>
                <a:effectLst/>
                <a:uLnTx/>
                <a:uFillTx/>
                <a:latin typeface="Georgia" pitchFamily="34" charset="0"/>
                <a:ea typeface="Georgia" pitchFamily="34" charset="-122"/>
                <a:cs typeface="Georgia" pitchFamily="34" charset="-120"/>
              </a:rPr>
              <a:t>03</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574536" y="2423160"/>
            <a:ext cx="226771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1A2E"/>
                </a:solidFill>
                <a:effectLst/>
                <a:uLnTx/>
                <a:uFillTx/>
                <a:latin typeface="Georgia" pitchFamily="34" charset="0"/>
                <a:ea typeface="Georgia" pitchFamily="34" charset="-122"/>
                <a:cs typeface="Georgia" pitchFamily="34" charset="-120"/>
              </a:rPr>
              <a:t>Label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574536" y="2816352"/>
            <a:ext cx="2267712" cy="1783080"/>
          </a:xfrm>
          <a:prstGeom prst="rect">
            <a:avLst/>
          </a:prstGeom>
          <a:noFill/>
          <a:ln/>
        </p:spPr>
        <p:txBody>
          <a:bodyPr wrap="square" lIns="0" tIns="0" rIns="0" bIns="0" rtlCol="0" anchor="ctr"/>
          <a:lstStyle/>
          <a:p>
            <a:pPr marL="0" marR="0" lvl="0" indent="0" algn="l" defTabSz="914400" rtl="0" eaLnBrk="1" fontAlgn="auto" latinLnBrk="0" hangingPunct="1">
              <a:lnSpc>
                <a:spcPct val="12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Named each cluster as a pattern (e.g. discovery friction, fragmented ownership) and checked it against multiple stakeholder groups.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9244584" y="1737360"/>
            <a:ext cx="2724912" cy="3017520"/>
          </a:xfrm>
          <a:prstGeom prst="roundRect">
            <a:avLst>
              <a:gd name="adj" fmla="val 2013"/>
            </a:avLst>
          </a:prstGeom>
          <a:solidFill>
            <a:srgbClr val="3D6FE0"/>
          </a:solidFill>
          <a:ln w="12700">
            <a:solidFill>
              <a:srgbClr val="3D6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9473184" y="1920240"/>
            <a:ext cx="226771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AFAFE"/>
                </a:solidFill>
                <a:effectLst/>
                <a:uLnTx/>
                <a:uFillTx/>
                <a:latin typeface="Georgia" pitchFamily="34" charset="0"/>
                <a:ea typeface="Georgia" pitchFamily="34" charset="-122"/>
                <a:cs typeface="Georgia" pitchFamily="34" charset="-120"/>
              </a:rPr>
              <a:t>04</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9473184" y="2423160"/>
            <a:ext cx="226771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AFAFE"/>
                </a:solidFill>
                <a:effectLst/>
                <a:uLnTx/>
                <a:uFillTx/>
                <a:latin typeface="Georgia" pitchFamily="34" charset="0"/>
                <a:ea typeface="Georgia" pitchFamily="34" charset="-122"/>
                <a:cs typeface="Georgia" pitchFamily="34" charset="-120"/>
              </a:rPr>
              <a:t>Weight &amp; Prioritize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473184" y="2816352"/>
            <a:ext cx="2267712" cy="1783080"/>
          </a:xfrm>
          <a:prstGeom prst="rect">
            <a:avLst/>
          </a:prstGeom>
          <a:noFill/>
          <a:ln/>
        </p:spPr>
        <p:txBody>
          <a:bodyPr wrap="square" lIns="0" tIns="0" rIns="0" bIns="0" rtlCol="0" anchor="ctr"/>
          <a:lstStyle/>
          <a:p>
            <a:pPr marL="0" marR="0" lvl="0" indent="0" algn="l" defTabSz="914400" rtl="0" eaLnBrk="1" fontAlgn="auto" latinLnBrk="0" hangingPunct="1">
              <a:lnSpc>
                <a:spcPct val="12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AFAFE"/>
                </a:solidFill>
                <a:effectLst/>
                <a:uLnTx/>
                <a:uFillTx/>
                <a:latin typeface="Calibri" pitchFamily="34" charset="0"/>
                <a:ea typeface="Calibri" pitchFamily="34" charset="-122"/>
                <a:cs typeface="Calibri" pitchFamily="34" charset="-120"/>
              </a:rPr>
              <a:t>Scored clusters by frequency, intensity, and business impact to separate systemic themes from one-off anecdotes.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48640" y="4983480"/>
            <a:ext cx="11091672" cy="1280160"/>
          </a:xfrm>
          <a:prstGeom prst="roundRect">
            <a:avLst>
              <a:gd name="adj" fmla="val 3571"/>
            </a:avLst>
          </a:prstGeom>
          <a:solidFill>
            <a:srgbClr val="EEECFA"/>
          </a:solidFill>
          <a:ln w="12700">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0" descr="icons/grid_indigo.png"/>
          <p:cNvPicPr>
            <a:picLocks noChangeAspect="1"/>
          </p:cNvPicPr>
          <p:nvPr/>
        </p:nvPicPr>
        <p:blipFill>
          <a:blip r:embed="rId4"/>
          <a:stretch>
            <a:fillRect/>
          </a:stretch>
        </p:blipFill>
        <p:spPr>
          <a:xfrm>
            <a:off x="822960" y="5377180"/>
            <a:ext cx="502920" cy="502920"/>
          </a:xfrm>
          <a:prstGeom prst="rect">
            <a:avLst/>
          </a:prstGeom>
        </p:spPr>
      </p:pic>
      <p:sp>
        <p:nvSpPr>
          <p:cNvPr id="22" name="Text 19"/>
          <p:cNvSpPr/>
          <p:nvPr/>
        </p:nvSpPr>
        <p:spPr>
          <a:xfrm>
            <a:off x="1508760" y="5074920"/>
            <a:ext cx="9875520" cy="109728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I ran this as a facilitated exercise with the wider project team about what a pattern really meant before it became a “finding.” That gave the final themes more credibility with leadership.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457200" y="6400800"/>
            <a:ext cx="11274552" cy="0"/>
          </a:xfrm>
          <a:prstGeom prst="line">
            <a:avLst/>
          </a:prstGeom>
          <a:noFill/>
          <a:ln w="9525">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Confidential — UX Research Case Study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50" normalizeH="0" baseline="0" noProof="0" dirty="0">
                <a:ln>
                  <a:noFill/>
                </a:ln>
                <a:solidFill>
                  <a:srgbClr val="6E5FE0"/>
                </a:solidFill>
                <a:effectLst/>
                <a:uLnTx/>
                <a:uFillTx/>
                <a:latin typeface="Calibri" pitchFamily="34" charset="0"/>
                <a:ea typeface="Calibri" pitchFamily="34" charset="-122"/>
                <a:cs typeface="Calibri" pitchFamily="34" charset="-120"/>
              </a:rPr>
              <a:t>FINDINGS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A1A2E"/>
                </a:solidFill>
                <a:effectLst/>
                <a:uLnTx/>
                <a:uFillTx/>
                <a:latin typeface="Georgia" pitchFamily="34" charset="0"/>
                <a:ea typeface="Georgia" pitchFamily="34" charset="-122"/>
                <a:cs typeface="Georgia" pitchFamily="34" charset="-120"/>
              </a:rPr>
              <a:t>Six themes emerged, the deepest ran behavioural</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1645920"/>
            <a:ext cx="5440680" cy="1298448"/>
          </a:xfrm>
          <a:prstGeom prst="roundRect">
            <a:avLst>
              <a:gd name="adj" fmla="val 4225"/>
            </a:avLst>
          </a:prstGeom>
          <a:solidFill>
            <a:srgbClr val="F4F3FC"/>
          </a:solidFill>
          <a:ln w="12700">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822960" y="1783080"/>
            <a:ext cx="48920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A1A2E"/>
                </a:solidFill>
                <a:effectLst/>
                <a:uLnTx/>
                <a:uFillTx/>
                <a:latin typeface="Georgia" pitchFamily="34" charset="0"/>
                <a:ea typeface="Georgia" pitchFamily="34" charset="-122"/>
                <a:cs typeface="Georgia" pitchFamily="34" charset="-120"/>
              </a:rPr>
              <a:t>Discovery is people-dependent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22960" y="2176272"/>
            <a:ext cx="4892040" cy="7772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Teams found APIs through tribal knowledge and personal networks, not systems, confidence in “what exists” was low across every group.</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199632" y="1645920"/>
            <a:ext cx="5440680" cy="1298448"/>
          </a:xfrm>
          <a:prstGeom prst="roundRect">
            <a:avLst>
              <a:gd name="adj" fmla="val 4225"/>
            </a:avLst>
          </a:prstGeom>
          <a:solidFill>
            <a:srgbClr val="F4F3FC"/>
          </a:solidFill>
          <a:ln w="12700">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473952" y="1783080"/>
            <a:ext cx="48920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A1A2E"/>
                </a:solidFill>
                <a:effectLst/>
                <a:uLnTx/>
                <a:uFillTx/>
                <a:latin typeface="Georgia" pitchFamily="34" charset="0"/>
                <a:ea typeface="Georgia" pitchFamily="34" charset="-122"/>
                <a:cs typeface="Georgia" pitchFamily="34" charset="-120"/>
              </a:rPr>
              <a:t>Fragmented ownership</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473952" y="2176272"/>
            <a:ext cx="4892040" cy="7772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Unclear accountability for shared capabilities discouraged reuse and made governance feel like friction rather than support.</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548640" y="3063240"/>
            <a:ext cx="5440680" cy="1298448"/>
          </a:xfrm>
          <a:prstGeom prst="roundRect">
            <a:avLst>
              <a:gd name="adj" fmla="val 4225"/>
            </a:avLst>
          </a:prstGeom>
          <a:solidFill>
            <a:srgbClr val="F4F3FC"/>
          </a:solidFill>
          <a:ln w="12700">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822960" y="3200400"/>
            <a:ext cx="48920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A1A2E"/>
                </a:solidFill>
                <a:effectLst/>
                <a:uLnTx/>
                <a:uFillTx/>
                <a:latin typeface="Georgia" pitchFamily="34" charset="0"/>
                <a:ea typeface="Georgia" pitchFamily="34" charset="-122"/>
                <a:cs typeface="Georgia" pitchFamily="34" charset="-120"/>
              </a:rPr>
              <a:t>Duplication is normalised</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822960" y="3593592"/>
            <a:ext cx="4892040" cy="7772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Reinventing capability was seen as lower-risk than finding and trusting someone else’s, a rational response to poor visibility.</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199632" y="3063240"/>
            <a:ext cx="5440680" cy="1298448"/>
          </a:xfrm>
          <a:prstGeom prst="roundRect">
            <a:avLst>
              <a:gd name="adj" fmla="val 4225"/>
            </a:avLst>
          </a:prstGeom>
          <a:solidFill>
            <a:srgbClr val="F4F3FC"/>
          </a:solidFill>
          <a:ln w="12700">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73952" y="3200400"/>
            <a:ext cx="48920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A1A2E"/>
                </a:solidFill>
                <a:effectLst/>
                <a:uLnTx/>
                <a:uFillTx/>
                <a:latin typeface="Georgia" pitchFamily="34" charset="0"/>
                <a:ea typeface="Georgia" pitchFamily="34" charset="-122"/>
                <a:cs typeface="Georgia" pitchFamily="34" charset="-120"/>
              </a:rPr>
              <a:t>Governance felt like a gate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473952" y="3593592"/>
            <a:ext cx="4892040" cy="7772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Process was associated with delay, not enablement, which pushed teams toward workarounds.</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48640" y="4480560"/>
            <a:ext cx="5440680" cy="1298448"/>
          </a:xfrm>
          <a:prstGeom prst="roundRect">
            <a:avLst>
              <a:gd name="adj" fmla="val 4225"/>
            </a:avLst>
          </a:prstGeom>
          <a:solidFill>
            <a:srgbClr val="6E5FE0"/>
          </a:solidFill>
          <a:ln w="12700">
            <a:solidFill>
              <a:srgbClr val="6E5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822960" y="4617720"/>
            <a:ext cx="48920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AFAFE"/>
                </a:solidFill>
                <a:effectLst/>
                <a:uLnTx/>
                <a:uFillTx/>
                <a:latin typeface="Georgia" pitchFamily="34" charset="0"/>
                <a:ea typeface="Georgia" pitchFamily="34" charset="-122"/>
                <a:cs typeface="Georgia" pitchFamily="34" charset="-120"/>
              </a:rPr>
              <a:t>Deep-rooted habits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822960" y="5010912"/>
            <a:ext cx="4892040" cy="7772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FAFAFE"/>
                </a:solidFill>
                <a:effectLst/>
                <a:uLnTx/>
                <a:uFillTx/>
                <a:latin typeface="Calibri" pitchFamily="34" charset="0"/>
                <a:ea typeface="Calibri" pitchFamily="34" charset="-122"/>
                <a:cs typeface="Calibri" pitchFamily="34" charset="-120"/>
              </a:rPr>
              <a:t>Ways of working had calcified over years; “how we've always done it” outweighed the case for a new shared model.</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199632" y="4480560"/>
            <a:ext cx="5440680" cy="1298448"/>
          </a:xfrm>
          <a:prstGeom prst="roundRect">
            <a:avLst>
              <a:gd name="adj" fmla="val 4225"/>
            </a:avLst>
          </a:prstGeom>
          <a:solidFill>
            <a:srgbClr val="3D6FE0"/>
          </a:solidFill>
          <a:ln w="12700">
            <a:solidFill>
              <a:srgbClr val="3D6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473952" y="4617720"/>
            <a:ext cx="48920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AFAFE"/>
                </a:solidFill>
                <a:effectLst/>
                <a:uLnTx/>
                <a:uFillTx/>
                <a:latin typeface="Georgia" pitchFamily="34" charset="0"/>
                <a:ea typeface="Georgia" pitchFamily="34" charset="-122"/>
                <a:cs typeface="Georgia" pitchFamily="34" charset="-120"/>
              </a:rPr>
              <a:t>Incentives don't reward reuse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473952" y="5010912"/>
            <a:ext cx="4892040" cy="7772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FAFAFE"/>
                </a:solidFill>
                <a:effectLst/>
                <a:uLnTx/>
                <a:uFillTx/>
                <a:latin typeface="Calibri" pitchFamily="34" charset="0"/>
                <a:ea typeface="Calibri" pitchFamily="34" charset="-122"/>
                <a:cs typeface="Calibri" pitchFamily="34" charset="-120"/>
              </a:rPr>
              <a:t>Recognition and delivery pressure both favoured shipping something new over reusing or contributing to shared capability.</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76072" y="5916168"/>
            <a:ext cx="11064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Highlighted themes (5–6) were the deepest and most consequential, cultural habits and incentive structures that no amount of tooling could fix on its own.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457200" y="6400800"/>
            <a:ext cx="11274552" cy="0"/>
          </a:xfrm>
          <a:prstGeom prst="line">
            <a:avLst/>
          </a:prstGeom>
          <a:noFill/>
          <a:ln w="9525">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Confidential — UX Research Case Study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9</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50" normalizeH="0" baseline="0" noProof="0" dirty="0">
                <a:ln>
                  <a:noFill/>
                </a:ln>
                <a:solidFill>
                  <a:srgbClr val="6E5FE0"/>
                </a:solidFill>
                <a:effectLst/>
                <a:uLnTx/>
                <a:uFillTx/>
                <a:latin typeface="Calibri" pitchFamily="34" charset="0"/>
                <a:ea typeface="Calibri" pitchFamily="34" charset="-122"/>
                <a:cs typeface="Calibri" pitchFamily="34" charset="-120"/>
              </a:rPr>
              <a:t>THE REFRAME WE PROPOSED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A1A2E"/>
                </a:solidFill>
                <a:effectLst/>
                <a:uLnTx/>
                <a:uFillTx/>
                <a:latin typeface="Georgia" pitchFamily="34" charset="0"/>
                <a:ea typeface="Georgia" pitchFamily="34" charset="-122"/>
                <a:cs typeface="Georgia" pitchFamily="34" charset="-120"/>
              </a:rPr>
              <a:t>From a machine to an organism</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1371600"/>
            <a:ext cx="10789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Because the deepest blockers were habits and incentives, tooling alone (the Marketplace platform) wouldn't fix them. We recommended reframing FUSE's operating model itself.</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2148840"/>
            <a:ext cx="5257800" cy="4160520"/>
          </a:xfrm>
          <a:prstGeom prst="roundRect">
            <a:avLst>
              <a:gd name="adj" fmla="val 1319"/>
            </a:avLst>
          </a:prstGeom>
          <a:solidFill>
            <a:srgbClr val="EDEFF3"/>
          </a:solidFill>
          <a:ln w="12700">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868680" y="2423160"/>
            <a:ext cx="685800" cy="685800"/>
          </a:xfrm>
          <a:prstGeom prst="ellipse">
            <a:avLst/>
          </a:prstGeom>
          <a:solidFill>
            <a:srgbClr val="3A3D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0" descr="icons/gear_white.png"/>
          <p:cNvPicPr>
            <a:picLocks noChangeAspect="1"/>
          </p:cNvPicPr>
          <p:nvPr/>
        </p:nvPicPr>
        <p:blipFill>
          <a:blip r:embed="rId4"/>
          <a:stretch>
            <a:fillRect/>
          </a:stretch>
        </p:blipFill>
        <p:spPr>
          <a:xfrm>
            <a:off x="1024128" y="2578608"/>
            <a:ext cx="374904" cy="374904"/>
          </a:xfrm>
          <a:prstGeom prst="rect">
            <a:avLst/>
          </a:prstGeom>
        </p:spPr>
      </p:pic>
      <p:sp>
        <p:nvSpPr>
          <p:cNvPr id="8" name="Text 5"/>
          <p:cNvSpPr/>
          <p:nvPr/>
        </p:nvSpPr>
        <p:spPr>
          <a:xfrm>
            <a:off x="1737360" y="2450592"/>
            <a:ext cx="3931920" cy="6217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A1A2E"/>
                </a:solidFill>
                <a:effectLst/>
                <a:uLnTx/>
                <a:uFillTx/>
                <a:latin typeface="Georgia" pitchFamily="34" charset="0"/>
                <a:ea typeface="Georgia" pitchFamily="34" charset="-122"/>
                <a:cs typeface="Georgia" pitchFamily="34" charset="-120"/>
              </a:rPr>
              <a:t>Today: the Machine model</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868680" y="3410712"/>
            <a:ext cx="73152" cy="73152"/>
          </a:xfrm>
          <a:prstGeom prst="ellipse">
            <a:avLst/>
          </a:prstGeom>
          <a:solidFill>
            <a:srgbClr val="5B5E7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1078992" y="3264408"/>
            <a:ext cx="4526280" cy="685800"/>
          </a:xfrm>
          <a:prstGeom prst="rect">
            <a:avLst/>
          </a:prstGeom>
          <a:noFill/>
          <a:ln/>
        </p:spPr>
        <p:txBody>
          <a:bodyPr wrap="square" lIns="0" tIns="0" rIns="0" bIns="0" rtlCol="0" anchor="ctr"/>
          <a:lstStyle/>
          <a:p>
            <a:pPr marL="0" marR="0" lvl="0" indent="0" algn="l" defTabSz="914400" rtl="0" eaLnBrk="1" fontAlgn="auto" latinLnBrk="0" hangingPunct="1">
              <a:lnSpc>
                <a:spcPct val="122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A3D4A"/>
                </a:solidFill>
                <a:effectLst/>
                <a:uLnTx/>
                <a:uFillTx/>
                <a:latin typeface="Calibri" pitchFamily="34" charset="0"/>
                <a:ea typeface="Calibri" pitchFamily="34" charset="-122"/>
                <a:cs typeface="Calibri" pitchFamily="34" charset="-120"/>
              </a:rPr>
              <a:t>Fixed parts, fixed processes: designed once, expected to run unchanged</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868680" y="4187952"/>
            <a:ext cx="73152" cy="73152"/>
          </a:xfrm>
          <a:prstGeom prst="ellipse">
            <a:avLst/>
          </a:prstGeom>
          <a:solidFill>
            <a:srgbClr val="5B5E7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1078992" y="4041648"/>
            <a:ext cx="4526280" cy="685800"/>
          </a:xfrm>
          <a:prstGeom prst="rect">
            <a:avLst/>
          </a:prstGeom>
          <a:noFill/>
          <a:ln/>
        </p:spPr>
        <p:txBody>
          <a:bodyPr wrap="square" lIns="0" tIns="0" rIns="0" bIns="0" rtlCol="0" anchor="ctr"/>
          <a:lstStyle/>
          <a:p>
            <a:pPr marL="0" marR="0" lvl="0" indent="0" algn="l" defTabSz="914400" rtl="0" eaLnBrk="1" fontAlgn="auto" latinLnBrk="0" hangingPunct="1">
              <a:lnSpc>
                <a:spcPct val="122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A3D4A"/>
                </a:solidFill>
                <a:effectLst/>
                <a:uLnTx/>
                <a:uFillTx/>
                <a:latin typeface="Calibri" pitchFamily="34" charset="0"/>
                <a:ea typeface="Calibri" pitchFamily="34" charset="-122"/>
                <a:cs typeface="Calibri" pitchFamily="34" charset="-120"/>
              </a:rPr>
              <a:t>Central control; teams execute a defined sequence rather than adapt it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868680" y="4965192"/>
            <a:ext cx="73152" cy="73152"/>
          </a:xfrm>
          <a:prstGeom prst="ellipse">
            <a:avLst/>
          </a:prstGeom>
          <a:solidFill>
            <a:srgbClr val="5B5E7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1078992" y="4818888"/>
            <a:ext cx="4526280" cy="685800"/>
          </a:xfrm>
          <a:prstGeom prst="rect">
            <a:avLst/>
          </a:prstGeom>
          <a:noFill/>
          <a:ln/>
        </p:spPr>
        <p:txBody>
          <a:bodyPr wrap="square" lIns="0" tIns="0" rIns="0" bIns="0" rtlCol="0" anchor="ctr"/>
          <a:lstStyle/>
          <a:p>
            <a:pPr marL="0" marR="0" lvl="0" indent="0" algn="l" defTabSz="914400" rtl="0" eaLnBrk="1" fontAlgn="auto" latinLnBrk="0" hangingPunct="1">
              <a:lnSpc>
                <a:spcPct val="122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A3D4A"/>
                </a:solidFill>
                <a:effectLst/>
                <a:uLnTx/>
                <a:uFillTx/>
                <a:latin typeface="Calibri" pitchFamily="34" charset="0"/>
                <a:ea typeface="Calibri" pitchFamily="34" charset="-122"/>
                <a:cs typeface="Calibri" pitchFamily="34" charset="-120"/>
              </a:rPr>
              <a:t>Efficient when conditions are stable; brittle when context shifts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868680" y="5742432"/>
            <a:ext cx="73152" cy="73152"/>
          </a:xfrm>
          <a:prstGeom prst="ellipse">
            <a:avLst/>
          </a:prstGeom>
          <a:solidFill>
            <a:srgbClr val="5B5E7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1078992" y="5596128"/>
            <a:ext cx="4526280" cy="685800"/>
          </a:xfrm>
          <a:prstGeom prst="rect">
            <a:avLst/>
          </a:prstGeom>
          <a:noFill/>
          <a:ln/>
        </p:spPr>
        <p:txBody>
          <a:bodyPr wrap="square" lIns="0" tIns="0" rIns="0" bIns="0" rtlCol="0" anchor="ctr"/>
          <a:lstStyle/>
          <a:p>
            <a:pPr marL="0" marR="0" lvl="0" indent="0" algn="l" defTabSz="914400" rtl="0" eaLnBrk="1" fontAlgn="auto" latinLnBrk="0" hangingPunct="1">
              <a:lnSpc>
                <a:spcPct val="122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A3D4A"/>
                </a:solidFill>
                <a:effectLst/>
                <a:uLnTx/>
                <a:uFillTx/>
                <a:latin typeface="Calibri" pitchFamily="34" charset="0"/>
                <a:ea typeface="Calibri" pitchFamily="34" charset="-122"/>
                <a:cs typeface="Calibri" pitchFamily="34" charset="-120"/>
              </a:rPr>
              <a:t>Reuse and collaboration are steps in a process, not behaviours that are rewarded</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5989320" y="2148840"/>
            <a:ext cx="5650992" cy="4160520"/>
          </a:xfrm>
          <a:prstGeom prst="roundRect">
            <a:avLst>
              <a:gd name="adj" fmla="val 1319"/>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5"/>
          <p:cNvSpPr/>
          <p:nvPr/>
        </p:nvSpPr>
        <p:spPr>
          <a:xfrm>
            <a:off x="6309360" y="2423160"/>
            <a:ext cx="685800" cy="685800"/>
          </a:xfrm>
          <a:prstGeom prst="ellipse">
            <a:avLst/>
          </a:prstGeom>
          <a:solidFill>
            <a:srgbClr val="FAFA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9" name="Image 1" descr="icons/sprout_indigo.png"/>
          <p:cNvPicPr>
            <a:picLocks noChangeAspect="1"/>
          </p:cNvPicPr>
          <p:nvPr/>
        </p:nvPicPr>
        <p:blipFill>
          <a:blip r:embed="rId5"/>
          <a:stretch>
            <a:fillRect/>
          </a:stretch>
        </p:blipFill>
        <p:spPr>
          <a:xfrm>
            <a:off x="6464808" y="2578608"/>
            <a:ext cx="374904" cy="374904"/>
          </a:xfrm>
          <a:prstGeom prst="rect">
            <a:avLst/>
          </a:prstGeom>
        </p:spPr>
      </p:pic>
      <p:sp>
        <p:nvSpPr>
          <p:cNvPr id="20" name="Text 16"/>
          <p:cNvSpPr/>
          <p:nvPr/>
        </p:nvSpPr>
        <p:spPr>
          <a:xfrm>
            <a:off x="7178040" y="2450592"/>
            <a:ext cx="4343400" cy="6217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AFAFE"/>
                </a:solidFill>
                <a:effectLst/>
                <a:uLnTx/>
                <a:uFillTx/>
                <a:latin typeface="Georgia" pitchFamily="34" charset="0"/>
                <a:ea typeface="Georgia" pitchFamily="34" charset="-122"/>
                <a:cs typeface="Georgia" pitchFamily="34" charset="-120"/>
              </a:rPr>
              <a:t>Proposed: the Organism model</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7"/>
          <p:cNvSpPr/>
          <p:nvPr/>
        </p:nvSpPr>
        <p:spPr>
          <a:xfrm>
            <a:off x="6309360" y="3410712"/>
            <a:ext cx="73152" cy="73152"/>
          </a:xfrm>
          <a:prstGeom prst="ellipse">
            <a:avLst/>
          </a:prstGeom>
          <a:solidFill>
            <a:srgbClr val="FAFA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8"/>
          <p:cNvSpPr/>
          <p:nvPr/>
        </p:nvSpPr>
        <p:spPr>
          <a:xfrm>
            <a:off x="6519672" y="3264408"/>
            <a:ext cx="4983480" cy="685800"/>
          </a:xfrm>
          <a:prstGeom prst="rect">
            <a:avLst/>
          </a:prstGeom>
          <a:noFill/>
          <a:ln/>
        </p:spPr>
        <p:txBody>
          <a:bodyPr wrap="square" lIns="0" tIns="0" rIns="0" bIns="0" rtlCol="0" anchor="ctr"/>
          <a:lstStyle/>
          <a:p>
            <a:pPr marL="0" marR="0" lvl="0" indent="0" algn="l" defTabSz="914400" rtl="0" eaLnBrk="1" fontAlgn="auto" latinLnBrk="0" hangingPunct="1">
              <a:lnSpc>
                <a:spcPct val="122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Self-organizing parts that sense conditions and adapt continuously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19"/>
          <p:cNvSpPr/>
          <p:nvPr/>
        </p:nvSpPr>
        <p:spPr>
          <a:xfrm>
            <a:off x="6309360" y="4187952"/>
            <a:ext cx="73152" cy="73152"/>
          </a:xfrm>
          <a:prstGeom prst="ellipse">
            <a:avLst/>
          </a:prstGeom>
          <a:solidFill>
            <a:srgbClr val="FAFA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0"/>
          <p:cNvSpPr/>
          <p:nvPr/>
        </p:nvSpPr>
        <p:spPr>
          <a:xfrm>
            <a:off x="6519672" y="4041648"/>
            <a:ext cx="4983480" cy="685800"/>
          </a:xfrm>
          <a:prstGeom prst="rect">
            <a:avLst/>
          </a:prstGeom>
          <a:noFill/>
          <a:ln/>
        </p:spPr>
        <p:txBody>
          <a:bodyPr wrap="square" lIns="0" tIns="0" rIns="0" bIns="0" rtlCol="0" anchor="ctr"/>
          <a:lstStyle/>
          <a:p>
            <a:pPr marL="0" marR="0" lvl="0" indent="0" algn="l" defTabSz="914400" rtl="0" eaLnBrk="1" fontAlgn="auto" latinLnBrk="0" hangingPunct="1">
              <a:lnSpc>
                <a:spcPct val="122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Distributed ownership; this grows and tends the ecosystem</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1"/>
          <p:cNvSpPr/>
          <p:nvPr/>
        </p:nvSpPr>
        <p:spPr>
          <a:xfrm>
            <a:off x="6309360" y="4965192"/>
            <a:ext cx="73152" cy="73152"/>
          </a:xfrm>
          <a:prstGeom prst="ellipse">
            <a:avLst/>
          </a:prstGeom>
          <a:solidFill>
            <a:srgbClr val="FAFA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2"/>
          <p:cNvSpPr/>
          <p:nvPr/>
        </p:nvSpPr>
        <p:spPr>
          <a:xfrm>
            <a:off x="6519672" y="4818888"/>
            <a:ext cx="4983480" cy="685800"/>
          </a:xfrm>
          <a:prstGeom prst="rect">
            <a:avLst/>
          </a:prstGeom>
          <a:noFill/>
          <a:ln/>
        </p:spPr>
        <p:txBody>
          <a:bodyPr wrap="square" lIns="0" tIns="0" rIns="0" bIns="0" rtlCol="0" anchor="ctr"/>
          <a:lstStyle/>
          <a:p>
            <a:pPr marL="0" marR="0" lvl="0" indent="0" algn="l" defTabSz="914400" rtl="0" eaLnBrk="1" fontAlgn="auto" latinLnBrk="0" hangingPunct="1">
              <a:lnSpc>
                <a:spcPct val="122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Resilient by design keeps working even as teams, priorities, and technology shifts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3"/>
          <p:cNvSpPr/>
          <p:nvPr/>
        </p:nvSpPr>
        <p:spPr>
          <a:xfrm>
            <a:off x="6309360" y="5742432"/>
            <a:ext cx="73152" cy="73152"/>
          </a:xfrm>
          <a:prstGeom prst="ellipse">
            <a:avLst/>
          </a:prstGeom>
          <a:solidFill>
            <a:srgbClr val="FAFA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4"/>
          <p:cNvSpPr/>
          <p:nvPr/>
        </p:nvSpPr>
        <p:spPr>
          <a:xfrm>
            <a:off x="6519672" y="5596128"/>
            <a:ext cx="4983480" cy="685800"/>
          </a:xfrm>
          <a:prstGeom prst="rect">
            <a:avLst/>
          </a:prstGeom>
          <a:noFill/>
          <a:ln/>
        </p:spPr>
        <p:txBody>
          <a:bodyPr wrap="square" lIns="0" tIns="0" rIns="0" bIns="0" rtlCol="0" anchor="ctr"/>
          <a:lstStyle/>
          <a:p>
            <a:pPr marL="0" marR="0" lvl="0" indent="0" algn="l" defTabSz="914400" rtl="0" eaLnBrk="1" fontAlgn="auto" latinLnBrk="0" hangingPunct="1">
              <a:lnSpc>
                <a:spcPct val="122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Reuse and contribution are incentivized as healthy behaviours, not extra process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5"/>
          <p:cNvSpPr/>
          <p:nvPr/>
        </p:nvSpPr>
        <p:spPr>
          <a:xfrm>
            <a:off x="457200" y="6400800"/>
            <a:ext cx="11274552" cy="0"/>
          </a:xfrm>
          <a:prstGeom prst="line">
            <a:avLst/>
          </a:prstGeom>
          <a:noFill/>
          <a:ln w="9525">
            <a:solidFill>
              <a:srgbClr val="E3E1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6"/>
          <p:cNvSpPr/>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Confidential — UX Research Case Study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7"/>
          <p:cNvSpPr/>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5E70"/>
                </a:solidFill>
                <a:effectLst/>
                <a:uLnTx/>
                <a:uFillTx/>
                <a:latin typeface="Calibri" pitchFamily="34" charset="0"/>
                <a:ea typeface="Calibri" pitchFamily="34" charset="-122"/>
                <a:cs typeface="Calibri" pitchFamily="34" charset="-120"/>
              </a:rPr>
              <a:t>10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r>
              <a:rPr sz="2000" b="1">
                <a:solidFill>
                  <a:srgbClr val="FFFFFF"/>
                </a:solidFill>
              </a:rPr>
              <a:t>EVIDENCE TRACEABILITY &amp; IMPACT</a:t>
            </a:r>
          </a:p>
        </p:txBody>
      </p:sp>
      <p:sp>
        <p:nvSpPr>
          <p:cNvPr id="3" name="Text 1"/>
          <p:cNvSpPr/>
          <p:nvPr/>
        </p:nvSpPr>
        <p:spPr>
          <a:xfrm>
            <a:off x="548640" y="685800"/>
            <a:ext cx="10789920" cy="822960"/>
          </a:xfrm>
          <a:prstGeom prst="rect">
            <a:avLst/>
          </a:prstGeom>
          <a:noFill/>
          <a:ln/>
        </p:spPr>
        <p:txBody>
          <a:bodyPr wrap="square" lIns="0" tIns="0" rIns="0" bIns="0" rtlCol="0" anchor="ctr"/>
          <a:lstStyle/>
          <a:p>
            <a:r>
              <a:rPr sz="3400" b="1">
                <a:solidFill>
                  <a:srgbClr val="FFFFFF"/>
                </a:solidFill>
              </a:rPr>
              <a:t>How the research became defensible</a:t>
            </a:r>
          </a:p>
        </p:txBody>
      </p:sp>
      <p:sp>
        <p:nvSpPr>
          <p:cNvPr id="4" name="Shape 2"/>
          <p:cNvSpPr/>
          <p:nvPr/>
        </p:nvSpPr>
        <p:spPr>
          <a:xfrm>
            <a:off x="548640" y="1691640"/>
            <a:ext cx="11091672" cy="1234440"/>
          </a:xfrm>
          <a:prstGeom prst="roundRect">
            <a:avLst>
              <a:gd name="adj" fmla="val 4444"/>
            </a:avLst>
          </a:prstGeom>
          <a:solidFill>
            <a:srgbClr val="16181F"/>
          </a:solidFill>
          <a:ln w="12700">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868680" y="1965960"/>
            <a:ext cx="685800" cy="685800"/>
          </a:xfrm>
          <a:prstGeom prst="ellipse">
            <a:avLst/>
          </a:prstGeom>
          <a:solidFill>
            <a:srgbClr val="1415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bg/ring.png"/>
          <p:cNvPicPr>
            <a:picLocks noChangeAspect="1"/>
          </p:cNvPicPr>
          <p:nvPr/>
        </p:nvPicPr>
        <p:blipFill>
          <a:blip r:embed="rId4"/>
          <a:stretch>
            <a:fillRect/>
          </a:stretch>
        </p:blipFill>
        <p:spPr>
          <a:xfrm>
            <a:off x="758952" y="1856232"/>
            <a:ext cx="905256" cy="905256"/>
          </a:xfrm>
          <a:prstGeom prst="rect">
            <a:avLst/>
          </a:prstGeom>
        </p:spPr>
      </p:pic>
      <p:pic>
        <p:nvPicPr>
          <p:cNvPr id="7" name="Image 1" descr="icons/compass_purple.png"/>
          <p:cNvPicPr>
            <a:picLocks noChangeAspect="1"/>
          </p:cNvPicPr>
          <p:nvPr/>
        </p:nvPicPr>
        <p:blipFill>
          <a:blip r:embed="rId5"/>
          <a:stretch>
            <a:fillRect/>
          </a:stretch>
        </p:blipFill>
        <p:spPr>
          <a:xfrm>
            <a:off x="1040130" y="2137410"/>
            <a:ext cx="342900" cy="342900"/>
          </a:xfrm>
          <a:prstGeom prst="rect">
            <a:avLst/>
          </a:prstGeom>
        </p:spPr>
      </p:pic>
      <p:sp>
        <p:nvSpPr>
          <p:cNvPr id="8" name="Text 4"/>
          <p:cNvSpPr/>
          <p:nvPr/>
        </p:nvSpPr>
        <p:spPr>
          <a:xfrm>
            <a:off x="1783080" y="1828800"/>
            <a:ext cx="9601200" cy="1005840"/>
          </a:xfrm>
          <a:prstGeom prst="rect">
            <a:avLst/>
          </a:prstGeom>
          <a:noFill/>
          <a:ln/>
        </p:spPr>
        <p:txBody>
          <a:bodyPr wrap="square" lIns="0" tIns="0" rIns="0" bIns="0" rtlCol="0" anchor="ctr"/>
          <a:lstStyle/>
          <a:p>
            <a:r>
              <a:rPr sz="1800" b="0">
                <a:solidFill>
                  <a:srgbClr val="E6E6EB"/>
                </a:solidFill>
              </a:rPr>
              <a:t>The case study now shows how raw stakeholder signals moved from observation → cluster → theme → recommendation, while still protecting NDA constraints.</a:t>
            </a:r>
          </a:p>
        </p:txBody>
      </p:sp>
      <p:sp>
        <p:nvSpPr>
          <p:cNvPr id="9" name="Text 5"/>
          <p:cNvSpPr/>
          <p:nvPr/>
        </p:nvSpPr>
        <p:spPr>
          <a:xfrm>
            <a:off x="548640" y="3200400"/>
            <a:ext cx="5486400" cy="365760"/>
          </a:xfrm>
          <a:prstGeom prst="rect">
            <a:avLst/>
          </a:prstGeom>
          <a:noFill/>
          <a:ln/>
        </p:spPr>
        <p:txBody>
          <a:bodyPr wrap="square" lIns="0" tIns="0" rIns="0" bIns="0" rtlCol="0" anchor="ctr"/>
          <a:lstStyle/>
          <a:p>
            <a:r>
              <a:rPr sz="2200" b="1">
                <a:solidFill>
                  <a:srgbClr val="FFFFFF"/>
                </a:solidFill>
              </a:rPr>
              <a:t>Evidence chain</a:t>
            </a:r>
          </a:p>
        </p:txBody>
      </p:sp>
      <p:sp>
        <p:nvSpPr>
          <p:cNvPr id="10" name="Shape 6"/>
          <p:cNvSpPr/>
          <p:nvPr/>
        </p:nvSpPr>
        <p:spPr>
          <a:xfrm>
            <a:off x="548640" y="3721608"/>
            <a:ext cx="82296" cy="82296"/>
          </a:xfrm>
          <a:prstGeom prst="ellipse">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7"/>
          <p:cNvSpPr/>
          <p:nvPr/>
        </p:nvSpPr>
        <p:spPr>
          <a:xfrm>
            <a:off x="777240" y="3584448"/>
            <a:ext cx="5212080" cy="777240"/>
          </a:xfrm>
          <a:prstGeom prst="rect">
            <a:avLst/>
          </a:prstGeom>
          <a:noFill/>
          <a:ln/>
        </p:spPr>
        <p:txBody>
          <a:bodyPr wrap="square" lIns="0" tIns="0" rIns="0" bIns="0" rtlCol="0" anchor="ctr"/>
          <a:lstStyle/>
          <a:p>
            <a:r>
              <a:rPr sz="1500" b="0">
                <a:solidFill>
                  <a:srgbClr val="E6E6EB"/>
                </a:solidFill>
              </a:rPr>
              <a:t>1. Raw signals were anonymised and broken into single observations.</a:t>
            </a:r>
          </a:p>
          <a:p>
            <a:r>
              <a:rPr sz="1500" b="0">
                <a:solidFill>
                  <a:srgbClr val="E6E6EB"/>
                </a:solidFill>
              </a:rPr>
              <a:t>2. Observations were clustered by behaviour, not by interview question.</a:t>
            </a:r>
          </a:p>
          <a:p>
            <a:r>
              <a:rPr sz="1500" b="0">
                <a:solidFill>
                  <a:srgbClr val="E6E6EB"/>
                </a:solidFill>
              </a:rPr>
              <a:t>3. Themes were checked across multiple stakeholder groups.</a:t>
            </a:r>
          </a:p>
          <a:p>
            <a:r>
              <a:rPr sz="1500" b="0">
                <a:solidFill>
                  <a:srgbClr val="E6E6EB"/>
                </a:solidFill>
              </a:rPr>
              <a:t>4. Recommendations were tied back to repeated patterns, not isolated comments.</a:t>
            </a:r>
          </a:p>
        </p:txBody>
      </p:sp>
      <p:sp>
        <p:nvSpPr>
          <p:cNvPr id="12" name="Shape 8"/>
          <p:cNvSpPr/>
          <p:nvPr/>
        </p:nvSpPr>
        <p:spPr>
          <a:xfrm>
            <a:off x="548640" y="4636008"/>
            <a:ext cx="82296" cy="82296"/>
          </a:xfrm>
          <a:prstGeom prst="ellipse">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p:nvPr/>
        </p:nvSpPr>
        <p:spPr>
          <a:xfrm>
            <a:off x="777240" y="4498848"/>
            <a:ext cx="5212080" cy="777240"/>
          </a:xfrm>
          <a:prstGeom prst="rect">
            <a:avLst/>
          </a:prstGeom>
          <a:noFill/>
          <a:ln/>
        </p:spPr>
        <p:txBody>
          <a:bodyPr wrap="square" lIns="0" tIns="0" rIns="0" bIns="0" rtlCol="0" anchor="ctr"/>
          <a:lstStyle/>
          <a:p>
            <a:r>
              <a:rPr sz="1500" b="0">
                <a:solidFill>
                  <a:srgbClr val="E6E6EB"/>
                </a:solidFill>
              </a:rPr>
              <a:t>Key decision: avoid treating the Marketplace as only a tooling problem. The evidence pointed to culture, incentives and ownership as equal design constraints.</a:t>
            </a:r>
          </a:p>
        </p:txBody>
      </p:sp>
      <p:sp>
        <p:nvSpPr>
          <p:cNvPr id="14" name="Shape 10"/>
          <p:cNvSpPr/>
          <p:nvPr/>
        </p:nvSpPr>
        <p:spPr>
          <a:xfrm>
            <a:off x="548640" y="5550408"/>
            <a:ext cx="82296" cy="82296"/>
          </a:xfrm>
          <a:prstGeom prst="ellipse">
            <a:avLst/>
          </a:prstGeom>
          <a:solidFill>
            <a:srgbClr val="8B7F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1"/>
          <p:cNvSpPr/>
          <p:nvPr/>
        </p:nvSpPr>
        <p:spPr>
          <a:xfrm>
            <a:off x="777240" y="5413248"/>
            <a:ext cx="5212080" cy="777240"/>
          </a:xfrm>
          <a:prstGeom prst="rect">
            <a:avLst/>
          </a:prstGeom>
          <a:noFill/>
          <a:ln/>
        </p:spPr>
        <p:txBody>
          <a:bodyPr wrap="square" lIns="0" tIns="0" rIns="0" bIns="0" rtlCol="0" anchor="ctr"/>
          <a:lstStyle/>
          <a:p>
            <a:r>
              <a:rPr sz="1500" b="0">
                <a:solidFill>
                  <a:srgbClr val="E6E6EB"/>
                </a:solidFill>
              </a:rPr>
              <a:t>Leadership takeaway: the machine → organism framing gave the client a simple way to discuss why an operating model was needed, not just another platform layer.</a:t>
            </a:r>
          </a:p>
        </p:txBody>
      </p:sp>
      <p:sp>
        <p:nvSpPr>
          <p:cNvPr id="16" name="Shape 12"/>
          <p:cNvSpPr/>
          <p:nvPr/>
        </p:nvSpPr>
        <p:spPr>
          <a:xfrm>
            <a:off x="6309360" y="3200400"/>
            <a:ext cx="5330952" cy="2212846"/>
          </a:xfrm>
          <a:prstGeom prst="roundRect">
            <a:avLst>
              <a:gd name="adj" fmla="val 1690"/>
            </a:avLst>
          </a:prstGeom>
          <a:solidFill>
            <a:srgbClr val="1E212B"/>
          </a:solidFill>
          <a:ln w="12700">
            <a:solidFill>
              <a:srgbClr val="3D3A6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3"/>
          <p:cNvSpPr/>
          <p:nvPr/>
        </p:nvSpPr>
        <p:spPr>
          <a:xfrm>
            <a:off x="6583680" y="3383280"/>
            <a:ext cx="4754880" cy="365760"/>
          </a:xfrm>
          <a:prstGeom prst="rect">
            <a:avLst/>
          </a:prstGeom>
          <a:noFill/>
          <a:ln/>
        </p:spPr>
        <p:txBody>
          <a:bodyPr wrap="square" lIns="0" tIns="0" rIns="0" bIns="0" rtlCol="0" anchor="ctr"/>
          <a:lstStyle/>
          <a:p>
            <a:r>
              <a:rPr sz="2200" b="1">
                <a:solidFill>
                  <a:srgbClr val="FFFFFF"/>
                </a:solidFill>
              </a:rPr>
              <a:t>Portfolio signal</a:t>
            </a:r>
          </a:p>
        </p:txBody>
      </p:sp>
      <p:sp>
        <p:nvSpPr>
          <p:cNvPr id="18" name="Text 14"/>
          <p:cNvSpPr/>
          <p:nvPr/>
        </p:nvSpPr>
        <p:spPr>
          <a:xfrm>
            <a:off x="6583680" y="3217025"/>
            <a:ext cx="4754880" cy="2468880"/>
          </a:xfrm>
          <a:prstGeom prst="rect">
            <a:avLst/>
          </a:prstGeom>
          <a:noFill/>
          <a:ln/>
        </p:spPr>
        <p:txBody>
          <a:bodyPr wrap="square" lIns="0" tIns="0" rIns="0" bIns="0" rtlCol="0" anchor="ctr"/>
          <a:lstStyle/>
          <a:p>
            <a:r>
              <a:rPr sz="1700" b="0">
                <a:solidFill>
                  <a:srgbClr val="E6E6EB"/>
                </a:solidFill>
              </a:rPr>
              <a:t>This case study demonstrates research planning, stakeholder interviewing, synthesis, systems thinking and executive-level framing — the core strengths I would bring into a UX Researcher or UX Designer role.</a:t>
            </a:r>
          </a:p>
        </p:txBody>
      </p:sp>
      <p:sp>
        <p:nvSpPr>
          <p:cNvPr id="19" name="Shape 15"/>
          <p:cNvSpPr/>
          <p:nvPr/>
        </p:nvSpPr>
        <p:spPr>
          <a:xfrm>
            <a:off x="457200" y="6400800"/>
            <a:ext cx="11274552" cy="0"/>
          </a:xfrm>
          <a:prstGeom prst="line">
            <a:avLst/>
          </a:prstGeom>
          <a:noFill/>
          <a:ln w="9525">
            <a:solidFill>
              <a:srgbClr val="2B2E3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6"/>
          <p:cNvSpPr/>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Confidential — UX Research Case Study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7"/>
          <p:cNvSpPr/>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9598A6"/>
                </a:solidFill>
                <a:effectLst/>
                <a:uLnTx/>
                <a:uFillTx/>
                <a:latin typeface="Calibri" pitchFamily="34" charset="0"/>
                <a:ea typeface="Calibri" pitchFamily="34" charset="-122"/>
                <a:cs typeface="Calibri" pitchFamily="34" charset="-120"/>
              </a:rPr>
              <a:t>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8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0241280" cy="502920"/>
          </a:xfrm>
          <a:prstGeom prst="rect">
            <a:avLst/>
          </a:prstGeom>
          <a:noFill/>
        </p:spPr>
        <p:txBody>
          <a:bodyPr wrap="square">
            <a:spAutoFit/>
          </a:bodyPr>
          <a:lstStyle/>
          <a:p>
            <a:r>
              <a:rPr sz="2400" b="1">
                <a:solidFill>
                  <a:srgbClr val="FFFFFF"/>
                </a:solidFill>
              </a:rPr>
              <a:t>ANONYMISED EVIDENCE CHAIN</a:t>
            </a:r>
          </a:p>
        </p:txBody>
      </p:sp>
      <p:sp>
        <p:nvSpPr>
          <p:cNvPr id="4" name="TextBox 3"/>
          <p:cNvSpPr txBox="1"/>
          <p:nvPr/>
        </p:nvSpPr>
        <p:spPr>
          <a:xfrm>
            <a:off x="502920" y="841248"/>
            <a:ext cx="10241280" cy="411480"/>
          </a:xfrm>
          <a:prstGeom prst="rect">
            <a:avLst/>
          </a:prstGeom>
          <a:noFill/>
        </p:spPr>
        <p:txBody>
          <a:bodyPr wrap="square">
            <a:spAutoFit/>
          </a:bodyPr>
          <a:lstStyle/>
          <a:p>
            <a:r>
              <a:rPr sz="1300" b="0">
                <a:solidFill>
                  <a:srgbClr val="BEC5D2"/>
                </a:solidFill>
              </a:rPr>
              <a:t>Example of how a stakeholder signal became a strategic recommendation without exposing confidential material.</a:t>
            </a:r>
          </a:p>
        </p:txBody>
      </p:sp>
      <p:sp>
        <p:nvSpPr>
          <p:cNvPr id="5" name="Rounded Rectangle 4"/>
          <p:cNvSpPr/>
          <p:nvPr/>
        </p:nvSpPr>
        <p:spPr>
          <a:xfrm>
            <a:off x="502920" y="1691640"/>
            <a:ext cx="1965960" cy="2971800"/>
          </a:xfrm>
          <a:prstGeom prst="roundRect">
            <a:avLst/>
          </a:prstGeom>
          <a:solidFill>
            <a:srgbClr val="141826"/>
          </a:solidFill>
          <a:ln w="15240">
            <a:solidFill>
              <a:srgbClr val="736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920240"/>
            <a:ext cx="1636776" cy="365760"/>
          </a:xfrm>
          <a:prstGeom prst="rect">
            <a:avLst/>
          </a:prstGeom>
          <a:noFill/>
        </p:spPr>
        <p:txBody>
          <a:bodyPr wrap="square">
            <a:spAutoFit/>
          </a:bodyPr>
          <a:lstStyle/>
          <a:p>
            <a:r>
              <a:rPr sz="1400" b="1">
                <a:solidFill>
                  <a:srgbClr val="988BFF"/>
                </a:solidFill>
              </a:rPr>
              <a:t>Raw signal</a:t>
            </a:r>
          </a:p>
        </p:txBody>
      </p:sp>
      <p:sp>
        <p:nvSpPr>
          <p:cNvPr id="7" name="TextBox 6"/>
          <p:cNvSpPr txBox="1"/>
          <p:nvPr/>
        </p:nvSpPr>
        <p:spPr>
          <a:xfrm>
            <a:off x="667512" y="2423160"/>
            <a:ext cx="1636776" cy="1828800"/>
          </a:xfrm>
          <a:prstGeom prst="rect">
            <a:avLst/>
          </a:prstGeom>
          <a:noFill/>
        </p:spPr>
        <p:txBody>
          <a:bodyPr wrap="square">
            <a:spAutoFit/>
          </a:bodyPr>
          <a:lstStyle/>
          <a:p>
            <a:r>
              <a:rPr sz="1300" b="0">
                <a:solidFill>
                  <a:srgbClr val="EBEDF5"/>
                </a:solidFill>
              </a:rPr>
              <a:t>Teams often discover APIs through people, not the Marketplace.</a:t>
            </a:r>
          </a:p>
        </p:txBody>
      </p:sp>
      <p:sp>
        <p:nvSpPr>
          <p:cNvPr id="8" name="Right Arrow 7"/>
          <p:cNvSpPr/>
          <p:nvPr/>
        </p:nvSpPr>
        <p:spPr>
          <a:xfrm>
            <a:off x="2441448" y="3017520"/>
            <a:ext cx="237744" cy="274320"/>
          </a:xfrm>
          <a:prstGeom prst="rightArrow">
            <a:avLst/>
          </a:prstGeom>
          <a:solidFill>
            <a:srgbClr val="736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633472" y="1691640"/>
            <a:ext cx="1965960" cy="2971800"/>
          </a:xfrm>
          <a:prstGeom prst="roundRect">
            <a:avLst/>
          </a:prstGeom>
          <a:solidFill>
            <a:srgbClr val="141826"/>
          </a:solidFill>
          <a:ln w="15240">
            <a:solidFill>
              <a:srgbClr val="736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98064" y="1920240"/>
            <a:ext cx="1636776" cy="365760"/>
          </a:xfrm>
          <a:prstGeom prst="rect">
            <a:avLst/>
          </a:prstGeom>
          <a:noFill/>
        </p:spPr>
        <p:txBody>
          <a:bodyPr wrap="square">
            <a:spAutoFit/>
          </a:bodyPr>
          <a:lstStyle/>
          <a:p>
            <a:r>
              <a:rPr sz="1400" b="1">
                <a:solidFill>
                  <a:srgbClr val="988BFF"/>
                </a:solidFill>
              </a:rPr>
              <a:t>Cluster</a:t>
            </a:r>
          </a:p>
        </p:txBody>
      </p:sp>
      <p:sp>
        <p:nvSpPr>
          <p:cNvPr id="11" name="TextBox 10"/>
          <p:cNvSpPr txBox="1"/>
          <p:nvPr/>
        </p:nvSpPr>
        <p:spPr>
          <a:xfrm>
            <a:off x="2798064" y="2423160"/>
            <a:ext cx="1636776" cy="1828800"/>
          </a:xfrm>
          <a:prstGeom prst="rect">
            <a:avLst/>
          </a:prstGeom>
          <a:noFill/>
        </p:spPr>
        <p:txBody>
          <a:bodyPr wrap="square">
            <a:spAutoFit/>
          </a:bodyPr>
          <a:lstStyle/>
          <a:p>
            <a:r>
              <a:rPr sz="1300" b="0">
                <a:solidFill>
                  <a:srgbClr val="EBEDF5"/>
                </a:solidFill>
              </a:rPr>
              <a:t>Discovery depends on informal networks and tribal knowledge.</a:t>
            </a:r>
          </a:p>
        </p:txBody>
      </p:sp>
      <p:sp>
        <p:nvSpPr>
          <p:cNvPr id="12" name="Right Arrow 11"/>
          <p:cNvSpPr/>
          <p:nvPr/>
        </p:nvSpPr>
        <p:spPr>
          <a:xfrm>
            <a:off x="4572000" y="3017520"/>
            <a:ext cx="237744" cy="274320"/>
          </a:xfrm>
          <a:prstGeom prst="rightArrow">
            <a:avLst/>
          </a:prstGeom>
          <a:solidFill>
            <a:srgbClr val="736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64024" y="1691640"/>
            <a:ext cx="1965960" cy="2971800"/>
          </a:xfrm>
          <a:prstGeom prst="roundRect">
            <a:avLst/>
          </a:prstGeom>
          <a:solidFill>
            <a:srgbClr val="141826"/>
          </a:solidFill>
          <a:ln w="15240">
            <a:solidFill>
              <a:srgbClr val="736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28616" y="1920240"/>
            <a:ext cx="1636776" cy="365760"/>
          </a:xfrm>
          <a:prstGeom prst="rect">
            <a:avLst/>
          </a:prstGeom>
          <a:noFill/>
        </p:spPr>
        <p:txBody>
          <a:bodyPr wrap="square">
            <a:spAutoFit/>
          </a:bodyPr>
          <a:lstStyle/>
          <a:p>
            <a:r>
              <a:rPr sz="1400" b="1">
                <a:solidFill>
                  <a:srgbClr val="988BFF"/>
                </a:solidFill>
              </a:rPr>
              <a:t>Theme</a:t>
            </a:r>
          </a:p>
        </p:txBody>
      </p:sp>
      <p:sp>
        <p:nvSpPr>
          <p:cNvPr id="15" name="TextBox 14"/>
          <p:cNvSpPr txBox="1"/>
          <p:nvPr/>
        </p:nvSpPr>
        <p:spPr>
          <a:xfrm>
            <a:off x="4928616" y="2423160"/>
            <a:ext cx="1636776" cy="1828800"/>
          </a:xfrm>
          <a:prstGeom prst="rect">
            <a:avLst/>
          </a:prstGeom>
          <a:noFill/>
        </p:spPr>
        <p:txBody>
          <a:bodyPr wrap="square">
            <a:spAutoFit/>
          </a:bodyPr>
          <a:lstStyle/>
          <a:p>
            <a:r>
              <a:rPr sz="1300" b="0">
                <a:solidFill>
                  <a:srgbClr val="EBEDF5"/>
                </a:solidFill>
              </a:rPr>
              <a:t>Knowledge exists, but it is not institutionalised as a shared asset.</a:t>
            </a:r>
          </a:p>
        </p:txBody>
      </p:sp>
      <p:sp>
        <p:nvSpPr>
          <p:cNvPr id="16" name="Right Arrow 15"/>
          <p:cNvSpPr/>
          <p:nvPr/>
        </p:nvSpPr>
        <p:spPr>
          <a:xfrm>
            <a:off x="6702552" y="3017520"/>
            <a:ext cx="237744" cy="274320"/>
          </a:xfrm>
          <a:prstGeom prst="rightArrow">
            <a:avLst/>
          </a:prstGeom>
          <a:solidFill>
            <a:srgbClr val="736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94576" y="1691640"/>
            <a:ext cx="1965960" cy="2971800"/>
          </a:xfrm>
          <a:prstGeom prst="roundRect">
            <a:avLst/>
          </a:prstGeom>
          <a:solidFill>
            <a:srgbClr val="141826"/>
          </a:solidFill>
          <a:ln w="15240">
            <a:solidFill>
              <a:srgbClr val="736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59168" y="1920240"/>
            <a:ext cx="1636776" cy="365760"/>
          </a:xfrm>
          <a:prstGeom prst="rect">
            <a:avLst/>
          </a:prstGeom>
          <a:noFill/>
        </p:spPr>
        <p:txBody>
          <a:bodyPr wrap="square">
            <a:spAutoFit/>
          </a:bodyPr>
          <a:lstStyle/>
          <a:p>
            <a:r>
              <a:rPr sz="1400" b="1">
                <a:solidFill>
                  <a:srgbClr val="988BFF"/>
                </a:solidFill>
              </a:rPr>
              <a:t>Implication</a:t>
            </a:r>
          </a:p>
        </p:txBody>
      </p:sp>
      <p:sp>
        <p:nvSpPr>
          <p:cNvPr id="19" name="TextBox 18"/>
          <p:cNvSpPr txBox="1"/>
          <p:nvPr/>
        </p:nvSpPr>
        <p:spPr>
          <a:xfrm>
            <a:off x="7059168" y="2423160"/>
            <a:ext cx="1636776" cy="1828800"/>
          </a:xfrm>
          <a:prstGeom prst="rect">
            <a:avLst/>
          </a:prstGeom>
          <a:noFill/>
        </p:spPr>
        <p:txBody>
          <a:bodyPr wrap="square">
            <a:spAutoFit/>
          </a:bodyPr>
          <a:lstStyle/>
          <a:p>
            <a:r>
              <a:rPr sz="1300" b="0">
                <a:solidFill>
                  <a:srgbClr val="EBEDF5"/>
                </a:solidFill>
              </a:rPr>
              <a:t>A tooling fix alone will not change reuse behaviour.</a:t>
            </a:r>
          </a:p>
        </p:txBody>
      </p:sp>
      <p:sp>
        <p:nvSpPr>
          <p:cNvPr id="20" name="Right Arrow 19"/>
          <p:cNvSpPr/>
          <p:nvPr/>
        </p:nvSpPr>
        <p:spPr>
          <a:xfrm>
            <a:off x="8833104" y="3017520"/>
            <a:ext cx="237744" cy="274320"/>
          </a:xfrm>
          <a:prstGeom prst="rightArrow">
            <a:avLst/>
          </a:prstGeom>
          <a:solidFill>
            <a:srgbClr val="736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25128" y="1691640"/>
            <a:ext cx="1965960" cy="2971800"/>
          </a:xfrm>
          <a:prstGeom prst="roundRect">
            <a:avLst/>
          </a:prstGeom>
          <a:solidFill>
            <a:srgbClr val="141826"/>
          </a:solidFill>
          <a:ln w="15240">
            <a:solidFill>
              <a:srgbClr val="736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9720" y="1920240"/>
            <a:ext cx="1636776" cy="365760"/>
          </a:xfrm>
          <a:prstGeom prst="rect">
            <a:avLst/>
          </a:prstGeom>
          <a:noFill/>
        </p:spPr>
        <p:txBody>
          <a:bodyPr wrap="square">
            <a:spAutoFit/>
          </a:bodyPr>
          <a:lstStyle/>
          <a:p>
            <a:r>
              <a:rPr sz="1400" b="1">
                <a:solidFill>
                  <a:srgbClr val="988BFF"/>
                </a:solidFill>
              </a:rPr>
              <a:t>Recommendation</a:t>
            </a:r>
          </a:p>
        </p:txBody>
      </p:sp>
      <p:sp>
        <p:nvSpPr>
          <p:cNvPr id="23" name="TextBox 22"/>
          <p:cNvSpPr txBox="1"/>
          <p:nvPr/>
        </p:nvSpPr>
        <p:spPr>
          <a:xfrm>
            <a:off x="9189720" y="2423160"/>
            <a:ext cx="1636776" cy="1828800"/>
          </a:xfrm>
          <a:prstGeom prst="rect">
            <a:avLst/>
          </a:prstGeom>
          <a:noFill/>
        </p:spPr>
        <p:txBody>
          <a:bodyPr wrap="square">
            <a:spAutoFit/>
          </a:bodyPr>
          <a:lstStyle/>
          <a:p>
            <a:r>
              <a:rPr sz="1300" b="0">
                <a:solidFill>
                  <a:srgbClr val="EBEDF5"/>
                </a:solidFill>
              </a:rPr>
              <a:t>Design FUSE as an operating model that rewards contribution and reuse.</a:t>
            </a:r>
          </a:p>
        </p:txBody>
      </p:sp>
      <p:sp>
        <p:nvSpPr>
          <p:cNvPr id="24" name="TextBox 23"/>
          <p:cNvSpPr txBox="1"/>
          <p:nvPr/>
        </p:nvSpPr>
        <p:spPr>
          <a:xfrm>
            <a:off x="502920" y="5806440"/>
            <a:ext cx="9875520" cy="411480"/>
          </a:xfrm>
          <a:prstGeom prst="rect">
            <a:avLst/>
          </a:prstGeom>
          <a:noFill/>
        </p:spPr>
        <p:txBody>
          <a:bodyPr wrap="square">
            <a:spAutoFit/>
          </a:bodyPr>
          <a:lstStyle/>
          <a:p>
            <a:r>
              <a:rPr sz="1300" b="0">
                <a:solidFill>
                  <a:srgbClr val="BEC5D2"/>
                </a:solidFill>
              </a:rPr>
              <a:t>Why this matters: it makes the insight traceable, defendable and safe to share in a portfolio under NDA.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48" y="2824246"/>
            <a:ext cx="12188952"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350" normalizeH="0" baseline="0" noProof="0" dirty="0">
                <a:ln>
                  <a:noFill/>
                </a:ln>
                <a:solidFill>
                  <a:prstClr val="white"/>
                </a:solidFill>
                <a:effectLst/>
                <a:uLnTx/>
                <a:uFillTx/>
                <a:latin typeface="Calibri" pitchFamily="34" charset="0"/>
                <a:ea typeface="Calibri" pitchFamily="34" charset="-122"/>
                <a:cs typeface="Calibri" pitchFamily="34" charset="-120"/>
              </a:rPr>
              <a:t>WHAT COMES NEXT</a:t>
            </a:r>
            <a:endPar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Shape 1"/>
          <p:cNvSpPr/>
          <p:nvPr/>
        </p:nvSpPr>
        <p:spPr>
          <a:xfrm>
            <a:off x="5591556" y="3326012"/>
            <a:ext cx="1005840" cy="0"/>
          </a:xfrm>
          <a:prstGeom prst="line">
            <a:avLst/>
          </a:prstGeom>
          <a:noFill/>
          <a:ln w="19050">
            <a:solidFill>
              <a:srgbClr val="8B7F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2"/>
          <p:cNvSpPr/>
          <p:nvPr/>
        </p:nvSpPr>
        <p:spPr>
          <a:xfrm>
            <a:off x="2345436" y="3508892"/>
            <a:ext cx="7498080" cy="685800"/>
          </a:xfrm>
          <a:prstGeom prst="rect">
            <a:avLst/>
          </a:prstGeom>
          <a:noFill/>
          <a:ln/>
        </p:spPr>
        <p:txBody>
          <a:bodyPr wrap="square" lIns="0" tIns="0" rIns="0" bIns="0"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350" b="0" i="1"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Beyond this client engagement, the following section is a self-directed showcase, speculative concepts I've explored independently.</a:t>
            </a: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Shape 5"/>
          <p:cNvSpPr/>
          <p:nvPr/>
        </p:nvSpPr>
        <p:spPr>
          <a:xfrm>
            <a:off x="4677156" y="4414238"/>
            <a:ext cx="1417320" cy="384048"/>
          </a:xfrm>
          <a:prstGeom prst="roundRect">
            <a:avLst>
              <a:gd name="adj" fmla="val 50000"/>
            </a:avLst>
          </a:prstGeom>
          <a:ln w="12700">
            <a:solidFill>
              <a:srgbClr val="3D3A6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4677156" y="4414238"/>
            <a:ext cx="1417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9C2F7"/>
                </a:solidFill>
                <a:effectLst/>
                <a:uLnTx/>
                <a:uFillTx/>
                <a:latin typeface="Calibri" pitchFamily="34" charset="0"/>
                <a:ea typeface="Calibri" pitchFamily="34" charset="-122"/>
                <a:cs typeface="Calibri" pitchFamily="34" charset="-120"/>
              </a:rPr>
              <a:t>Self-Directed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6295644" y="4414238"/>
            <a:ext cx="1417320" cy="384048"/>
          </a:xfrm>
          <a:prstGeom prst="roundRect">
            <a:avLst>
              <a:gd name="adj" fmla="val 50000"/>
            </a:avLst>
          </a:prstGeom>
          <a:ln w="12700">
            <a:solidFill>
              <a:srgbClr val="3D3A6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6295644" y="4414238"/>
            <a:ext cx="1417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9C2F7"/>
                </a:solidFill>
                <a:effectLst/>
                <a:uLnTx/>
                <a:uFillTx/>
                <a:latin typeface="Calibri" pitchFamily="34" charset="0"/>
                <a:ea typeface="Calibri" pitchFamily="34" charset="-122"/>
                <a:cs typeface="Calibri" pitchFamily="34" charset="-120"/>
              </a:rPr>
              <a:t>Exploratory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0" descr="/mnt/data/shell_bg/orange_auto_bg.png"/>
          <p:cNvPicPr/>
          <p:nvPr/>
        </p:nvPicPr>
        <p:blipFill>
          <a:blip r:embed="rId3"/>
          <a:stretch/>
        </p:blipFill>
        <p:spPr>
          <a:xfrm>
            <a:off x="0" y="0"/>
            <a:ext cx="12191400" cy="6857640"/>
          </a:xfrm>
          <a:prstGeom prst="rect">
            <a:avLst/>
          </a:prstGeom>
          <a:noFill/>
          <a:ln w="0">
            <a:noFill/>
          </a:ln>
        </p:spPr>
      </p:pic>
      <p:sp>
        <p:nvSpPr>
          <p:cNvPr id="9" name="Shape 0"/>
          <p:cNvSpPr/>
          <p:nvPr/>
        </p:nvSpPr>
        <p:spPr>
          <a:xfrm>
            <a:off x="0" y="0"/>
            <a:ext cx="12191400" cy="164160"/>
          </a:xfrm>
          <a:prstGeom prst="rect">
            <a:avLst/>
          </a:prstGeom>
          <a:solidFill>
            <a:srgbClr val="050505"/>
          </a:solidFill>
          <a:ln w="12700">
            <a:solidFill>
              <a:srgbClr val="05050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 name="Shape 3"/>
          <p:cNvSpPr/>
          <p:nvPr/>
        </p:nvSpPr>
        <p:spPr>
          <a:xfrm>
            <a:off x="9829800" y="338040"/>
            <a:ext cx="1188720" cy="360"/>
          </a:xfrm>
          <a:prstGeom prst="line">
            <a:avLst/>
          </a:prstGeom>
          <a:ln w="15240">
            <a:solidFill>
              <a:srgbClr val="8A2F0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15" name="Shape 6"/>
          <p:cNvSpPr/>
          <p:nvPr/>
        </p:nvSpPr>
        <p:spPr>
          <a:xfrm rot="720000">
            <a:off x="11338560" y="219240"/>
            <a:ext cx="63720" cy="429480"/>
          </a:xfrm>
          <a:prstGeom prst="parallelogram">
            <a:avLst>
              <a:gd name="adj" fmla="val 25000"/>
            </a:avLst>
          </a:prstGeom>
          <a:solidFill>
            <a:srgbClr val="6B2600"/>
          </a:solidFill>
          <a:ln w="12700">
            <a:solidFill>
              <a:srgbClr val="6B26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 name="Text 7"/>
          <p:cNvSpPr/>
          <p:nvPr/>
        </p:nvSpPr>
        <p:spPr>
          <a:xfrm>
            <a:off x="578800" y="365760"/>
            <a:ext cx="10512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3400" b="1" u="none" strike="noStrike" dirty="0">
                <a:solidFill>
                  <a:srgbClr val="FF7A00"/>
                </a:solidFill>
                <a:effectLst/>
                <a:uFillTx/>
                <a:latin typeface="Aptos Display"/>
                <a:ea typeface="Aptos Display"/>
              </a:rPr>
              <a:t>01</a:t>
            </a:r>
            <a:endParaRPr lang="en-US" sz="3400" b="0" u="none" strike="noStrike" dirty="0">
              <a:solidFill>
                <a:srgbClr val="FFFFFF"/>
              </a:solidFill>
              <a:effectLst/>
              <a:uFillTx/>
              <a:latin typeface="Arial"/>
            </a:endParaRPr>
          </a:p>
        </p:txBody>
      </p:sp>
      <p:sp>
        <p:nvSpPr>
          <p:cNvPr id="17" name="Text 8"/>
          <p:cNvSpPr/>
          <p:nvPr/>
        </p:nvSpPr>
        <p:spPr>
          <a:xfrm>
            <a:off x="835296" y="1959814"/>
            <a:ext cx="5928361"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4400" b="1" u="none" strike="noStrike" dirty="0">
                <a:solidFill>
                  <a:srgbClr val="F7F5F0"/>
                </a:solidFill>
                <a:effectLst/>
                <a:uFillTx/>
                <a:latin typeface="Aptos Display"/>
                <a:ea typeface="Aptos Display"/>
              </a:rPr>
              <a:t>Shell Velocity Rewards MVP</a:t>
            </a:r>
            <a:endParaRPr lang="en-US" sz="4400" b="0" u="none" strike="noStrike" dirty="0">
              <a:solidFill>
                <a:srgbClr val="FFFFFF"/>
              </a:solidFill>
              <a:effectLst/>
              <a:uFillTx/>
              <a:latin typeface="Arial"/>
            </a:endParaRPr>
          </a:p>
        </p:txBody>
      </p:sp>
      <p:sp>
        <p:nvSpPr>
          <p:cNvPr id="18" name="Text 9"/>
          <p:cNvSpPr/>
          <p:nvPr/>
        </p:nvSpPr>
        <p:spPr>
          <a:xfrm>
            <a:off x="881017" y="3349109"/>
            <a:ext cx="51202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400" b="0" u="none" strike="noStrike" dirty="0">
                <a:solidFill>
                  <a:srgbClr val="D7D2C9"/>
                </a:solidFill>
                <a:effectLst/>
                <a:uFillTx/>
                <a:latin typeface="Aptos"/>
                <a:ea typeface="Aptos"/>
              </a:rPr>
              <a:t>Designing a petrol-retail rewards experience around the real rhythm of a fuel stop.</a:t>
            </a:r>
            <a:endParaRPr lang="en-US" sz="1400" b="0" u="none" strike="noStrike" dirty="0">
              <a:solidFill>
                <a:srgbClr val="FFFFFF"/>
              </a:solidFill>
              <a:effectLst/>
              <a:uFillTx/>
              <a:latin typeface="Arial"/>
            </a:endParaRPr>
          </a:p>
        </p:txBody>
      </p:sp>
      <p:sp>
        <p:nvSpPr>
          <p:cNvPr id="19" name="Shape 10"/>
          <p:cNvSpPr/>
          <p:nvPr/>
        </p:nvSpPr>
        <p:spPr>
          <a:xfrm>
            <a:off x="881017" y="4006474"/>
            <a:ext cx="1663920" cy="273960"/>
          </a:xfrm>
          <a:prstGeom prst="roundRect">
            <a:avLst>
              <a:gd name="adj" fmla="val 50000"/>
            </a:avLst>
          </a:prstGeom>
          <a:solidFill>
            <a:srgbClr val="0B0B0C"/>
          </a:solidFill>
          <a:ln w="10160">
            <a:solidFill>
              <a:srgbClr val="FFB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 name="Text 11"/>
          <p:cNvSpPr/>
          <p:nvPr/>
        </p:nvSpPr>
        <p:spPr>
          <a:xfrm>
            <a:off x="881017" y="4079554"/>
            <a:ext cx="1663920" cy="10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2500" lnSpcReduction="10000"/>
          </a:bodyPr>
          <a:lstStyle/>
          <a:p>
            <a:pPr algn="ctr" defTabSz="914400">
              <a:lnSpc>
                <a:spcPct val="100000"/>
              </a:lnSpc>
              <a:tabLst>
                <a:tab pos="0" algn="l"/>
              </a:tabLst>
            </a:pPr>
            <a:r>
              <a:rPr lang="en-US" sz="740" b="1" u="none" strike="noStrike" spc="51">
                <a:solidFill>
                  <a:srgbClr val="FFB000"/>
                </a:solidFill>
                <a:effectLst/>
                <a:uFillTx/>
                <a:latin typeface="Aptos"/>
                <a:ea typeface="Aptos"/>
              </a:rPr>
              <a:t>JOHANNESBURG PILOT</a:t>
            </a:r>
            <a:endParaRPr lang="en-US" sz="740" b="0" u="none" strike="noStrike">
              <a:solidFill>
                <a:srgbClr val="FFFFFF"/>
              </a:solidFill>
              <a:effectLst/>
              <a:uFillTx/>
              <a:latin typeface="Arial"/>
            </a:endParaRPr>
          </a:p>
        </p:txBody>
      </p:sp>
      <p:sp>
        <p:nvSpPr>
          <p:cNvPr id="21" name="Shape 12"/>
          <p:cNvSpPr/>
          <p:nvPr/>
        </p:nvSpPr>
        <p:spPr>
          <a:xfrm>
            <a:off x="2673097" y="4006474"/>
            <a:ext cx="1444320" cy="273960"/>
          </a:xfrm>
          <a:prstGeom prst="roundRect">
            <a:avLst>
              <a:gd name="adj" fmla="val 50000"/>
            </a:avLst>
          </a:prstGeom>
          <a:solidFill>
            <a:srgbClr val="0B0B0C"/>
          </a:solidFill>
          <a:ln w="1016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 name="Text 13"/>
          <p:cNvSpPr/>
          <p:nvPr/>
        </p:nvSpPr>
        <p:spPr>
          <a:xfrm>
            <a:off x="2673097" y="4079554"/>
            <a:ext cx="1444320" cy="10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2500" lnSpcReduction="10000"/>
          </a:bodyPr>
          <a:lstStyle/>
          <a:p>
            <a:pPr algn="ctr" defTabSz="914400">
              <a:lnSpc>
                <a:spcPct val="100000"/>
              </a:lnSpc>
              <a:tabLst>
                <a:tab pos="0" algn="l"/>
              </a:tabLst>
            </a:pPr>
            <a:r>
              <a:rPr lang="en-US" sz="740" b="1" u="none" strike="noStrike" spc="51">
                <a:solidFill>
                  <a:srgbClr val="FF7A00"/>
                </a:solidFill>
                <a:effectLst/>
                <a:uFillTx/>
                <a:latin typeface="Aptos"/>
                <a:ea typeface="Aptos"/>
              </a:rPr>
              <a:t>CARD-AGNOSTIC</a:t>
            </a:r>
            <a:endParaRPr lang="en-US" sz="740" b="0" u="none" strike="noStrike">
              <a:solidFill>
                <a:srgbClr val="FFFFFF"/>
              </a:solidFill>
              <a:effectLst/>
              <a:uFillTx/>
              <a:latin typeface="Arial"/>
            </a:endParaRPr>
          </a:p>
        </p:txBody>
      </p:sp>
      <p:sp>
        <p:nvSpPr>
          <p:cNvPr id="23" name="Shape 14"/>
          <p:cNvSpPr/>
          <p:nvPr/>
        </p:nvSpPr>
        <p:spPr>
          <a:xfrm>
            <a:off x="4245937" y="4006474"/>
            <a:ext cx="1096920" cy="273960"/>
          </a:xfrm>
          <a:prstGeom prst="roundRect">
            <a:avLst>
              <a:gd name="adj" fmla="val 50000"/>
            </a:avLst>
          </a:prstGeom>
          <a:solidFill>
            <a:srgbClr val="0B0B0C"/>
          </a:solidFill>
          <a:ln w="1016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 name="Text 15"/>
          <p:cNvSpPr/>
          <p:nvPr/>
        </p:nvSpPr>
        <p:spPr>
          <a:xfrm>
            <a:off x="4245937" y="4079554"/>
            <a:ext cx="1096920" cy="10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2500" lnSpcReduction="10000"/>
          </a:bodyPr>
          <a:lstStyle/>
          <a:p>
            <a:pPr algn="ctr" defTabSz="914400">
              <a:lnSpc>
                <a:spcPct val="100000"/>
              </a:lnSpc>
              <a:tabLst>
                <a:tab pos="0" algn="l"/>
              </a:tabLst>
            </a:pPr>
            <a:r>
              <a:rPr lang="en-US" sz="740" b="1" u="none" strike="noStrike" spc="51">
                <a:solidFill>
                  <a:srgbClr val="FF7A00"/>
                </a:solidFill>
                <a:effectLst/>
                <a:uFillTx/>
                <a:latin typeface="Aptos"/>
                <a:ea typeface="Aptos"/>
              </a:rPr>
              <a:t>CASHLESS</a:t>
            </a:r>
            <a:endParaRPr lang="en-US" sz="740" b="0" u="none" strike="noStrike">
              <a:solidFill>
                <a:srgbClr val="FFFFFF"/>
              </a:solidFill>
              <a:effectLst/>
              <a:uFillTx/>
              <a:latin typeface="Arial"/>
            </a:endParaRPr>
          </a:p>
        </p:txBody>
      </p:sp>
      <p:sp>
        <p:nvSpPr>
          <p:cNvPr id="28" name="Text 18"/>
          <p:cNvSpPr/>
          <p:nvPr/>
        </p:nvSpPr>
        <p:spPr>
          <a:xfrm>
            <a:off x="248057" y="4781314"/>
            <a:ext cx="32457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tabLst>
                <a:tab pos="0" algn="l"/>
              </a:tabLst>
            </a:pPr>
            <a:r>
              <a:rPr lang="en-US" sz="950" b="1" u="none" strike="noStrike" spc="79" dirty="0">
                <a:solidFill>
                  <a:srgbClr val="FF7A00"/>
                </a:solidFill>
                <a:effectLst/>
                <a:uFillTx/>
                <a:latin typeface="Aptos"/>
                <a:ea typeface="Aptos"/>
              </a:rPr>
              <a:t>DESIGNED FOR THE NEXT STOP</a:t>
            </a:r>
            <a:endParaRPr lang="en-US" sz="950" b="0" u="none" strike="noStrike" dirty="0">
              <a:solidFill>
                <a:srgbClr val="FFFFFF"/>
              </a:solidFill>
              <a:effectLst/>
              <a:uFillTx/>
              <a:latin typeface="Arial"/>
            </a:endParaRPr>
          </a:p>
        </p:txBody>
      </p:sp>
      <p:sp>
        <p:nvSpPr>
          <p:cNvPr id="29" name="Text 19"/>
          <p:cNvSpPr/>
          <p:nvPr/>
        </p:nvSpPr>
        <p:spPr>
          <a:xfrm>
            <a:off x="881017" y="4465414"/>
            <a:ext cx="47545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00" b="0" u="none" strike="noStrike" dirty="0">
                <a:solidFill>
                  <a:srgbClr val="97938C"/>
                </a:solidFill>
                <a:effectLst/>
                <a:uFillTx/>
                <a:latin typeface="Aptos"/>
                <a:ea typeface="Aptos"/>
              </a:rPr>
              <a:t>Concept project · individual contributor </a:t>
            </a:r>
            <a:endParaRPr lang="en-US" sz="1200" b="0" u="none" strike="noStrike" dirty="0">
              <a:solidFill>
                <a:srgbClr val="FFFFFF"/>
              </a:solidFill>
              <a:effectLst/>
              <a:uFillTx/>
              <a:latin typeface="Arial"/>
            </a:endParaRPr>
          </a:p>
        </p:txBody>
      </p:sp>
      <p:sp>
        <p:nvSpPr>
          <p:cNvPr id="30" name="Shape 20"/>
          <p:cNvSpPr/>
          <p:nvPr/>
        </p:nvSpPr>
        <p:spPr>
          <a:xfrm>
            <a:off x="881017" y="5434534"/>
            <a:ext cx="1919880" cy="804240"/>
          </a:xfrm>
          <a:prstGeom prst="arc">
            <a:avLst>
              <a:gd name="adj1" fmla="val 16200000"/>
              <a:gd name="adj2" fmla="val 0"/>
            </a:avLst>
          </a:prstGeom>
          <a:noFill/>
          <a:ln w="88900">
            <a:solidFill>
              <a:srgbClr val="3B342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 name="Shape 21"/>
          <p:cNvSpPr/>
          <p:nvPr/>
        </p:nvSpPr>
        <p:spPr>
          <a:xfrm>
            <a:off x="881017" y="5434534"/>
            <a:ext cx="1382040" cy="578880"/>
          </a:xfrm>
          <a:prstGeom prst="arc">
            <a:avLst>
              <a:gd name="adj1" fmla="val 16200000"/>
              <a:gd name="adj2" fmla="val 0"/>
            </a:avLst>
          </a:prstGeom>
          <a:noFill/>
          <a:ln w="889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 name="Shape 22"/>
          <p:cNvSpPr/>
          <p:nvPr/>
        </p:nvSpPr>
        <p:spPr>
          <a:xfrm flipV="1">
            <a:off x="1841137" y="5672494"/>
            <a:ext cx="479880" cy="228600"/>
          </a:xfrm>
          <a:prstGeom prst="line">
            <a:avLst/>
          </a:prstGeom>
          <a:ln w="30480">
            <a:solidFill>
              <a:srgbClr val="FFB00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33" name="Text 23"/>
          <p:cNvSpPr/>
          <p:nvPr/>
        </p:nvSpPr>
        <p:spPr>
          <a:xfrm>
            <a:off x="3057217" y="5370454"/>
            <a:ext cx="19929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800" b="1" u="none" strike="noStrike" spc="79">
                <a:solidFill>
                  <a:srgbClr val="FF7A00"/>
                </a:solidFill>
                <a:effectLst/>
                <a:uFillTx/>
                <a:latin typeface="Aptos"/>
                <a:ea typeface="Aptos"/>
              </a:rPr>
              <a:t>VISIBLE VALUE</a:t>
            </a:r>
            <a:endParaRPr lang="en-US" sz="800" b="0" u="none" strike="noStrike">
              <a:solidFill>
                <a:srgbClr val="FFFFFF"/>
              </a:solidFill>
              <a:effectLst/>
              <a:uFillTx/>
              <a:latin typeface="Arial"/>
            </a:endParaRPr>
          </a:p>
        </p:txBody>
      </p:sp>
      <p:sp>
        <p:nvSpPr>
          <p:cNvPr id="34" name="Text 24"/>
          <p:cNvSpPr/>
          <p:nvPr/>
        </p:nvSpPr>
        <p:spPr>
          <a:xfrm>
            <a:off x="3057217" y="5654134"/>
            <a:ext cx="22125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00" b="1" u="none" strike="noStrike">
                <a:solidFill>
                  <a:srgbClr val="F7F5F0"/>
                </a:solidFill>
                <a:effectLst/>
                <a:uFillTx/>
                <a:latin typeface="Aptos"/>
                <a:ea typeface="Aptos"/>
              </a:rPr>
              <a:t>Flexible redemption. Payment freedom. Intentional tipping.</a:t>
            </a:r>
            <a:endParaRPr lang="en-US" sz="1100" b="0" u="none" strike="noStrike">
              <a:solidFill>
                <a:srgbClr val="FFFFFF"/>
              </a:solidFill>
              <a:effectLst/>
              <a:uFillTx/>
              <a:latin typeface="Arial"/>
            </a:endParaRPr>
          </a:p>
        </p:txBody>
      </p:sp>
      <p:sp>
        <p:nvSpPr>
          <p:cNvPr id="36" name="Text 26"/>
          <p:cNvSpPr/>
          <p:nvPr/>
        </p:nvSpPr>
        <p:spPr>
          <a:xfrm>
            <a:off x="11201400" y="6501240"/>
            <a:ext cx="36540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r" defTabSz="914400">
              <a:lnSpc>
                <a:spcPct val="100000"/>
              </a:lnSpc>
              <a:tabLst>
                <a:tab pos="0" algn="l"/>
              </a:tabLst>
            </a:pPr>
            <a:r>
              <a:rPr lang="en-US" sz="700" b="1" u="none" strike="noStrike">
                <a:solidFill>
                  <a:srgbClr val="716D66"/>
                </a:solidFill>
                <a:effectLst/>
                <a:uFillTx/>
                <a:latin typeface="Aptos"/>
                <a:ea typeface="Aptos"/>
              </a:rPr>
              <a:t>01</a:t>
            </a:r>
            <a:endParaRPr lang="en-US" sz="700" b="0" u="none" strike="noStrike">
              <a:solidFill>
                <a:srgbClr val="FFFFFF"/>
              </a:solidFill>
              <a:effectLst/>
              <a:uFillTx/>
              <a:latin typeface="Arial"/>
            </a:endParaRPr>
          </a:p>
        </p:txBody>
      </p:sp>
      <p:pic>
        <p:nvPicPr>
          <p:cNvPr id="3" name="Picture 2">
            <a:extLst>
              <a:ext uri="{FF2B5EF4-FFF2-40B4-BE49-F238E27FC236}">
                <a16:creationId xmlns:a16="http://schemas.microsoft.com/office/drawing/2014/main" id="{E89BBFF9-DC27-28A7-88A0-2B33080687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26890" y="650652"/>
            <a:ext cx="8033103" cy="602482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0" descr="/mnt/data/shell_bg/orange_auto_bg.png"/>
          <p:cNvPicPr/>
          <p:nvPr/>
        </p:nvPicPr>
        <p:blipFill>
          <a:blip r:embed="rId3"/>
          <a:stretch/>
        </p:blipFill>
        <p:spPr>
          <a:xfrm>
            <a:off x="0" y="0"/>
            <a:ext cx="12191400" cy="6857640"/>
          </a:xfrm>
          <a:prstGeom prst="rect">
            <a:avLst/>
          </a:prstGeom>
          <a:noFill/>
          <a:ln w="0">
            <a:noFill/>
          </a:ln>
        </p:spPr>
      </p:pic>
      <p:sp>
        <p:nvSpPr>
          <p:cNvPr id="38" name="Shape 0"/>
          <p:cNvSpPr/>
          <p:nvPr/>
        </p:nvSpPr>
        <p:spPr>
          <a:xfrm>
            <a:off x="0" y="0"/>
            <a:ext cx="12191400" cy="164160"/>
          </a:xfrm>
          <a:prstGeom prst="rect">
            <a:avLst/>
          </a:prstGeom>
          <a:solidFill>
            <a:srgbClr val="050505"/>
          </a:solidFill>
          <a:ln w="12700">
            <a:solidFill>
              <a:srgbClr val="05050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 name="Shape 3"/>
          <p:cNvSpPr/>
          <p:nvPr/>
        </p:nvSpPr>
        <p:spPr>
          <a:xfrm>
            <a:off x="9829800" y="338040"/>
            <a:ext cx="1188720" cy="360"/>
          </a:xfrm>
          <a:prstGeom prst="line">
            <a:avLst/>
          </a:prstGeom>
          <a:ln w="15240">
            <a:solidFill>
              <a:srgbClr val="8A2F0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42" name="Shape 4"/>
          <p:cNvSpPr/>
          <p:nvPr/>
        </p:nvSpPr>
        <p:spPr>
          <a:xfrm rot="720000">
            <a:off x="11118960" y="219240"/>
            <a:ext cx="63720" cy="42948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 name="Shape 5"/>
          <p:cNvSpPr/>
          <p:nvPr/>
        </p:nvSpPr>
        <p:spPr>
          <a:xfrm rot="720000">
            <a:off x="11228760" y="219240"/>
            <a:ext cx="63720" cy="429480"/>
          </a:xfrm>
          <a:prstGeom prst="parallelogram">
            <a:avLst>
              <a:gd name="adj" fmla="val 25000"/>
            </a:avLst>
          </a:prstGeom>
          <a:solidFill>
            <a:srgbClr val="F15A00"/>
          </a:solidFill>
          <a:ln w="12700">
            <a:solidFill>
              <a:srgbClr val="F15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 name="Shape 6"/>
          <p:cNvSpPr/>
          <p:nvPr/>
        </p:nvSpPr>
        <p:spPr>
          <a:xfrm rot="720000">
            <a:off x="11338560" y="219240"/>
            <a:ext cx="63720" cy="429480"/>
          </a:xfrm>
          <a:prstGeom prst="parallelogram">
            <a:avLst>
              <a:gd name="adj" fmla="val 25000"/>
            </a:avLst>
          </a:prstGeom>
          <a:solidFill>
            <a:srgbClr val="6B2600"/>
          </a:solidFill>
          <a:ln w="12700">
            <a:solidFill>
              <a:srgbClr val="6B26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5" name="Text 7"/>
          <p:cNvSpPr/>
          <p:nvPr/>
        </p:nvSpPr>
        <p:spPr>
          <a:xfrm>
            <a:off x="685800" y="576000"/>
            <a:ext cx="71280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2100" b="1" u="none" strike="noStrike">
                <a:solidFill>
                  <a:srgbClr val="FF7A00"/>
                </a:solidFill>
                <a:effectLst/>
                <a:uFillTx/>
                <a:latin typeface="Aptos Display"/>
                <a:ea typeface="Aptos Display"/>
              </a:rPr>
              <a:t>02</a:t>
            </a:r>
            <a:endParaRPr lang="en-US" sz="2100" b="0" u="none" strike="noStrike">
              <a:solidFill>
                <a:srgbClr val="FFFFFF"/>
              </a:solidFill>
              <a:effectLst/>
              <a:uFillTx/>
              <a:latin typeface="Arial"/>
            </a:endParaRPr>
          </a:p>
        </p:txBody>
      </p:sp>
      <p:sp>
        <p:nvSpPr>
          <p:cNvPr id="46" name="Text 8"/>
          <p:cNvSpPr/>
          <p:nvPr/>
        </p:nvSpPr>
        <p:spPr>
          <a:xfrm>
            <a:off x="1481400" y="658440"/>
            <a:ext cx="3565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800" b="1" u="none" strike="noStrike" spc="105">
                <a:solidFill>
                  <a:srgbClr val="FF7A00"/>
                </a:solidFill>
                <a:effectLst/>
                <a:uFillTx/>
                <a:latin typeface="Aptos"/>
                <a:ea typeface="Aptos"/>
              </a:rPr>
              <a:t>CONTENTS</a:t>
            </a:r>
            <a:endParaRPr lang="en-US" sz="800" b="0" u="none" strike="noStrike">
              <a:solidFill>
                <a:srgbClr val="FFFFFF"/>
              </a:solidFill>
              <a:effectLst/>
              <a:uFillTx/>
              <a:latin typeface="Arial"/>
            </a:endParaRPr>
          </a:p>
        </p:txBody>
      </p:sp>
      <p:sp>
        <p:nvSpPr>
          <p:cNvPr id="47" name="Shape 9"/>
          <p:cNvSpPr/>
          <p:nvPr/>
        </p:nvSpPr>
        <p:spPr>
          <a:xfrm>
            <a:off x="4553640" y="731520"/>
            <a:ext cx="1005840" cy="360"/>
          </a:xfrm>
          <a:prstGeom prst="line">
            <a:avLst/>
          </a:prstGeom>
          <a:ln w="13970">
            <a:solidFill>
              <a:srgbClr val="6B2E0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48" name="Text 10"/>
          <p:cNvSpPr/>
          <p:nvPr/>
        </p:nvSpPr>
        <p:spPr>
          <a:xfrm>
            <a:off x="685800" y="1115640"/>
            <a:ext cx="86864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2700" b="1" u="none" strike="noStrike">
                <a:solidFill>
                  <a:srgbClr val="F7F5F0"/>
                </a:solidFill>
                <a:effectLst/>
                <a:uFillTx/>
                <a:latin typeface="Aptos Display"/>
                <a:ea typeface="Aptos Display"/>
              </a:rPr>
              <a:t>From forecourt friction to repeat engagement.</a:t>
            </a:r>
            <a:endParaRPr lang="en-US" sz="2700" b="0" u="none" strike="noStrike">
              <a:solidFill>
                <a:srgbClr val="FFFFFF"/>
              </a:solidFill>
              <a:effectLst/>
              <a:uFillTx/>
              <a:latin typeface="Arial"/>
            </a:endParaRPr>
          </a:p>
        </p:txBody>
      </p:sp>
      <p:sp>
        <p:nvSpPr>
          <p:cNvPr id="50" name="Shape 12"/>
          <p:cNvSpPr/>
          <p:nvPr/>
        </p:nvSpPr>
        <p:spPr>
          <a:xfrm>
            <a:off x="1199605" y="2231640"/>
            <a:ext cx="5257440" cy="43848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 name="Shape 13"/>
          <p:cNvSpPr/>
          <p:nvPr/>
        </p:nvSpPr>
        <p:spPr>
          <a:xfrm>
            <a:off x="1117165" y="2231640"/>
            <a:ext cx="164160" cy="43848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 name="Text 14"/>
          <p:cNvSpPr/>
          <p:nvPr/>
        </p:nvSpPr>
        <p:spPr>
          <a:xfrm>
            <a:off x="1400845" y="2350440"/>
            <a:ext cx="49464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defTabSz="914400">
              <a:lnSpc>
                <a:spcPct val="100000"/>
              </a:lnSpc>
              <a:tabLst>
                <a:tab pos="0" algn="l"/>
              </a:tabLst>
            </a:pPr>
            <a:r>
              <a:rPr lang="en-US" sz="1100" b="1" u="none" strike="noStrike">
                <a:solidFill>
                  <a:srgbClr val="F7F5F0"/>
                </a:solidFill>
                <a:effectLst/>
                <a:uFillTx/>
                <a:latin typeface="Aptos"/>
                <a:ea typeface="Aptos"/>
              </a:rPr>
              <a:t>01   Project framing</a:t>
            </a:r>
            <a:endParaRPr lang="en-US" sz="1100" b="0" u="none" strike="noStrike">
              <a:solidFill>
                <a:srgbClr val="FFFFFF"/>
              </a:solidFill>
              <a:effectLst/>
              <a:uFillTx/>
              <a:latin typeface="Arial"/>
            </a:endParaRPr>
          </a:p>
        </p:txBody>
      </p:sp>
      <p:sp>
        <p:nvSpPr>
          <p:cNvPr id="53" name="Shape 15"/>
          <p:cNvSpPr/>
          <p:nvPr/>
        </p:nvSpPr>
        <p:spPr>
          <a:xfrm>
            <a:off x="1199605" y="2743560"/>
            <a:ext cx="5257440" cy="43848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 name="Shape 16"/>
          <p:cNvSpPr/>
          <p:nvPr/>
        </p:nvSpPr>
        <p:spPr>
          <a:xfrm>
            <a:off x="1117165" y="2743560"/>
            <a:ext cx="164160" cy="43848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 name="Text 17"/>
          <p:cNvSpPr/>
          <p:nvPr/>
        </p:nvSpPr>
        <p:spPr>
          <a:xfrm>
            <a:off x="1400845" y="2862720"/>
            <a:ext cx="49464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defTabSz="914400">
              <a:lnSpc>
                <a:spcPct val="100000"/>
              </a:lnSpc>
              <a:tabLst>
                <a:tab pos="0" algn="l"/>
              </a:tabLst>
            </a:pPr>
            <a:r>
              <a:rPr lang="en-US" sz="1100" b="1" u="none" strike="noStrike">
                <a:solidFill>
                  <a:srgbClr val="F7F5F0"/>
                </a:solidFill>
                <a:effectLst/>
                <a:uFillTx/>
                <a:latin typeface="Aptos"/>
                <a:ea typeface="Aptos"/>
              </a:rPr>
              <a:t>02   Research + competitor signal</a:t>
            </a:r>
            <a:endParaRPr lang="en-US" sz="1100" b="0" u="none" strike="noStrike">
              <a:solidFill>
                <a:srgbClr val="FFFFFF"/>
              </a:solidFill>
              <a:effectLst/>
              <a:uFillTx/>
              <a:latin typeface="Arial"/>
            </a:endParaRPr>
          </a:p>
        </p:txBody>
      </p:sp>
      <p:sp>
        <p:nvSpPr>
          <p:cNvPr id="56" name="Shape 18"/>
          <p:cNvSpPr/>
          <p:nvPr/>
        </p:nvSpPr>
        <p:spPr>
          <a:xfrm>
            <a:off x="1199605" y="3255840"/>
            <a:ext cx="5257440" cy="43848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7" name="Shape 19"/>
          <p:cNvSpPr/>
          <p:nvPr/>
        </p:nvSpPr>
        <p:spPr>
          <a:xfrm>
            <a:off x="1117165" y="3255840"/>
            <a:ext cx="164160" cy="43848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 name="Text 20"/>
          <p:cNvSpPr/>
          <p:nvPr/>
        </p:nvSpPr>
        <p:spPr>
          <a:xfrm>
            <a:off x="1400845" y="3374640"/>
            <a:ext cx="49464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r>
              <a:t>03   Three hypothesis archetypes</a:t>
            </a:r>
          </a:p>
        </p:txBody>
      </p:sp>
      <p:sp>
        <p:nvSpPr>
          <p:cNvPr id="59" name="Shape 21"/>
          <p:cNvSpPr/>
          <p:nvPr/>
        </p:nvSpPr>
        <p:spPr>
          <a:xfrm>
            <a:off x="1199605" y="3767760"/>
            <a:ext cx="5257440" cy="43848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 name="Shape 22"/>
          <p:cNvSpPr/>
          <p:nvPr/>
        </p:nvSpPr>
        <p:spPr>
          <a:xfrm>
            <a:off x="1117165" y="3767760"/>
            <a:ext cx="164160" cy="43848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1" name="Text 23"/>
          <p:cNvSpPr/>
          <p:nvPr/>
        </p:nvSpPr>
        <p:spPr>
          <a:xfrm>
            <a:off x="1400845" y="3886560"/>
            <a:ext cx="49464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defTabSz="914400">
              <a:lnSpc>
                <a:spcPct val="100000"/>
              </a:lnSpc>
              <a:tabLst>
                <a:tab pos="0" algn="l"/>
              </a:tabLst>
            </a:pPr>
            <a:r>
              <a:rPr lang="en-US" sz="1100" b="1" u="none" strike="noStrike">
                <a:solidFill>
                  <a:srgbClr val="F7F5F0"/>
                </a:solidFill>
                <a:effectLst/>
                <a:uFillTx/>
                <a:latin typeface="Aptos"/>
                <a:ea typeface="Aptos"/>
              </a:rPr>
              <a:t>04   MVP definition</a:t>
            </a:r>
            <a:endParaRPr lang="en-US" sz="1100" b="0" u="none" strike="noStrike">
              <a:solidFill>
                <a:srgbClr val="FFFFFF"/>
              </a:solidFill>
              <a:effectLst/>
              <a:uFillTx/>
              <a:latin typeface="Arial"/>
            </a:endParaRPr>
          </a:p>
        </p:txBody>
      </p:sp>
      <p:sp>
        <p:nvSpPr>
          <p:cNvPr id="62" name="Shape 24"/>
          <p:cNvSpPr/>
          <p:nvPr/>
        </p:nvSpPr>
        <p:spPr>
          <a:xfrm>
            <a:off x="1199605" y="4280040"/>
            <a:ext cx="5257440" cy="43848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 name="Shape 25"/>
          <p:cNvSpPr/>
          <p:nvPr/>
        </p:nvSpPr>
        <p:spPr>
          <a:xfrm>
            <a:off x="1117165" y="4280040"/>
            <a:ext cx="164160" cy="43848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 name="Text 26"/>
          <p:cNvSpPr/>
          <p:nvPr/>
        </p:nvSpPr>
        <p:spPr>
          <a:xfrm>
            <a:off x="1400845" y="4398840"/>
            <a:ext cx="49464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defTabSz="914400">
              <a:lnSpc>
                <a:spcPct val="100000"/>
              </a:lnSpc>
              <a:tabLst>
                <a:tab pos="0" algn="l"/>
              </a:tabLst>
            </a:pPr>
            <a:r>
              <a:rPr lang="en-US" sz="1100" b="1" u="none" strike="noStrike">
                <a:solidFill>
                  <a:srgbClr val="F7F5F0"/>
                </a:solidFill>
                <a:effectLst/>
                <a:uFillTx/>
                <a:latin typeface="Aptos"/>
                <a:ea typeface="Aptos"/>
              </a:rPr>
              <a:t>05   Success model</a:t>
            </a:r>
            <a:endParaRPr lang="en-US" sz="1100" b="0" u="none" strike="noStrike">
              <a:solidFill>
                <a:srgbClr val="FFFFFF"/>
              </a:solidFill>
              <a:effectLst/>
              <a:uFillTx/>
              <a:latin typeface="Arial"/>
            </a:endParaRPr>
          </a:p>
        </p:txBody>
      </p:sp>
      <p:sp>
        <p:nvSpPr>
          <p:cNvPr id="65" name="Shape 27"/>
          <p:cNvSpPr/>
          <p:nvPr/>
        </p:nvSpPr>
        <p:spPr>
          <a:xfrm>
            <a:off x="1199605" y="4791960"/>
            <a:ext cx="5257440" cy="43848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6" name="Shape 28"/>
          <p:cNvSpPr/>
          <p:nvPr/>
        </p:nvSpPr>
        <p:spPr>
          <a:xfrm>
            <a:off x="1117165" y="4791960"/>
            <a:ext cx="164160" cy="43848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7" name="Text 29"/>
          <p:cNvSpPr/>
          <p:nvPr/>
        </p:nvSpPr>
        <p:spPr>
          <a:xfrm>
            <a:off x="1400845" y="4910760"/>
            <a:ext cx="49464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defTabSz="914400">
              <a:lnSpc>
                <a:spcPct val="100000"/>
              </a:lnSpc>
              <a:tabLst>
                <a:tab pos="0" algn="l"/>
              </a:tabLst>
            </a:pPr>
            <a:r>
              <a:rPr lang="en-US" sz="1100" b="1" u="none" strike="noStrike">
                <a:solidFill>
                  <a:srgbClr val="F7F5F0"/>
                </a:solidFill>
                <a:effectLst/>
                <a:uFillTx/>
                <a:latin typeface="Aptos"/>
                <a:ea typeface="Aptos"/>
              </a:rPr>
              <a:t>06   Journey + interaction design</a:t>
            </a:r>
            <a:endParaRPr lang="en-US" sz="1100" b="0" u="none" strike="noStrike">
              <a:solidFill>
                <a:srgbClr val="FFFFFF"/>
              </a:solidFill>
              <a:effectLst/>
              <a:uFillTx/>
              <a:latin typeface="Arial"/>
            </a:endParaRPr>
          </a:p>
        </p:txBody>
      </p:sp>
      <p:sp>
        <p:nvSpPr>
          <p:cNvPr id="68" name="Shape 30"/>
          <p:cNvSpPr/>
          <p:nvPr/>
        </p:nvSpPr>
        <p:spPr>
          <a:xfrm>
            <a:off x="1199605" y="5303880"/>
            <a:ext cx="5257440" cy="43848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9" name="Shape 31"/>
          <p:cNvSpPr/>
          <p:nvPr/>
        </p:nvSpPr>
        <p:spPr>
          <a:xfrm>
            <a:off x="1117165" y="5303880"/>
            <a:ext cx="164160" cy="43848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 name="Text 32"/>
          <p:cNvSpPr/>
          <p:nvPr/>
        </p:nvSpPr>
        <p:spPr>
          <a:xfrm>
            <a:off x="1400845" y="5423040"/>
            <a:ext cx="49464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defTabSz="914400">
              <a:lnSpc>
                <a:spcPct val="100000"/>
              </a:lnSpc>
              <a:tabLst>
                <a:tab pos="0" algn="l"/>
              </a:tabLst>
            </a:pPr>
            <a:r>
              <a:rPr lang="en-US" sz="1100" b="1" u="none" strike="noStrike">
                <a:solidFill>
                  <a:srgbClr val="F7F5F0"/>
                </a:solidFill>
                <a:effectLst/>
                <a:uFillTx/>
                <a:latin typeface="Aptos"/>
                <a:ea typeface="Aptos"/>
              </a:rPr>
              <a:t>07   Final UI + next iteration</a:t>
            </a:r>
            <a:endParaRPr lang="en-US" sz="1100" b="0" u="none" strike="noStrike">
              <a:solidFill>
                <a:srgbClr val="FFFFFF"/>
              </a:solidFill>
              <a:effectLst/>
              <a:uFillTx/>
              <a:latin typeface="Arial"/>
            </a:endParaRPr>
          </a:p>
        </p:txBody>
      </p:sp>
      <p:sp>
        <p:nvSpPr>
          <p:cNvPr id="79" name="Text 41"/>
          <p:cNvSpPr/>
          <p:nvPr/>
        </p:nvSpPr>
        <p:spPr>
          <a:xfrm>
            <a:off x="11201400" y="6501240"/>
            <a:ext cx="36540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r" defTabSz="914400">
              <a:lnSpc>
                <a:spcPct val="100000"/>
              </a:lnSpc>
              <a:tabLst>
                <a:tab pos="0" algn="l"/>
              </a:tabLst>
            </a:pPr>
            <a:r>
              <a:rPr lang="en-US" sz="700" b="1" u="none" strike="noStrike">
                <a:solidFill>
                  <a:srgbClr val="716D66"/>
                </a:solidFill>
                <a:effectLst/>
                <a:uFillTx/>
                <a:latin typeface="Aptos"/>
                <a:ea typeface="Aptos"/>
              </a:rPr>
              <a:t>02</a:t>
            </a:r>
            <a:endParaRPr lang="en-US" sz="700" b="0" u="none" strike="noStrike">
              <a:solidFill>
                <a:srgbClr val="FFFFFF"/>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D1614"/>
        </a:solidFill>
        <a:effectLst/>
      </p:bgPr>
    </p:bg>
    <p:spTree>
      <p:nvGrpSpPr>
        <p:cNvPr id="1" name=""/>
        <p:cNvGrpSpPr/>
        <p:nvPr/>
      </p:nvGrpSpPr>
      <p:grpSpPr>
        <a:xfrm>
          <a:off x="0" y="0"/>
          <a:ext cx="0" cy="0"/>
          <a:chOff x="0" y="0"/>
          <a:chExt cx="0" cy="0"/>
        </a:xfrm>
      </p:grpSpPr>
      <p:sp>
        <p:nvSpPr>
          <p:cNvPr id="2" name="Shape 0"/>
          <p:cNvSpPr/>
          <p:nvPr/>
        </p:nvSpPr>
        <p:spPr>
          <a:xfrm rot="-1320000">
            <a:off x="9911923" y="5930037"/>
            <a:ext cx="2377440" cy="45720"/>
          </a:xfrm>
          <a:prstGeom prst="rect">
            <a:avLst/>
          </a:prstGeom>
          <a:solidFill>
            <a:srgbClr val="F9340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rot="-1320000">
            <a:off x="10071943" y="6076341"/>
            <a:ext cx="2057400" cy="45720"/>
          </a:xfrm>
          <a:prstGeom prst="rect">
            <a:avLst/>
          </a:prstGeom>
          <a:solidFill>
            <a:srgbClr val="FDA4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rot="-1320000">
            <a:off x="10231963" y="6222645"/>
            <a:ext cx="1737360" cy="45720"/>
          </a:xfrm>
          <a:prstGeom prst="rect">
            <a:avLst/>
          </a:prstGeom>
          <a:solidFill>
            <a:srgbClr val="F9340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rot="-1320000">
            <a:off x="10391983" y="6368949"/>
            <a:ext cx="1417320" cy="45720"/>
          </a:xfrm>
          <a:prstGeom prst="rect">
            <a:avLst/>
          </a:prstGeom>
          <a:solidFill>
            <a:srgbClr val="FDA4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rot="-1320000">
            <a:off x="10552003" y="6515253"/>
            <a:ext cx="1097280" cy="45720"/>
          </a:xfrm>
          <a:prstGeom prst="rect">
            <a:avLst/>
          </a:prstGeom>
          <a:solidFill>
            <a:srgbClr val="F9340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548640" y="457200"/>
            <a:ext cx="1371600" cy="1371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0" b="1" i="0" u="none" strike="noStrike" kern="1200" cap="none" spc="0" normalizeH="0" baseline="0" noProof="0" dirty="0">
                <a:ln>
                  <a:noFill/>
                </a:ln>
                <a:solidFill>
                  <a:srgbClr val="5A2E14"/>
                </a:solidFill>
                <a:effectLst/>
                <a:uLnTx/>
                <a:uFillTx/>
                <a:latin typeface="Georgia" pitchFamily="34" charset="0"/>
                <a:ea typeface="Georgia" pitchFamily="34" charset="-122"/>
                <a:cs typeface="Georgia" pitchFamily="34" charset="-120"/>
              </a:rPr>
              <a:t>“</a:t>
            </a:r>
            <a:endParaRPr kumimoji="0" lang="en-US" sz="9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914400" y="2061899"/>
            <a:ext cx="9966960" cy="1965960"/>
          </a:xfrm>
          <a:prstGeom prst="rect">
            <a:avLst/>
          </a:prstGeom>
          <a:noFill/>
          <a:ln/>
        </p:spPr>
        <p:txBody>
          <a:bodyPr wrap="square"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500" b="0" i="1"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Picture Lindiwe, pulling into a Shell garage on her way to work. She's filled up here a dozen times this year. She has no idea how many rewards she's sitting on, and no real reason to check.</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914400" y="3611880"/>
            <a:ext cx="9509760" cy="1005840"/>
          </a:xfrm>
          <a:prstGeom prst="rect">
            <a:avLst/>
          </a:prstGeom>
          <a:noFill/>
          <a:ln/>
        </p:spPr>
        <p:txBody>
          <a:bodyPr wrap="square"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900" b="0" i="1" u="none" strike="noStrike" kern="1200" cap="none" spc="0" normalizeH="0" baseline="0" noProof="0" dirty="0">
                <a:ln>
                  <a:noFill/>
                </a:ln>
                <a:solidFill>
                  <a:srgbClr val="C9A98A"/>
                </a:solidFill>
                <a:effectLst/>
                <a:uLnTx/>
                <a:uFillTx/>
                <a:latin typeface="Georgia" pitchFamily="34" charset="0"/>
                <a:ea typeface="Georgia" pitchFamily="34" charset="-122"/>
                <a:cs typeface="Georgia" pitchFamily="34" charset="-120"/>
              </a:rPr>
              <a:t>Her card's buried in a drawer at home somewhere. As far as she's concerned, whatever she's earned might as well not exist.</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987697" y="4734269"/>
            <a:ext cx="640080" cy="45720"/>
          </a:xfrm>
          <a:prstGeom prst="rect">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640080" y="502920"/>
            <a:ext cx="384048"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92"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092"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70432" y="502920"/>
            <a:ext cx="86868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20" normalizeH="0" baseline="0" noProof="0" dirty="0">
                <a:ln>
                  <a:noFill/>
                </a:ln>
                <a:solidFill>
                  <a:srgbClr val="EC8800"/>
                </a:solidFill>
                <a:effectLst/>
                <a:uLnTx/>
                <a:uFillTx/>
                <a:latin typeface="Calibri" pitchFamily="34" charset="0"/>
                <a:ea typeface="Calibri" pitchFamily="34" charset="-122"/>
                <a:cs typeface="Calibri" pitchFamily="34" charset="-120"/>
              </a:rPr>
              <a:t>PRODUCT DISCOVERY &amp; CONTEXT ALIGNMENT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40080" y="1051560"/>
            <a:ext cx="105156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D1614"/>
                </a:solidFill>
                <a:effectLst/>
                <a:uLnTx/>
                <a:uFillTx/>
                <a:latin typeface="Arial" pitchFamily="34" charset="0"/>
                <a:ea typeface="Arial" pitchFamily="34" charset="-122"/>
                <a:cs typeface="Arial" pitchFamily="34" charset="-120"/>
              </a:rPr>
              <a:t>The problem and the opportunity</a:t>
            </a:r>
            <a:endParaRPr kumimoji="0" lang="en-US" sz="2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flipH="1">
            <a:off x="640080" y="1920240"/>
            <a:ext cx="45720" cy="2651760"/>
          </a:xfrm>
          <a:prstGeom prst="rect">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960120" y="2103120"/>
            <a:ext cx="9875520" cy="2651760"/>
          </a:xfrm>
          <a:prstGeom prst="rect">
            <a:avLst/>
          </a:prstGeom>
          <a:noFill/>
          <a:ln/>
        </p:spPr>
        <p:txBody>
          <a:bodyPr wrap="square" rtlCol="0" anchor="t"/>
          <a:lstStyle/>
          <a:p>
            <a:pPr marL="0" marR="0" lvl="0" indent="0" algn="l" defTabSz="914400" rtl="0" eaLnBrk="1" fontAlgn="auto" latinLnBrk="0" hangingPunct="1">
              <a:lnSpc>
                <a:spcPct val="135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South African motorists who refuel at Shell service stations in Johannesburg just like Lindiwe have a card-based programme which ties their rewards to a card they hardly carry and a points balance they never see, while also lacking an easy digital way to tip fuel attendants.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5000"/>
              </a:lnSpc>
              <a:spcBef>
                <a:spcPts val="0"/>
              </a:spcBef>
              <a:spcAft>
                <a:spcPts val="0"/>
              </a:spcAft>
              <a:buClrTx/>
              <a:buSzTx/>
              <a:buFontTx/>
              <a:buNone/>
              <a:tabLst/>
              <a:defRPr/>
            </a:pP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5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That's not a minor UX gap. A programme customers can't see or act on daily is a programme that costs money to run without earning the repeat visits it's meant to buy. Low visibility isn't just an inconvenience; it's the mechanism that erodes the entire business case for the programme.</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5074920"/>
            <a:ext cx="10908792" cy="868680"/>
          </a:xfrm>
          <a:prstGeom prst="roundRect">
            <a:avLst/>
          </a:prstGeom>
          <a:solidFill>
            <a:srgbClr val="FBF9F6"/>
          </a:solidFill>
          <a:ln w="12700">
            <a:solidFill>
              <a:srgbClr val="C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868680" y="5074920"/>
            <a:ext cx="10424160" cy="8686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dirty="0">
                <a:ln>
                  <a:noFill/>
                </a:ln>
                <a:solidFill>
                  <a:srgbClr val="8A3A1E"/>
                </a:solidFill>
                <a:effectLst/>
                <a:uLnTx/>
                <a:uFillTx/>
                <a:latin typeface="Calibri" pitchFamily="34" charset="0"/>
                <a:ea typeface="Calibri" pitchFamily="34" charset="-122"/>
                <a:cs typeface="Calibri" pitchFamily="34" charset="-120"/>
              </a:rPr>
              <a:t>We will conduct an exploratory investigation to identify core friction points and define a focused, frictionless MVP digital rewards ecosystem.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640080" y="502920"/>
            <a:ext cx="384048"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92"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092"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70432" y="502920"/>
            <a:ext cx="86868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20" normalizeH="0" baseline="0" noProof="0" dirty="0">
                <a:ln>
                  <a:noFill/>
                </a:ln>
                <a:solidFill>
                  <a:srgbClr val="EC8800"/>
                </a:solidFill>
                <a:effectLst/>
                <a:uLnTx/>
                <a:uFillTx/>
                <a:latin typeface="Calibri" pitchFamily="34" charset="0"/>
                <a:ea typeface="Calibri" pitchFamily="34" charset="-122"/>
                <a:cs typeface="Calibri" pitchFamily="34" charset="-120"/>
              </a:rPr>
              <a:t>PRODUCT DISCOVERY &amp; CONTEXT ALIGNMENT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40080" y="1051560"/>
            <a:ext cx="105156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D1614"/>
                </a:solidFill>
                <a:effectLst/>
                <a:uLnTx/>
                <a:uFillTx/>
                <a:latin typeface="Arial" pitchFamily="34" charset="0"/>
                <a:ea typeface="Arial" pitchFamily="34" charset="-122"/>
                <a:cs typeface="Arial" pitchFamily="34" charset="-120"/>
              </a:rPr>
              <a:t>Research method</a:t>
            </a:r>
            <a:endParaRPr kumimoji="0" lang="en-US" sz="2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40080" y="1828800"/>
            <a:ext cx="10881360" cy="777240"/>
          </a:xfrm>
          <a:prstGeom prst="rect">
            <a:avLst/>
          </a:prstGeom>
          <a:noFill/>
          <a:ln/>
        </p:spPr>
        <p:txBody>
          <a:bodyPr wrap="square" rtlCol="0" anchor="t"/>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I audited loyalty models across five fuel-retail and adjacent high-frequency categories: supermarket loyalty, banking rewards, and fuel rewards to see which mechanics correlated with sustained use versus quiet abandonment.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788920"/>
            <a:ext cx="1645920" cy="502920"/>
          </a:xfrm>
          <a:prstGeom prst="roundRect">
            <a:avLst>
              <a:gd name="adj" fmla="val 14545"/>
            </a:avLst>
          </a:prstGeom>
          <a:solidFill>
            <a:schemeClr val="bg1"/>
          </a:solidFill>
          <a:ln w="12700">
            <a:solidFill>
              <a:srgbClr val="C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40080" y="2788920"/>
            <a:ext cx="1645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D1614"/>
                </a:solidFill>
                <a:effectLst/>
                <a:uLnTx/>
                <a:uFillTx/>
                <a:latin typeface="Calibri" pitchFamily="34" charset="0"/>
                <a:ea typeface="Calibri" pitchFamily="34" charset="-122"/>
                <a:cs typeface="Calibri" pitchFamily="34" charset="-120"/>
              </a:rPr>
              <a:t>Sasol Rewards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2487168" y="2788920"/>
            <a:ext cx="2103120" cy="502920"/>
          </a:xfrm>
          <a:prstGeom prst="roundRect">
            <a:avLst>
              <a:gd name="adj" fmla="val 14545"/>
            </a:avLst>
          </a:prstGeom>
          <a:solidFill>
            <a:schemeClr val="bg1"/>
          </a:solidFill>
          <a:ln w="12700">
            <a:solidFill>
              <a:srgbClr val="C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2487168" y="2788920"/>
            <a:ext cx="21031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D1614"/>
                </a:solidFill>
                <a:effectLst/>
                <a:uLnTx/>
                <a:uFillTx/>
                <a:latin typeface="Calibri" pitchFamily="34" charset="0"/>
                <a:ea typeface="Calibri" pitchFamily="34" charset="-122"/>
                <a:cs typeface="Calibri" pitchFamily="34" charset="-120"/>
              </a:rPr>
              <a:t>BP Rewards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791456" y="2788920"/>
            <a:ext cx="1371600" cy="502920"/>
          </a:xfrm>
          <a:prstGeom prst="roundRect">
            <a:avLst>
              <a:gd name="adj" fmla="val 14545"/>
            </a:avLst>
          </a:prstGeom>
          <a:solidFill>
            <a:srgbClr val="FBF9F6"/>
          </a:solidFill>
          <a:ln w="12700">
            <a:solidFill>
              <a:srgbClr val="C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791456" y="2788920"/>
            <a:ext cx="1371600" cy="502920"/>
          </a:xfrm>
          <a:prstGeom prst="roundRect">
            <a:avLst/>
          </a:prstGeom>
          <a:solidFill>
            <a:schemeClr val="bg1"/>
          </a:solidFill>
          <a:ln>
            <a:solidFill>
              <a:srgbClr val="C00000"/>
            </a:solid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D1614"/>
                </a:solidFill>
                <a:effectLst/>
                <a:uLnTx/>
                <a:uFillTx/>
                <a:latin typeface="Calibri" pitchFamily="34" charset="0"/>
                <a:ea typeface="Calibri" pitchFamily="34" charset="-122"/>
                <a:cs typeface="Calibri" pitchFamily="34" charset="-120"/>
              </a:rPr>
              <a:t>Engen 1App</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64224" y="2788920"/>
            <a:ext cx="2651760" cy="502920"/>
          </a:xfrm>
          <a:prstGeom prst="roundRect">
            <a:avLst>
              <a:gd name="adj" fmla="val 14545"/>
            </a:avLst>
          </a:prstGeom>
          <a:solidFill>
            <a:schemeClr val="bg1"/>
          </a:solidFill>
          <a:ln w="12700">
            <a:solidFill>
              <a:srgbClr val="E9E3D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364224" y="2788920"/>
            <a:ext cx="2651760" cy="502920"/>
          </a:xfrm>
          <a:prstGeom prst="roundRect">
            <a:avLst/>
          </a:prstGeom>
          <a:noFill/>
          <a:ln>
            <a:solidFill>
              <a:srgbClr val="C00000"/>
            </a:solid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D1614"/>
                </a:solidFill>
                <a:effectLst/>
                <a:uLnTx/>
                <a:uFillTx/>
                <a:latin typeface="Calibri" pitchFamily="34" charset="0"/>
                <a:ea typeface="Calibri" pitchFamily="34" charset="-122"/>
                <a:cs typeface="Calibri" pitchFamily="34" charset="-120"/>
              </a:rPr>
              <a:t>Discovery Vitality Money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9217152" y="2788920"/>
            <a:ext cx="1005840" cy="502920"/>
          </a:xfrm>
          <a:prstGeom prst="roundRect">
            <a:avLst>
              <a:gd name="adj" fmla="val 14545"/>
            </a:avLst>
          </a:prstGeom>
          <a:solidFill>
            <a:schemeClr val="bg1"/>
          </a:solidFill>
          <a:ln w="12700">
            <a:solidFill>
              <a:srgbClr val="C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9217152" y="2788920"/>
            <a:ext cx="100584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D1614"/>
                </a:solidFill>
                <a:effectLst/>
                <a:uLnTx/>
                <a:uFillTx/>
                <a:latin typeface="Calibri" pitchFamily="34" charset="0"/>
                <a:ea typeface="Calibri" pitchFamily="34" charset="-122"/>
                <a:cs typeface="Calibri" pitchFamily="34" charset="-120"/>
              </a:rPr>
              <a:t>eBucks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40080" y="3703320"/>
            <a:ext cx="5486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EC8800"/>
                </a:solidFill>
                <a:effectLst/>
                <a:uLnTx/>
                <a:uFillTx/>
                <a:latin typeface="Calibri" pitchFamily="34" charset="0"/>
                <a:ea typeface="Calibri" pitchFamily="34" charset="-122"/>
                <a:cs typeface="Calibri" pitchFamily="34" charset="-120"/>
              </a:rPr>
              <a:t>WHY A COMPETITOR ANALYSIS?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flipH="1">
            <a:off x="731521" y="4190999"/>
            <a:ext cx="45719" cy="1371600"/>
          </a:xfrm>
          <a:prstGeom prst="rect">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832104" y="4206240"/>
            <a:ext cx="45720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D1614"/>
                </a:solidFill>
                <a:effectLst/>
                <a:uLnTx/>
                <a:uFillTx/>
                <a:latin typeface="Calibri" pitchFamily="34" charset="0"/>
                <a:ea typeface="Calibri" pitchFamily="34" charset="-122"/>
                <a:cs typeface="Calibri" pitchFamily="34" charset="-120"/>
              </a:rPr>
              <a:t>Constraints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77240" y="4681583"/>
            <a:ext cx="10241280" cy="777240"/>
          </a:xfrm>
          <a:prstGeom prst="rect">
            <a:avLst/>
          </a:prstGeom>
          <a:noFill/>
          <a:ln/>
        </p:spPr>
        <p:txBody>
          <a:bodyPr wrap="square" rtlCol="0" anchor="t"/>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This was self-directed work, without access to real Shell users or stakeholders to validate assumptions through interviews. Rather than skip research, I substituted a structured competitive and market audit for direct interviews, a reasonable trade-off in early concept work, but one that means the findings are directional, not validated.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11480"/>
            <a:ext cx="384048" cy="384048"/>
          </a:xfrm>
          <a:prstGeom prst="ellipse">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640080" y="411480"/>
            <a:ext cx="384048"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92"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092"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70432" y="411480"/>
            <a:ext cx="86868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20" normalizeH="0" baseline="0" noProof="0" dirty="0">
                <a:ln>
                  <a:noFill/>
                </a:ln>
                <a:solidFill>
                  <a:srgbClr val="EC8800"/>
                </a:solidFill>
                <a:effectLst/>
                <a:uLnTx/>
                <a:uFillTx/>
                <a:latin typeface="Calibri" pitchFamily="34" charset="0"/>
                <a:ea typeface="Calibri" pitchFamily="34" charset="-122"/>
                <a:cs typeface="Calibri" pitchFamily="34" charset="-120"/>
              </a:rPr>
              <a:t>PRODUCT DISCOVERY &amp; CONTEXT ALIGNMENT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40080" y="914400"/>
            <a:ext cx="100584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D1614"/>
                </a:solidFill>
                <a:effectLst/>
                <a:uLnTx/>
                <a:uFillTx/>
                <a:latin typeface="Arial" pitchFamily="34" charset="0"/>
                <a:ea typeface="Arial" pitchFamily="34" charset="-122"/>
                <a:cs typeface="Arial" pitchFamily="34" charset="-120"/>
              </a:rPr>
              <a:t>Full competitive audit (1 of 2)</a:t>
            </a:r>
            <a:endParaRPr kumimoji="0" lang="en-US" sz="2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635240" y="1417320"/>
            <a:ext cx="1234440" cy="457200"/>
          </a:xfrm>
          <a:prstGeom prst="rect">
            <a:avLst/>
          </a:prstGeom>
          <a:noFill/>
          <a:ln/>
        </p:spPr>
        <p:txBody>
          <a:bodyPr wrap="square"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Works with any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card/payment method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9006840" y="1417320"/>
            <a:ext cx="1234440" cy="457200"/>
          </a:xfrm>
          <a:prstGeom prst="rect">
            <a:avLst/>
          </a:prstGeom>
          <a:noFill/>
          <a:ln/>
        </p:spPr>
        <p:txBody>
          <a:bodyPr wrap="square"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Cashless, instant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redemption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378440" y="1417320"/>
            <a:ext cx="1234440" cy="457200"/>
          </a:xfrm>
          <a:prstGeom prst="rect">
            <a:avLst/>
          </a:prstGeom>
          <a:noFill/>
          <a:ln/>
        </p:spPr>
        <p:txBody>
          <a:bodyPr wrap="square"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Built-in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tipping</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40080" y="1920240"/>
            <a:ext cx="1874520" cy="457200"/>
          </a:xfrm>
          <a:prstGeom prst="roundRect">
            <a:avLst>
              <a:gd name="adj" fmla="val 16000"/>
            </a:avLst>
          </a:prstGeom>
          <a:solidFill>
            <a:srgbClr val="1D161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1920240"/>
            <a:ext cx="187452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Sasol Rewards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2743200" y="1828800"/>
            <a:ext cx="4663440" cy="857250"/>
          </a:xfrm>
          <a:prstGeom prst="rect">
            <a:avLst/>
          </a:prstGeom>
          <a:noFill/>
          <a:ln/>
        </p:spPr>
        <p:txBody>
          <a:bodyPr wrap="square" rtlCol="0" anchor="t"/>
          <a:lstStyle/>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Simple, familiar earn rate customers already trust simplified earn-rate (points per litre)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Shared family/friends account builds habitual use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Wide network of stations across the country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8106156" y="1993392"/>
            <a:ext cx="292608" cy="292608"/>
          </a:xfrm>
          <a:prstGeom prst="ellipse">
            <a:avLst/>
          </a:prstGeom>
          <a:solidFill>
            <a:srgbClr val="F2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9477756" y="1993392"/>
            <a:ext cx="292608" cy="292608"/>
          </a:xfrm>
          <a:prstGeom prst="ellipse">
            <a:avLst/>
          </a:prstGeom>
          <a:solidFill>
            <a:srgbClr val="F2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10849356" y="1993392"/>
            <a:ext cx="292608" cy="292608"/>
          </a:xfrm>
          <a:prstGeom prst="ellipse">
            <a:avLst/>
          </a:prstGeom>
          <a:solidFill>
            <a:srgbClr val="3F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640080" y="3429000"/>
            <a:ext cx="1874520" cy="457200"/>
          </a:xfrm>
          <a:prstGeom prst="roundRect">
            <a:avLst>
              <a:gd name="adj" fmla="val 16000"/>
            </a:avLst>
          </a:prstGeom>
          <a:solidFill>
            <a:srgbClr val="1D161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40080" y="3429000"/>
            <a:ext cx="187452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BP Rewards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2743200" y="3337560"/>
            <a:ext cx="4663440" cy="1508760"/>
          </a:xfrm>
          <a:prstGeom prst="rect">
            <a:avLst/>
          </a:prstGeom>
          <a:noFill/>
          <a:ln/>
        </p:spPr>
        <p:txBody>
          <a:bodyPr wrap="square" rtlCol="0" anchor="t"/>
          <a:lstStyle/>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Stacks with Smart Shopper for a near-best combined earn rate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Backed by an established retail partner network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Cashback feels tangible and easy to understand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8106156" y="3502152"/>
            <a:ext cx="292608" cy="292608"/>
          </a:xfrm>
          <a:prstGeom prst="ellipse">
            <a:avLst/>
          </a:prstGeom>
          <a:solidFill>
            <a:srgbClr val="B23A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9477756" y="3502152"/>
            <a:ext cx="292608" cy="292608"/>
          </a:xfrm>
          <a:prstGeom prst="ellipse">
            <a:avLst/>
          </a:prstGeom>
          <a:solidFill>
            <a:srgbClr val="F2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10849356" y="3502152"/>
            <a:ext cx="292608" cy="292608"/>
          </a:xfrm>
          <a:prstGeom prst="ellipse">
            <a:avLst/>
          </a:prstGeom>
          <a:solidFill>
            <a:srgbClr val="B23A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640080" y="4937760"/>
            <a:ext cx="1874520" cy="457200"/>
          </a:xfrm>
          <a:prstGeom prst="roundRect">
            <a:avLst>
              <a:gd name="adj" fmla="val 16000"/>
            </a:avLst>
          </a:prstGeom>
          <a:solidFill>
            <a:srgbClr val="1D161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640080" y="4937760"/>
            <a:ext cx="187452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Engen 1App</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2743200" y="4846320"/>
            <a:ext cx="4663440" cy="1508760"/>
          </a:xfrm>
          <a:prstGeom prst="rect">
            <a:avLst/>
          </a:prstGeom>
          <a:noFill/>
          <a:ln/>
        </p:spPr>
        <p:txBody>
          <a:bodyPr wrap="square" rtlCol="0" anchor="t"/>
          <a:lstStyle/>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In-house wallet app layered onto Clicks ClubCard and FNB eBucks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Value depends on holding specific partner cards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Several users report unclear point tracking and hard-to-read text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8106156" y="5010912"/>
            <a:ext cx="292608" cy="292608"/>
          </a:xfrm>
          <a:prstGeom prst="ellipse">
            <a:avLst/>
          </a:prstGeom>
          <a:solidFill>
            <a:srgbClr val="F2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9477756" y="5010912"/>
            <a:ext cx="292608" cy="292608"/>
          </a:xfrm>
          <a:prstGeom prst="ellipse">
            <a:avLst/>
          </a:prstGeom>
          <a:solidFill>
            <a:srgbClr val="F2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10849356" y="5010912"/>
            <a:ext cx="292608" cy="292608"/>
          </a:xfrm>
          <a:prstGeom prst="ellipse">
            <a:avLst/>
          </a:prstGeom>
          <a:solidFill>
            <a:srgbClr val="3F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11480"/>
            <a:ext cx="384048" cy="384048"/>
          </a:xfrm>
          <a:prstGeom prst="ellipse">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640080" y="411480"/>
            <a:ext cx="384048"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92"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092"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70432" y="411480"/>
            <a:ext cx="86868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20" normalizeH="0" baseline="0" noProof="0" dirty="0">
                <a:ln>
                  <a:noFill/>
                </a:ln>
                <a:solidFill>
                  <a:srgbClr val="EC8800"/>
                </a:solidFill>
                <a:effectLst/>
                <a:uLnTx/>
                <a:uFillTx/>
                <a:latin typeface="Calibri" pitchFamily="34" charset="0"/>
                <a:ea typeface="Calibri" pitchFamily="34" charset="-122"/>
                <a:cs typeface="Calibri" pitchFamily="34" charset="-120"/>
              </a:rPr>
              <a:t>PRODUCT DISCOVERY &amp; CONTEXT ALIGNMENT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40080" y="914400"/>
            <a:ext cx="100584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D1614"/>
                </a:solidFill>
                <a:effectLst/>
                <a:uLnTx/>
                <a:uFillTx/>
                <a:latin typeface="Arial" pitchFamily="34" charset="0"/>
                <a:ea typeface="Arial" pitchFamily="34" charset="-122"/>
                <a:cs typeface="Arial" pitchFamily="34" charset="-120"/>
              </a:rPr>
              <a:t>Full competitive audit (2 of 2)</a:t>
            </a:r>
            <a:endParaRPr kumimoji="0" lang="en-US" sz="2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635240" y="1417320"/>
            <a:ext cx="1234440" cy="457200"/>
          </a:xfrm>
          <a:prstGeom prst="rect">
            <a:avLst/>
          </a:prstGeom>
          <a:noFill/>
          <a:ln/>
        </p:spPr>
        <p:txBody>
          <a:bodyPr wrap="square"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Works with any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card/payment method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9006840" y="1417320"/>
            <a:ext cx="1234440" cy="457200"/>
          </a:xfrm>
          <a:prstGeom prst="rect">
            <a:avLst/>
          </a:prstGeom>
          <a:noFill/>
          <a:ln/>
        </p:spPr>
        <p:txBody>
          <a:bodyPr wrap="square"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Cashless, instant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redemption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378440" y="1417320"/>
            <a:ext cx="1234440" cy="457200"/>
          </a:xfrm>
          <a:prstGeom prst="rect">
            <a:avLst/>
          </a:prstGeom>
          <a:noFill/>
          <a:ln/>
        </p:spPr>
        <p:txBody>
          <a:bodyPr wrap="square"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Built-in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tipping</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40080" y="1920240"/>
            <a:ext cx="1874520" cy="457200"/>
          </a:xfrm>
          <a:prstGeom prst="roundRect">
            <a:avLst>
              <a:gd name="adj" fmla="val 16000"/>
            </a:avLst>
          </a:prstGeom>
          <a:solidFill>
            <a:srgbClr val="1D161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1920240"/>
            <a:ext cx="187452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eBucks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2743200" y="1828800"/>
            <a:ext cx="4663440" cy="1508760"/>
          </a:xfrm>
          <a:prstGeom prst="rect">
            <a:avLst/>
          </a:prstGeom>
          <a:noFill/>
          <a:ln/>
        </p:spPr>
        <p:txBody>
          <a:bodyPr wrap="square" rtlCol="0" anchor="t"/>
          <a:lstStyle/>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Deep bank integration drives loyalty across many categories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High reward ceiling for top-tier banking customers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Rewards extend across groceries, travel, and more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8106156" y="1993392"/>
            <a:ext cx="292608" cy="292608"/>
          </a:xfrm>
          <a:prstGeom prst="ellipse">
            <a:avLst/>
          </a:prstGeom>
          <a:solidFill>
            <a:srgbClr val="B23A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9477756" y="1993392"/>
            <a:ext cx="292608" cy="292608"/>
          </a:xfrm>
          <a:prstGeom prst="ellipse">
            <a:avLst/>
          </a:prstGeom>
          <a:solidFill>
            <a:srgbClr val="3F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10849356" y="1993392"/>
            <a:ext cx="292608" cy="292608"/>
          </a:xfrm>
          <a:prstGeom prst="ellipse">
            <a:avLst/>
          </a:prstGeom>
          <a:solidFill>
            <a:srgbClr val="B23A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640080" y="3429000"/>
            <a:ext cx="1874520" cy="457200"/>
          </a:xfrm>
          <a:prstGeom prst="roundRect">
            <a:avLst>
              <a:gd name="adj" fmla="val 16000"/>
            </a:avLst>
          </a:prstGeom>
          <a:solidFill>
            <a:srgbClr val="1D161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40080" y="3429000"/>
            <a:ext cx="187452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Discovery Vitality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2743200" y="3337560"/>
            <a:ext cx="4663440" cy="1508760"/>
          </a:xfrm>
          <a:prstGeom prst="rect">
            <a:avLst/>
          </a:prstGeom>
          <a:noFill/>
          <a:ln/>
        </p:spPr>
        <p:txBody>
          <a:bodyPr wrap="square" rtlCol="0" anchor="t"/>
          <a:lstStyle/>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Highest possible cashback, up to 50% on fuel spend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Strong behavioural engagement through driving-score gamification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Reinforces an existing wellness/insurance relationship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8106156" y="3502152"/>
            <a:ext cx="292608" cy="292608"/>
          </a:xfrm>
          <a:prstGeom prst="ellipse">
            <a:avLst/>
          </a:prstGeom>
          <a:solidFill>
            <a:srgbClr val="B23A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9477756" y="3502152"/>
            <a:ext cx="292608" cy="292608"/>
          </a:xfrm>
          <a:prstGeom prst="ellipse">
            <a:avLst/>
          </a:prstGeom>
          <a:solidFill>
            <a:srgbClr val="F2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10849356" y="3502152"/>
            <a:ext cx="292608" cy="292608"/>
          </a:xfrm>
          <a:prstGeom prst="ellipse">
            <a:avLst/>
          </a:prstGeom>
          <a:solidFill>
            <a:srgbClr val="B23A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640080" y="4937760"/>
            <a:ext cx="1874520" cy="457200"/>
          </a:xfrm>
          <a:prstGeom prst="roundRect">
            <a:avLst>
              <a:gd name="adj" fmla="val 16000"/>
            </a:avLst>
          </a:prstGeom>
          <a:solidFill>
            <a:srgbClr val="1D161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640080" y="4937760"/>
            <a:ext cx="187452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Tappy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2743200" y="4846320"/>
            <a:ext cx="4663440" cy="1508760"/>
          </a:xfrm>
          <a:prstGeom prst="rect">
            <a:avLst/>
          </a:prstGeom>
          <a:noFill/>
          <a:ln/>
        </p:spPr>
        <p:txBody>
          <a:bodyPr wrap="square" rtlCol="0" anchor="t"/>
          <a:lstStyle/>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Already solves cashless tipping for petrol attendants directly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No app, card, or bank account needed for the attendant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5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Fast, lightweight rollout with minimal setup cost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8106156" y="5010912"/>
            <a:ext cx="292608" cy="292608"/>
          </a:xfrm>
          <a:prstGeom prst="ellipse">
            <a:avLst/>
          </a:prstGeom>
          <a:solidFill>
            <a:srgbClr val="3F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9477756" y="5010912"/>
            <a:ext cx="292608" cy="292608"/>
          </a:xfrm>
          <a:prstGeom prst="ellipse">
            <a:avLst/>
          </a:prstGeom>
          <a:solidFill>
            <a:srgbClr val="3F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10849356" y="5010912"/>
            <a:ext cx="292608" cy="292608"/>
          </a:xfrm>
          <a:prstGeom prst="ellipse">
            <a:avLst/>
          </a:prstGeom>
          <a:solidFill>
            <a:srgbClr val="3F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640080" y="5623560"/>
            <a:ext cx="10908792" cy="594360"/>
          </a:xfrm>
          <a:prstGeom prst="rect">
            <a:avLst/>
          </a:prstGeom>
          <a:solidFill>
            <a:srgbClr val="FBF9F6"/>
          </a:solidFill>
          <a:ln w="12700">
            <a:solidFill>
              <a:srgbClr val="E9E3D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p:cNvSpPr/>
          <p:nvPr/>
        </p:nvSpPr>
        <p:spPr>
          <a:xfrm>
            <a:off x="868680" y="5779008"/>
            <a:ext cx="292608" cy="292608"/>
          </a:xfrm>
          <a:prstGeom prst="ellipse">
            <a:avLst/>
          </a:prstGeom>
          <a:solidFill>
            <a:srgbClr val="B23A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1234440" y="5808472"/>
            <a:ext cx="210312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Poor / not offered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3794760" y="5779008"/>
            <a:ext cx="292608" cy="292608"/>
          </a:xfrm>
          <a:prstGeom prst="ellipse">
            <a:avLst/>
          </a:prstGeom>
          <a:solidFill>
            <a:srgbClr val="F2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4160520" y="5779008"/>
            <a:ext cx="210312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Partial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6720840" y="5779008"/>
            <a:ext cx="292608" cy="292608"/>
          </a:xfrm>
          <a:prstGeom prst="ellipse">
            <a:avLst/>
          </a:prstGeom>
          <a:solidFill>
            <a:srgbClr val="3F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7053074" y="5797296"/>
            <a:ext cx="210312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Strong / fully offered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640080" y="502920"/>
            <a:ext cx="384048"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92"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092"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70432" y="502920"/>
            <a:ext cx="86868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20" normalizeH="0" baseline="0" noProof="0" dirty="0">
                <a:ln>
                  <a:noFill/>
                </a:ln>
                <a:solidFill>
                  <a:srgbClr val="EC8800"/>
                </a:solidFill>
                <a:effectLst/>
                <a:uLnTx/>
                <a:uFillTx/>
                <a:latin typeface="Calibri" pitchFamily="34" charset="0"/>
                <a:ea typeface="Calibri" pitchFamily="34" charset="-122"/>
                <a:cs typeface="Calibri" pitchFamily="34" charset="-120"/>
              </a:rPr>
              <a:t>PRODUCT DISCOVERY &amp; CONTEXT ALIGNMENT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40080" y="1051560"/>
            <a:ext cx="105156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D1614"/>
                </a:solidFill>
                <a:effectLst/>
                <a:uLnTx/>
                <a:uFillTx/>
                <a:latin typeface="Arial" pitchFamily="34" charset="0"/>
                <a:ea typeface="Arial" pitchFamily="34" charset="-122"/>
                <a:cs typeface="Arial" pitchFamily="34" charset="-120"/>
              </a:rPr>
              <a:t>What the market is telling us</a:t>
            </a:r>
            <a:endParaRPr kumimoji="0" lang="en-US" sz="2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1920240"/>
            <a:ext cx="128016" cy="128016"/>
          </a:xfrm>
          <a:prstGeom prst="ellipse">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914400" y="1819656"/>
            <a:ext cx="10424160" cy="320040"/>
          </a:xfrm>
          <a:prstGeom prst="rect">
            <a:avLst/>
          </a:prstGeom>
          <a:noFill/>
          <a:ln/>
        </p:spPr>
        <p:txBody>
          <a:bodyPr wrap="square" rtlCol="0" anchor="ctr"/>
          <a:lstStyle/>
          <a:p>
            <a:r>
              <a:t>Visibility is one of the strongest disengagement signals</a:t>
            </a:r>
          </a:p>
        </p:txBody>
      </p:sp>
      <p:sp>
        <p:nvSpPr>
          <p:cNvPr id="8" name="Text 6"/>
          <p:cNvSpPr/>
          <p:nvPr/>
        </p:nvSpPr>
        <p:spPr>
          <a:xfrm>
            <a:off x="914400" y="2130552"/>
            <a:ext cx="6832600" cy="594360"/>
          </a:xfrm>
          <a:prstGeom prst="rect">
            <a:avLst/>
          </a:prstGeom>
          <a:noFill/>
          <a:ln/>
        </p:spPr>
        <p:txBody>
          <a:bodyPr wrap="square" rtlCol="0" anchor="t"/>
          <a:lstStyle/>
          <a:p>
            <a:r>
              <a:t>The clearest market signal: when customers cannot easily see points, value and redemption options, the programme becomes easier to ignore.</a:t>
            </a:r>
          </a:p>
        </p:txBody>
      </p:sp>
      <p:sp>
        <p:nvSpPr>
          <p:cNvPr id="9" name="Shape 7"/>
          <p:cNvSpPr/>
          <p:nvPr/>
        </p:nvSpPr>
        <p:spPr>
          <a:xfrm>
            <a:off x="640080" y="2880360"/>
            <a:ext cx="128016" cy="128016"/>
          </a:xfrm>
          <a:prstGeom prst="ellipse">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914400" y="2779776"/>
            <a:ext cx="1042416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DD1C1F"/>
                </a:solidFill>
                <a:effectLst/>
                <a:uLnTx/>
                <a:uFillTx/>
                <a:latin typeface="Calibri" pitchFamily="34" charset="0"/>
                <a:ea typeface="Calibri" pitchFamily="34" charset="-122"/>
                <a:cs typeface="Calibri" pitchFamily="34" charset="-120"/>
              </a:rPr>
              <a:t>Invisible value gets abandoned</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14400" y="3090672"/>
            <a:ext cx="10424160" cy="594360"/>
          </a:xfrm>
          <a:prstGeom prst="rect">
            <a:avLst/>
          </a:prstGeom>
          <a:noFill/>
          <a:ln/>
        </p:spPr>
        <p:txBody>
          <a:bodyPr wrap="square"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Customers who couldn't easily see what they'd earned, or how to use it, simply stopped engaging.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40080" y="3840480"/>
            <a:ext cx="128016" cy="128016"/>
          </a:xfrm>
          <a:prstGeom prst="ellipse">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914400" y="3739896"/>
            <a:ext cx="1042416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DD1C1F"/>
                </a:solidFill>
                <a:effectLst/>
                <a:uLnTx/>
                <a:uFillTx/>
                <a:latin typeface="Calibri" pitchFamily="34" charset="0"/>
                <a:ea typeface="Calibri" pitchFamily="34" charset="-122"/>
                <a:cs typeface="Calibri" pitchFamily="34" charset="-120"/>
              </a:rPr>
              <a:t>“Pay It Forward” is a defensible asset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914400" y="4050792"/>
            <a:ext cx="10424160" cy="594360"/>
          </a:xfrm>
          <a:prstGeom prst="rect">
            <a:avLst/>
          </a:prstGeom>
          <a:noFill/>
          <a:ln/>
        </p:spPr>
        <p:txBody>
          <a:bodyPr wrap="square"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No competitor offers an equivalent mechanic; this is Shell Velocity's most distinctive lever.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640080" y="4800600"/>
            <a:ext cx="128016" cy="128016"/>
          </a:xfrm>
          <a:prstGeom prst="ellipse">
            <a:avLst/>
          </a:prstGeom>
          <a:solidFill>
            <a:srgbClr val="8C858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914400" y="4700016"/>
            <a:ext cx="1042416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D1614"/>
                </a:solidFill>
                <a:effectLst/>
                <a:uLnTx/>
                <a:uFillTx/>
                <a:latin typeface="Calibri" pitchFamily="34" charset="0"/>
                <a:ea typeface="Calibri" pitchFamily="34" charset="-122"/>
                <a:cs typeface="Calibri" pitchFamily="34" charset="-120"/>
              </a:rPr>
              <a:t>Flexibility that exists on paper isn't flexibility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914400" y="5010912"/>
            <a:ext cx="10424160" cy="594360"/>
          </a:xfrm>
          <a:prstGeom prst="rect">
            <a:avLst/>
          </a:prstGeom>
          <a:noFill/>
          <a:ln/>
        </p:spPr>
        <p:txBody>
          <a:bodyPr wrap="square"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Several programmes offered genuinely flexible redemption: partner catalogues, multiple reward types, tiered perks, but buried those options three or four menus deep, or gated them behind thresholds the customer couldn't see until reached.</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640080" y="5760720"/>
            <a:ext cx="10908792" cy="685800"/>
          </a:xfrm>
          <a:prstGeom prst="rect">
            <a:avLst/>
          </a:prstGeom>
          <a:solidFill>
            <a:srgbClr val="1D161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868680" y="5760720"/>
            <a:ext cx="10424160"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1" u="none" strike="noStrike" kern="1200" cap="none" spc="0" normalizeH="0" baseline="0" noProof="0" dirty="0">
                <a:ln>
                  <a:noFill/>
                </a:ln>
                <a:solidFill>
                  <a:srgbClr val="C9A227"/>
                </a:solidFill>
                <a:effectLst/>
                <a:uLnTx/>
                <a:uFillTx/>
                <a:latin typeface="Calibri" pitchFamily="34" charset="0"/>
                <a:ea typeface="Calibri" pitchFamily="34" charset="-122"/>
                <a:cs typeface="Calibri" pitchFamily="34" charset="-120"/>
              </a:rPr>
              <a:t>Visibility and flexibility must work together, not just exist separately. That combined finding set the direction for the design.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1">
            <a:extLst>
              <a:ext uri="{FF2B5EF4-FFF2-40B4-BE49-F238E27FC236}">
                <a16:creationId xmlns:a16="http://schemas.microsoft.com/office/drawing/2014/main" id="{1352E9FA-71B8-A301-3B61-960226116F85}"/>
              </a:ext>
            </a:extLst>
          </p:cNvPr>
          <p:cNvSpPr/>
          <p:nvPr/>
        </p:nvSpPr>
        <p:spPr>
          <a:xfrm>
            <a:off x="7288272" y="2953764"/>
            <a:ext cx="1965600" cy="1041444"/>
          </a:xfrm>
          <a:prstGeom prst="roundRect">
            <a:avLst>
              <a:gd name="adj" fmla="val 4412"/>
            </a:avLst>
          </a:prstGeom>
          <a:solidFill>
            <a:srgbClr val="0E0F10">
              <a:alpha val="98000"/>
            </a:srgbClr>
          </a:solidFill>
          <a:ln w="8890">
            <a:solidFill>
              <a:srgbClr val="302A25"/>
            </a:solidFill>
            <a:round/>
          </a:ln>
          <a:effectLst/>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23" name="Text 12">
            <a:extLst>
              <a:ext uri="{FF2B5EF4-FFF2-40B4-BE49-F238E27FC236}">
                <a16:creationId xmlns:a16="http://schemas.microsoft.com/office/drawing/2014/main" id="{F4DE4CF5-C043-7D62-5593-DAA2029A16E9}"/>
              </a:ext>
            </a:extLst>
          </p:cNvPr>
          <p:cNvSpPr/>
          <p:nvPr/>
        </p:nvSpPr>
        <p:spPr>
          <a:xfrm>
            <a:off x="7434432" y="3173004"/>
            <a:ext cx="319680" cy="14580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00" b="1" i="0" u="none" strike="noStrike" kern="0" cap="none" spc="0" normalizeH="0" baseline="0" noProof="0">
                <a:ln>
                  <a:noFill/>
                </a:ln>
                <a:solidFill>
                  <a:srgbClr val="FF7A00"/>
                </a:solidFill>
                <a:effectLst/>
                <a:uLnTx/>
                <a:uFillTx/>
                <a:latin typeface="Aptos"/>
                <a:ea typeface="Aptos"/>
                <a:cs typeface="+mn-cs"/>
              </a:rPr>
              <a:t>01</a:t>
            </a:r>
            <a:endParaRPr kumimoji="0" lang="en-US" sz="800" b="0" i="0" u="none" strike="noStrike" kern="0" cap="none" spc="0" normalizeH="0" baseline="0" noProof="0">
              <a:ln>
                <a:noFill/>
              </a:ln>
              <a:solidFill>
                <a:srgbClr val="FFFFFF"/>
              </a:solidFill>
              <a:effectLst/>
              <a:uLnTx/>
              <a:uFillTx/>
              <a:latin typeface="Arial"/>
              <a:ea typeface="+mn-ea"/>
              <a:cs typeface="+mn-cs"/>
            </a:endParaRPr>
          </a:p>
        </p:txBody>
      </p:sp>
      <p:sp>
        <p:nvSpPr>
          <p:cNvPr id="24" name="Text 13">
            <a:extLst>
              <a:ext uri="{FF2B5EF4-FFF2-40B4-BE49-F238E27FC236}">
                <a16:creationId xmlns:a16="http://schemas.microsoft.com/office/drawing/2014/main" id="{45037969-11CE-97F6-8FA2-C006A6788540}"/>
              </a:ext>
            </a:extLst>
          </p:cNvPr>
          <p:cNvSpPr/>
          <p:nvPr/>
        </p:nvSpPr>
        <p:spPr>
          <a:xfrm>
            <a:off x="7434432" y="3465684"/>
            <a:ext cx="1508400" cy="18252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Visibility</a:t>
            </a:r>
            <a:endParaRPr kumimoji="0" lang="en-US" sz="1100" b="0" i="0" u="none" strike="noStrike" kern="0" cap="none" spc="0" normalizeH="0" baseline="0" noProof="0" dirty="0">
              <a:ln>
                <a:noFill/>
              </a:ln>
              <a:solidFill>
                <a:prstClr val="white"/>
              </a:solidFill>
              <a:effectLst/>
              <a:uLnTx/>
              <a:uFillTx/>
              <a:latin typeface="Arial"/>
              <a:ea typeface="+mn-ea"/>
              <a:cs typeface="+mn-cs"/>
            </a:endParaRPr>
          </a:p>
        </p:txBody>
      </p:sp>
      <p:sp>
        <p:nvSpPr>
          <p:cNvPr id="26" name="Shape 15">
            <a:extLst>
              <a:ext uri="{FF2B5EF4-FFF2-40B4-BE49-F238E27FC236}">
                <a16:creationId xmlns:a16="http://schemas.microsoft.com/office/drawing/2014/main" id="{76377140-8065-6E91-C345-6E73FF5CB268}"/>
              </a:ext>
            </a:extLst>
          </p:cNvPr>
          <p:cNvSpPr/>
          <p:nvPr/>
        </p:nvSpPr>
        <p:spPr>
          <a:xfrm>
            <a:off x="9253872" y="3452580"/>
            <a:ext cx="347400" cy="360"/>
          </a:xfrm>
          <a:prstGeom prst="line">
            <a:avLst/>
          </a:prstGeom>
          <a:noFill/>
          <a:ln w="17780">
            <a:solidFill>
              <a:srgbClr val="7A370B"/>
            </a:solidFill>
            <a:round/>
            <a:tailEnd type="triangle" w="med" len="med"/>
          </a:ln>
          <a:effectLst/>
        </p:spPr>
        <p:txBody>
          <a:bodyPr lIns="90000" tIns="-44640" rIns="90000" bIns="-44640" anchor="t"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27" name="Shape 16">
            <a:extLst>
              <a:ext uri="{FF2B5EF4-FFF2-40B4-BE49-F238E27FC236}">
                <a16:creationId xmlns:a16="http://schemas.microsoft.com/office/drawing/2014/main" id="{7F45B013-AB7B-F985-5237-FA11598A1676}"/>
              </a:ext>
            </a:extLst>
          </p:cNvPr>
          <p:cNvSpPr/>
          <p:nvPr/>
        </p:nvSpPr>
        <p:spPr>
          <a:xfrm>
            <a:off x="9583272" y="2953764"/>
            <a:ext cx="1965600" cy="1040364"/>
          </a:xfrm>
          <a:prstGeom prst="roundRect">
            <a:avLst>
              <a:gd name="adj" fmla="val 4412"/>
            </a:avLst>
          </a:prstGeom>
          <a:solidFill>
            <a:srgbClr val="0E0F10">
              <a:alpha val="98000"/>
            </a:srgbClr>
          </a:solidFill>
          <a:ln w="8890">
            <a:solidFill>
              <a:srgbClr val="302A25"/>
            </a:solidFill>
            <a:round/>
          </a:ln>
          <a:effectLst/>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28" name="Text 17">
            <a:extLst>
              <a:ext uri="{FF2B5EF4-FFF2-40B4-BE49-F238E27FC236}">
                <a16:creationId xmlns:a16="http://schemas.microsoft.com/office/drawing/2014/main" id="{3712F531-D9FA-05BD-3AD9-CB835E9DBDC3}"/>
              </a:ext>
            </a:extLst>
          </p:cNvPr>
          <p:cNvSpPr/>
          <p:nvPr/>
        </p:nvSpPr>
        <p:spPr>
          <a:xfrm>
            <a:off x="9729792" y="3173004"/>
            <a:ext cx="319680" cy="14580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00" b="1" i="0" u="none" strike="noStrike" kern="0" cap="none" spc="0" normalizeH="0" baseline="0" noProof="0">
                <a:ln>
                  <a:noFill/>
                </a:ln>
                <a:solidFill>
                  <a:srgbClr val="FF7A00"/>
                </a:solidFill>
                <a:effectLst/>
                <a:uLnTx/>
                <a:uFillTx/>
                <a:latin typeface="Aptos"/>
                <a:ea typeface="Aptos"/>
                <a:cs typeface="+mn-cs"/>
              </a:rPr>
              <a:t>02</a:t>
            </a:r>
            <a:endParaRPr kumimoji="0" lang="en-US" sz="800" b="0" i="0" u="none" strike="noStrike" kern="0" cap="none" spc="0" normalizeH="0" baseline="0" noProof="0">
              <a:ln>
                <a:noFill/>
              </a:ln>
              <a:solidFill>
                <a:srgbClr val="FFFFFF"/>
              </a:solidFill>
              <a:effectLst/>
              <a:uLnTx/>
              <a:uFillTx/>
              <a:latin typeface="Arial"/>
              <a:ea typeface="+mn-ea"/>
              <a:cs typeface="+mn-cs"/>
            </a:endParaRPr>
          </a:p>
        </p:txBody>
      </p:sp>
      <p:sp>
        <p:nvSpPr>
          <p:cNvPr id="29" name="Text 18">
            <a:extLst>
              <a:ext uri="{FF2B5EF4-FFF2-40B4-BE49-F238E27FC236}">
                <a16:creationId xmlns:a16="http://schemas.microsoft.com/office/drawing/2014/main" id="{FB84DBC2-6A38-6B16-A919-04B10D0DECC4}"/>
              </a:ext>
            </a:extLst>
          </p:cNvPr>
          <p:cNvSpPr/>
          <p:nvPr/>
        </p:nvSpPr>
        <p:spPr>
          <a:xfrm>
            <a:off x="9729792" y="3465684"/>
            <a:ext cx="1508400" cy="18252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Flexibility</a:t>
            </a:r>
            <a:endParaRPr kumimoji="0" lang="en-US" sz="1100" b="0" i="0" u="none" strike="noStrike" kern="0" cap="none" spc="0" normalizeH="0" baseline="0" noProof="0" dirty="0">
              <a:ln>
                <a:noFill/>
              </a:ln>
              <a:solidFill>
                <a:prstClr val="white"/>
              </a:solidFill>
              <a:effectLst/>
              <a:uLnTx/>
              <a:uFillTx/>
              <a:latin typeface="Arial"/>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ome/claude/shell_assets/persona_1.png"/>
          <p:cNvPicPr>
            <a:picLocks noChangeAspect="1"/>
          </p:cNvPicPr>
          <p:nvPr/>
        </p:nvPicPr>
        <p:blipFill>
          <a:blip r:embed="rId3"/>
          <a:stretch>
            <a:fillRect/>
          </a:stretch>
        </p:blipFill>
        <p:spPr>
          <a:xfrm>
            <a:off x="640080" y="548640"/>
            <a:ext cx="1737360" cy="1737360"/>
          </a:xfrm>
          <a:prstGeom prst="rect">
            <a:avLst/>
          </a:prstGeom>
        </p:spPr>
      </p:pic>
      <p:sp>
        <p:nvSpPr>
          <p:cNvPr id="3" name="Text 0"/>
          <p:cNvSpPr/>
          <p:nvPr/>
        </p:nvSpPr>
        <p:spPr>
          <a:xfrm>
            <a:off x="2560320" y="502920"/>
            <a:ext cx="54864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8452A"/>
                </a:solidFill>
                <a:effectLst/>
                <a:uLnTx/>
                <a:uFillTx/>
                <a:latin typeface="Arial" pitchFamily="34" charset="0"/>
                <a:ea typeface="Arial" pitchFamily="34" charset="-122"/>
                <a:cs typeface="Arial" pitchFamily="34" charset="-120"/>
              </a:rPr>
              <a:t>Lindiwe Sibanda</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2560320" y="960120"/>
            <a:ext cx="7315200" cy="365760"/>
          </a:xfrm>
          <a:prstGeom prst="rect">
            <a:avLst/>
          </a:prstGeom>
          <a:noFill/>
          <a:ln/>
        </p:spPr>
        <p:txBody>
          <a:bodyPr wrap="square" rtlCol="0" anchor="ctr"/>
          <a:lstStyle/>
          <a:p>
            <a:r>
              <a:t>Hypothesis proto-persona · The Balance- and Value-Conscious Parent</a:t>
            </a:r>
          </a:p>
        </p:txBody>
      </p:sp>
      <p:sp>
        <p:nvSpPr>
          <p:cNvPr id="5" name="Text 2"/>
          <p:cNvSpPr/>
          <p:nvPr/>
        </p:nvSpPr>
        <p:spPr>
          <a:xfrm>
            <a:off x="2560320" y="1463040"/>
            <a:ext cx="68580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D1614"/>
                </a:solidFill>
                <a:effectLst/>
                <a:uLnTx/>
                <a:uFillTx/>
                <a:latin typeface="Calibri" pitchFamily="34" charset="0"/>
                <a:ea typeface="Calibri" pitchFamily="34" charset="-122"/>
                <a:cs typeface="Calibri" pitchFamily="34" charset="-120"/>
              </a:rPr>
              <a:t>Age: </a:t>
            </a:r>
            <a:r>
              <a:rPr kumimoji="0" lang="en-US" sz="1150" b="0"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45</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2560320" y="1737360"/>
            <a:ext cx="68580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D1614"/>
                </a:solidFill>
                <a:effectLst/>
                <a:uLnTx/>
                <a:uFillTx/>
                <a:latin typeface="Calibri" pitchFamily="34" charset="0"/>
                <a:ea typeface="Calibri" pitchFamily="34" charset="-122"/>
                <a:cs typeface="Calibri" pitchFamily="34" charset="-120"/>
              </a:rPr>
              <a:t>Occupation: </a:t>
            </a:r>
            <a:r>
              <a:rPr kumimoji="0" lang="en-US" sz="1150" b="0"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Associate Consultant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2560320" y="2011680"/>
            <a:ext cx="68580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D1614"/>
                </a:solidFill>
                <a:effectLst/>
                <a:uLnTx/>
                <a:uFillTx/>
                <a:latin typeface="Calibri" pitchFamily="34" charset="0"/>
                <a:ea typeface="Calibri" pitchFamily="34" charset="-122"/>
                <a:cs typeface="Calibri" pitchFamily="34" charset="-120"/>
              </a:rPr>
              <a:t>Children: </a:t>
            </a:r>
            <a:r>
              <a:rPr kumimoji="0" lang="en-US" sz="1150" b="0"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2</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2560320" y="2286000"/>
            <a:ext cx="68580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D1614"/>
                </a:solidFill>
                <a:effectLst/>
                <a:uLnTx/>
                <a:uFillTx/>
                <a:latin typeface="Calibri" pitchFamily="34" charset="0"/>
                <a:ea typeface="Calibri" pitchFamily="34" charset="-122"/>
                <a:cs typeface="Calibri" pitchFamily="34" charset="-120"/>
              </a:rPr>
              <a:t>Payment method: </a:t>
            </a:r>
            <a:r>
              <a:rPr kumimoji="0" lang="en-US" sz="1150" b="0" i="0" u="none" strike="noStrike" kern="1200" cap="none" spc="0" normalizeH="0" baseline="0" noProof="0" dirty="0">
                <a:ln>
                  <a:noFill/>
                </a:ln>
                <a:solidFill>
                  <a:srgbClr val="56504B"/>
                </a:solidFill>
                <a:effectLst/>
                <a:uLnTx/>
                <a:uFillTx/>
                <a:latin typeface="Calibri" pitchFamily="34" charset="0"/>
                <a:ea typeface="Calibri" pitchFamily="34" charset="-122"/>
                <a:cs typeface="Calibri" pitchFamily="34" charset="-120"/>
              </a:rPr>
              <a:t>Debit card / occasionally cash</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640080" y="2743200"/>
            <a:ext cx="5120640" cy="1371600"/>
          </a:xfrm>
          <a:prstGeom prst="rect">
            <a:avLst/>
          </a:prstGeom>
          <a:solidFill>
            <a:srgbClr val="A845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822960" y="2852928"/>
            <a:ext cx="47548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sng"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Moment of Truth</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822960" y="3200400"/>
            <a:ext cx="4754880" cy="777240"/>
          </a:xfrm>
          <a:prstGeom prst="rect">
            <a:avLst/>
          </a:prstGeom>
          <a:noFill/>
          <a:ln/>
        </p:spPr>
        <p:txBody>
          <a:bodyPr wrap="square"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“If it saves us money on the school run and the weekend wash, we're in.”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5897880" y="2743200"/>
            <a:ext cx="5650992" cy="1371600"/>
          </a:xfrm>
          <a:prstGeom prst="rect">
            <a:avLst/>
          </a:prstGeom>
          <a:solidFill>
            <a:srgbClr val="A845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6080760" y="2852928"/>
            <a:ext cx="5285232"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sng"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Behaviours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6080760" y="3200400"/>
            <a:ext cx="5285232" cy="777240"/>
          </a:xfrm>
          <a:prstGeom prst="rect">
            <a:avLst/>
          </a:prstGeom>
          <a:noFill/>
          <a:ln/>
        </p:spPr>
        <p:txBody>
          <a:bodyPr wrap="square" rtlCol="0" anchor="t"/>
          <a:lstStyle/>
          <a:p>
            <a:pPr marL="342900" marR="0" lvl="0" indent="-342900" algn="l" defTabSz="914400" rtl="0" eaLnBrk="1" fontAlgn="auto" latinLnBrk="0" hangingPunct="1">
              <a:lnSpc>
                <a:spcPct val="118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Refuels 2–3 times a week, often with her children in the car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8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Uses the convenience store regularly to buy her children snacks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8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Switches between card and cash depending on what she has in her wallet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640080" y="4297680"/>
            <a:ext cx="3520440" cy="1965960"/>
          </a:xfrm>
          <a:prstGeom prst="rect">
            <a:avLst/>
          </a:prstGeom>
          <a:solidFill>
            <a:srgbClr val="A845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822960" y="4407408"/>
            <a:ext cx="3154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sng"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Goal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822960" y="4754880"/>
            <a:ext cx="3154680" cy="1371600"/>
          </a:xfrm>
          <a:prstGeom prst="rect">
            <a:avLst/>
          </a:prstGeom>
          <a:noFill/>
          <a:ln/>
        </p:spPr>
        <p:txBody>
          <a:bodyPr wrap="square" rtlCol="0" anchor="t"/>
          <a:lstStyle/>
          <a:p>
            <a:pPr marL="342900" marR="0" lvl="0" indent="-342900" algn="l" defTabSz="914400" rtl="0" eaLnBrk="1" fontAlgn="auto" latinLnBrk="0" hangingPunct="1">
              <a:lnSpc>
                <a:spcPct val="118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Redeem points across services (fuel, wash, kiosk)</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8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Track shared/family rewards balance easily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8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Stretch family budget further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325112" y="4297680"/>
            <a:ext cx="3520440" cy="1965960"/>
          </a:xfrm>
          <a:prstGeom prst="rect">
            <a:avLst/>
          </a:prstGeom>
          <a:solidFill>
            <a:srgbClr val="A845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4507992" y="4407408"/>
            <a:ext cx="3154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sng"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Frustrations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4507992" y="4754880"/>
            <a:ext cx="3154680" cy="1371600"/>
          </a:xfrm>
          <a:prstGeom prst="rect">
            <a:avLst/>
          </a:prstGeom>
          <a:noFill/>
          <a:ln/>
        </p:spPr>
        <p:txBody>
          <a:bodyPr wrap="square" rtlCol="0" anchor="t"/>
          <a:lstStyle/>
          <a:p>
            <a:pPr marL="342900" marR="0" lvl="0" indent="-342900" algn="l" defTabSz="914400" rtl="0" eaLnBrk="1" fontAlgn="auto" latinLnBrk="0" hangingPunct="1">
              <a:lnSpc>
                <a:spcPct val="118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Redemption restrictions that don't match real spending habits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8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Confusing points-to-value conversions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8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Rewards tied to a single card, restricting shared use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8010144" y="4297680"/>
            <a:ext cx="3520440" cy="1965960"/>
          </a:xfrm>
          <a:prstGeom prst="rect">
            <a:avLst/>
          </a:prstGeom>
          <a:solidFill>
            <a:srgbClr val="A845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8193024" y="4407408"/>
            <a:ext cx="3154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sng"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Motivations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p:nvPr/>
        </p:nvSpPr>
        <p:spPr>
          <a:xfrm>
            <a:off x="8193024" y="4754880"/>
            <a:ext cx="3154680" cy="1371600"/>
          </a:xfrm>
          <a:prstGeom prst="rect">
            <a:avLst/>
          </a:prstGeom>
          <a:noFill/>
          <a:ln/>
        </p:spPr>
        <p:txBody>
          <a:bodyPr wrap="square" rtlCol="0" anchor="t"/>
          <a:lstStyle/>
          <a:p>
            <a:pPr marL="342900" marR="0" lvl="0" indent="-342900" algn="l" defTabSz="914400" rtl="0" eaLnBrk="1" fontAlgn="auto" latinLnBrk="0" hangingPunct="1">
              <a:lnSpc>
                <a:spcPct val="118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Being able to use rewards flexibly across all services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8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Transparency and fairness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18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Tangible, easily understood value systems that aren't confusing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5">
            <a:extLst>
              <a:ext uri="{FF2B5EF4-FFF2-40B4-BE49-F238E27FC236}">
                <a16:creationId xmlns:a16="http://schemas.microsoft.com/office/drawing/2014/main" id="{8DE176F9-B796-342E-7002-AE6AEC0A65C5}"/>
              </a:ext>
            </a:extLst>
          </p:cNvPr>
          <p:cNvSpPr/>
          <p:nvPr/>
        </p:nvSpPr>
        <p:spPr>
          <a:xfrm>
            <a:off x="10523002" y="411480"/>
            <a:ext cx="1253889" cy="640080"/>
          </a:xfrm>
          <a:prstGeom prst="rect">
            <a:avLst/>
          </a:prstGeom>
          <a:noFill/>
          <a:ln/>
        </p:spPr>
        <p:txBody>
          <a:bodyPr wrap="square" rtlCol="0" anchor="ctr"/>
          <a:lstStyle/>
          <a:p>
            <a:r>
              <a:t>Hypothesis 1 of 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D1614"/>
        </a:solidFill>
        <a:effectLst/>
      </p:bgPr>
    </p:bg>
    <p:spTree>
      <p:nvGrpSpPr>
        <p:cNvPr id="1" name=""/>
        <p:cNvGrpSpPr/>
        <p:nvPr/>
      </p:nvGrpSpPr>
      <p:grpSpPr>
        <a:xfrm>
          <a:off x="0" y="0"/>
          <a:ext cx="0" cy="0"/>
          <a:chOff x="0" y="0"/>
          <a:chExt cx="0" cy="0"/>
        </a:xfrm>
      </p:grpSpPr>
      <p:sp>
        <p:nvSpPr>
          <p:cNvPr id="2" name="Shape 0"/>
          <p:cNvSpPr/>
          <p:nvPr/>
        </p:nvSpPr>
        <p:spPr>
          <a:xfrm rot="-1320000">
            <a:off x="9875520" y="571500"/>
            <a:ext cx="2194560" cy="45720"/>
          </a:xfrm>
          <a:prstGeom prst="rect">
            <a:avLst/>
          </a:prstGeom>
          <a:solidFill>
            <a:srgbClr val="F9340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rot="-1320000">
            <a:off x="10021824" y="708660"/>
            <a:ext cx="1901952" cy="45720"/>
          </a:xfrm>
          <a:prstGeom prst="rect">
            <a:avLst/>
          </a:prstGeom>
          <a:solidFill>
            <a:srgbClr val="FDA4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rot="-1320000">
            <a:off x="10168128" y="845820"/>
            <a:ext cx="1609344" cy="45720"/>
          </a:xfrm>
          <a:prstGeom prst="rect">
            <a:avLst/>
          </a:prstGeom>
          <a:solidFill>
            <a:srgbClr val="F9340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rot="-1320000">
            <a:off x="10314432" y="982980"/>
            <a:ext cx="1316736" cy="45720"/>
          </a:xfrm>
          <a:prstGeom prst="rect">
            <a:avLst/>
          </a:prstGeom>
          <a:solidFill>
            <a:srgbClr val="FDA4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rot="-1320000">
            <a:off x="10460736" y="1120140"/>
            <a:ext cx="1024128" cy="45720"/>
          </a:xfrm>
          <a:prstGeom prst="rect">
            <a:avLst/>
          </a:prstGeom>
          <a:solidFill>
            <a:srgbClr val="F9340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40080" y="640080"/>
            <a:ext cx="9144000" cy="640080"/>
          </a:xfrm>
          <a:prstGeom prst="rect">
            <a:avLst/>
          </a:prstGeom>
          <a:noFill/>
          <a:ln/>
        </p:spPr>
        <p:txBody>
          <a:bodyPr wrap="square" rtlCol="0" anchor="ctr"/>
          <a:lstStyle/>
          <a:p>
            <a:r>
              <a:t>What our three hypothesis personas revealed</a:t>
            </a:r>
          </a:p>
        </p:txBody>
      </p:sp>
      <p:sp>
        <p:nvSpPr>
          <p:cNvPr id="8" name="Text 6"/>
          <p:cNvSpPr/>
          <p:nvPr/>
        </p:nvSpPr>
        <p:spPr>
          <a:xfrm>
            <a:off x="640080" y="1371600"/>
            <a:ext cx="9144000"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D9D2C9"/>
                </a:solidFill>
                <a:effectLst/>
                <a:uLnTx/>
                <a:uFillTx/>
                <a:latin typeface="Calibri" pitchFamily="34" charset="0"/>
                <a:ea typeface="Calibri" pitchFamily="34" charset="-122"/>
                <a:cs typeface="Calibri" pitchFamily="34" charset="-120"/>
              </a:rPr>
              <a:t>The common thread beneath all three personas is control:</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85800" y="2066544"/>
            <a:ext cx="128016" cy="128016"/>
          </a:xfrm>
          <a:prstGeom prst="ellipse">
            <a:avLst/>
          </a:prstGeom>
          <a:solidFill>
            <a:srgbClr val="EC88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960120" y="196596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Control over which payment method is used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685800" y="2569464"/>
            <a:ext cx="128016" cy="128016"/>
          </a:xfrm>
          <a:prstGeom prst="ellipse">
            <a:avLst/>
          </a:prstGeom>
          <a:solidFill>
            <a:srgbClr val="EC88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960120" y="24688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Control over where value can be redeemed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85800" y="3072384"/>
            <a:ext cx="128016" cy="128016"/>
          </a:xfrm>
          <a:prstGeom prst="ellipse">
            <a:avLst/>
          </a:prstGeom>
          <a:solidFill>
            <a:srgbClr val="EC88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960120" y="297180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Control over how generosity is expressed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685800" y="3977640"/>
            <a:ext cx="10789920" cy="82296"/>
          </a:xfrm>
          <a:prstGeom prst="rect">
            <a:avLst/>
          </a:prstGeom>
          <a:solidFill>
            <a:srgbClr val="3A2A1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685800" y="3977640"/>
            <a:ext cx="3452774" cy="82296"/>
          </a:xfrm>
          <a:prstGeom prst="rect">
            <a:avLst/>
          </a:prstGeom>
          <a:solidFill>
            <a:srgbClr val="3FA6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8022946" y="3977640"/>
            <a:ext cx="3452774" cy="82296"/>
          </a:xfrm>
          <a:prstGeom prst="rect">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5998464" y="3931920"/>
            <a:ext cx="173736" cy="173736"/>
          </a:xfrm>
          <a:prstGeom prst="ellipse">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685800" y="3520440"/>
            <a:ext cx="27432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dirty="0">
                <a:ln>
                  <a:noFill/>
                </a:ln>
                <a:solidFill>
                  <a:srgbClr val="3FA65A"/>
                </a:solidFill>
                <a:effectLst/>
                <a:uLnTx/>
                <a:uFillTx/>
                <a:latin typeface="Calibri" pitchFamily="34" charset="0"/>
                <a:ea typeface="Calibri" pitchFamily="34" charset="-122"/>
                <a:cs typeface="Calibri" pitchFamily="34" charset="-120"/>
              </a:rPr>
              <a:t>HUMAN CONTROL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732520" y="3520440"/>
            <a:ext cx="2743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dirty="0">
                <a:ln>
                  <a:noFill/>
                </a:ln>
                <a:solidFill>
                  <a:srgbClr val="DD1C1F"/>
                </a:solidFill>
                <a:effectLst/>
                <a:uLnTx/>
                <a:uFillTx/>
                <a:latin typeface="Calibri" pitchFamily="34" charset="0"/>
                <a:ea typeface="Calibri" pitchFamily="34" charset="-122"/>
                <a:cs typeface="Calibri" pitchFamily="34" charset="-120"/>
              </a:rPr>
              <a:t>AUTONOMY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11480" y="4206240"/>
            <a:ext cx="2377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9A9088"/>
                </a:solidFill>
                <a:effectLst/>
                <a:uLnTx/>
                <a:uFillTx/>
                <a:latin typeface="Calibri" pitchFamily="34" charset="0"/>
                <a:ea typeface="Calibri" pitchFamily="34" charset="-122"/>
                <a:cs typeface="Calibri" pitchFamily="34" charset="-120"/>
              </a:rPr>
              <a:t>Fully Autonomous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709160" y="4206240"/>
            <a:ext cx="27432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9A9088"/>
                </a:solidFill>
                <a:effectLst/>
                <a:uLnTx/>
                <a:uFillTx/>
                <a:latin typeface="Calibri" pitchFamily="34" charset="0"/>
                <a:ea typeface="Calibri" pitchFamily="34" charset="-122"/>
                <a:cs typeface="Calibri" pitchFamily="34" charset="-120"/>
              </a:rPr>
              <a:t>Human-Machine Interface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9372600" y="4206240"/>
            <a:ext cx="237744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9A9088"/>
                </a:solidFill>
                <a:effectLst/>
                <a:uLnTx/>
                <a:uFillTx/>
                <a:latin typeface="Calibri" pitchFamily="34" charset="0"/>
                <a:ea typeface="Calibri" pitchFamily="34" charset="-122"/>
                <a:cs typeface="Calibri" pitchFamily="34" charset="-120"/>
              </a:rPr>
              <a:t>Fully Manual</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640080" y="5074920"/>
            <a:ext cx="10908792" cy="777240"/>
          </a:xfrm>
          <a:prstGeom prst="rect">
            <a:avLst/>
          </a:prstGeom>
          <a:solidFill>
            <a:srgbClr val="2A1F1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640080" y="5074920"/>
            <a:ext cx="54864" cy="777240"/>
          </a:xfrm>
          <a:prstGeom prst="rect">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868680" y="5074920"/>
            <a:ext cx="1042416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1" u="none" strike="noStrike" kern="1200" cap="none" spc="0" normalizeH="0" baseline="0" noProof="0" dirty="0">
                <a:ln>
                  <a:noFill/>
                </a:ln>
                <a:solidFill>
                  <a:srgbClr val="F2A65A"/>
                </a:solidFill>
                <a:effectLst/>
                <a:uLnTx/>
                <a:uFillTx/>
                <a:latin typeface="Calibri" pitchFamily="34" charset="0"/>
                <a:ea typeface="Calibri" pitchFamily="34" charset="-122"/>
                <a:cs typeface="Calibri" pitchFamily="34" charset="-120"/>
              </a:rPr>
              <a:t>The MVP's job is to remove the constraints that currently take that control away.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60606"/>
        </a:solidFill>
        <a:effectLst/>
      </p:bgPr>
    </p:bg>
    <p:spTree>
      <p:nvGrpSpPr>
        <p:cNvPr id="1" name=""/>
        <p:cNvGrpSpPr/>
        <p:nvPr/>
      </p:nvGrpSpPr>
      <p:grpSpPr>
        <a:xfrm>
          <a:off x="0" y="0"/>
          <a:ext cx="0" cy="0"/>
          <a:chOff x="0" y="0"/>
          <a:chExt cx="0" cy="0"/>
        </a:xfrm>
      </p:grpSpPr>
      <p:pic>
        <p:nvPicPr>
          <p:cNvPr id="231" name="Image 0" descr="/mnt/data/shell_bg/orange_auto_bg_soft.png"/>
          <p:cNvPicPr/>
          <p:nvPr/>
        </p:nvPicPr>
        <p:blipFill>
          <a:blip r:embed="rId3"/>
          <a:stretch/>
        </p:blipFill>
        <p:spPr>
          <a:xfrm>
            <a:off x="0" y="14514"/>
            <a:ext cx="12191400" cy="6857640"/>
          </a:xfrm>
          <a:prstGeom prst="rect">
            <a:avLst/>
          </a:prstGeom>
          <a:noFill/>
          <a:ln w="0">
            <a:noFill/>
          </a:ln>
        </p:spPr>
      </p:pic>
      <p:sp>
        <p:nvSpPr>
          <p:cNvPr id="235" name="Shape 3"/>
          <p:cNvSpPr/>
          <p:nvPr/>
        </p:nvSpPr>
        <p:spPr>
          <a:xfrm>
            <a:off x="9829800" y="338040"/>
            <a:ext cx="1188720" cy="360"/>
          </a:xfrm>
          <a:prstGeom prst="line">
            <a:avLst/>
          </a:prstGeom>
          <a:ln w="15240">
            <a:solidFill>
              <a:srgbClr val="8A2F0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36" name="Shape 4"/>
          <p:cNvSpPr/>
          <p:nvPr/>
        </p:nvSpPr>
        <p:spPr>
          <a:xfrm rot="720000">
            <a:off x="11118960" y="219240"/>
            <a:ext cx="63720" cy="42948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37" name="Shape 5"/>
          <p:cNvSpPr/>
          <p:nvPr/>
        </p:nvSpPr>
        <p:spPr>
          <a:xfrm rot="720000">
            <a:off x="11228760" y="219240"/>
            <a:ext cx="63720" cy="429480"/>
          </a:xfrm>
          <a:prstGeom prst="parallelogram">
            <a:avLst>
              <a:gd name="adj" fmla="val 25000"/>
            </a:avLst>
          </a:prstGeom>
          <a:solidFill>
            <a:srgbClr val="F15A00"/>
          </a:solidFill>
          <a:ln w="12700">
            <a:solidFill>
              <a:srgbClr val="F15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38" name="Shape 6"/>
          <p:cNvSpPr/>
          <p:nvPr/>
        </p:nvSpPr>
        <p:spPr>
          <a:xfrm rot="720000">
            <a:off x="11338560" y="219240"/>
            <a:ext cx="63720" cy="429480"/>
          </a:xfrm>
          <a:prstGeom prst="parallelogram">
            <a:avLst>
              <a:gd name="adj" fmla="val 25000"/>
            </a:avLst>
          </a:prstGeom>
          <a:solidFill>
            <a:srgbClr val="6B2600"/>
          </a:solidFill>
          <a:ln w="12700">
            <a:solidFill>
              <a:srgbClr val="6B26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40" name="Text 8"/>
          <p:cNvSpPr/>
          <p:nvPr/>
        </p:nvSpPr>
        <p:spPr>
          <a:xfrm>
            <a:off x="745769" y="643269"/>
            <a:ext cx="3565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00" b="1" i="0" u="none" strike="noStrike" kern="1200" cap="none" spc="105" normalizeH="0" baseline="0" noProof="0" dirty="0">
                <a:ln>
                  <a:noFill/>
                </a:ln>
                <a:solidFill>
                  <a:srgbClr val="FF7A00"/>
                </a:solidFill>
                <a:effectLst/>
                <a:uLnTx/>
                <a:uFillTx/>
                <a:latin typeface="Aptos"/>
                <a:ea typeface="Aptos"/>
                <a:cs typeface="+mn-cs"/>
              </a:rPr>
              <a:t>MVP DEFINITION</a:t>
            </a:r>
            <a:endParaRPr kumimoji="0" lang="en-US" sz="800" b="0" i="0" u="none" strike="noStrike" kern="1200" cap="none" spc="0" normalizeH="0" baseline="0" noProof="0" dirty="0">
              <a:ln>
                <a:noFill/>
              </a:ln>
              <a:solidFill>
                <a:srgbClr val="FFFFFF"/>
              </a:solidFill>
              <a:effectLst/>
              <a:uLnTx/>
              <a:uFillTx/>
              <a:latin typeface="Arial"/>
              <a:ea typeface="+mn-ea"/>
              <a:cs typeface="+mn-cs"/>
            </a:endParaRPr>
          </a:p>
        </p:txBody>
      </p:sp>
      <p:sp>
        <p:nvSpPr>
          <p:cNvPr id="241" name="Shape 9"/>
          <p:cNvSpPr/>
          <p:nvPr/>
        </p:nvSpPr>
        <p:spPr>
          <a:xfrm>
            <a:off x="4553640" y="731520"/>
            <a:ext cx="1005840" cy="360"/>
          </a:xfrm>
          <a:prstGeom prst="line">
            <a:avLst/>
          </a:prstGeom>
          <a:ln w="13970">
            <a:solidFill>
              <a:srgbClr val="6B2E0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42" name="Text 10"/>
          <p:cNvSpPr/>
          <p:nvPr/>
        </p:nvSpPr>
        <p:spPr>
          <a:xfrm>
            <a:off x="685800" y="1115640"/>
            <a:ext cx="100580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2700" b="1" i="0" u="none" strike="noStrike" kern="1200" cap="none" spc="0" normalizeH="0" baseline="0" noProof="0" dirty="0">
                <a:ln>
                  <a:noFill/>
                </a:ln>
                <a:solidFill>
                  <a:srgbClr val="F7F5F0"/>
                </a:solidFill>
                <a:effectLst/>
                <a:uLnTx/>
                <a:uFillTx/>
                <a:latin typeface="Aptos Display"/>
                <a:ea typeface="Aptos Display"/>
                <a:cs typeface="+mn-cs"/>
              </a:rPr>
              <a:t>The MVP is four behaviours, not a long feature list.</a:t>
            </a:r>
            <a:endParaRPr kumimoji="0" lang="en-US" sz="2700" b="0" i="0" u="none" strike="noStrike" kern="1200" cap="none" spc="0" normalizeH="0" baseline="0" noProof="0" dirty="0">
              <a:ln>
                <a:noFill/>
              </a:ln>
              <a:solidFill>
                <a:srgbClr val="FFFFFF"/>
              </a:solidFill>
              <a:effectLst/>
              <a:uLnTx/>
              <a:uFillTx/>
              <a:latin typeface="Arial"/>
              <a:ea typeface="+mn-ea"/>
              <a:cs typeface="+mn-cs"/>
            </a:endParaRPr>
          </a:p>
        </p:txBody>
      </p:sp>
      <p:sp>
        <p:nvSpPr>
          <p:cNvPr id="243" name="Shape 11"/>
          <p:cNvSpPr/>
          <p:nvPr/>
        </p:nvSpPr>
        <p:spPr>
          <a:xfrm>
            <a:off x="960120" y="2194560"/>
            <a:ext cx="4251600" cy="52992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44" name="Shape 12"/>
          <p:cNvSpPr/>
          <p:nvPr/>
        </p:nvSpPr>
        <p:spPr>
          <a:xfrm>
            <a:off x="877680" y="2194560"/>
            <a:ext cx="164160" cy="52992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5" name="Text 13"/>
          <p:cNvSpPr/>
          <p:nvPr/>
        </p:nvSpPr>
        <p:spPr>
          <a:xfrm>
            <a:off x="1161360" y="2313360"/>
            <a:ext cx="39405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a:ln>
                  <a:noFill/>
                </a:ln>
                <a:solidFill>
                  <a:srgbClr val="F7F5F0"/>
                </a:solidFill>
                <a:effectLst/>
                <a:uLnTx/>
                <a:uFillTx/>
                <a:latin typeface="Aptos"/>
                <a:ea typeface="Aptos"/>
                <a:cs typeface="+mn-cs"/>
              </a:rPr>
              <a:t>01  SEE IT</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246" name="Text 14"/>
          <p:cNvSpPr/>
          <p:nvPr/>
        </p:nvSpPr>
        <p:spPr>
          <a:xfrm>
            <a:off x="5513760" y="2350080"/>
            <a:ext cx="50745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a:ln>
                  <a:noFill/>
                </a:ln>
                <a:solidFill>
                  <a:srgbClr val="D7D2C9"/>
                </a:solidFill>
                <a:effectLst/>
                <a:uLnTx/>
                <a:uFillTx/>
                <a:latin typeface="Aptos"/>
                <a:ea typeface="Aptos"/>
                <a:cs typeface="+mn-cs"/>
              </a:rPr>
              <a:t>One unified, visible balance</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247" name="Shape 15"/>
          <p:cNvSpPr/>
          <p:nvPr/>
        </p:nvSpPr>
        <p:spPr>
          <a:xfrm>
            <a:off x="960120" y="2907720"/>
            <a:ext cx="4251600" cy="52992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48" name="Shape 16"/>
          <p:cNvSpPr/>
          <p:nvPr/>
        </p:nvSpPr>
        <p:spPr>
          <a:xfrm>
            <a:off x="877680" y="2907720"/>
            <a:ext cx="164160" cy="52992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9" name="Text 17"/>
          <p:cNvSpPr/>
          <p:nvPr/>
        </p:nvSpPr>
        <p:spPr>
          <a:xfrm>
            <a:off x="1161360" y="3026520"/>
            <a:ext cx="39405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a:ln>
                  <a:noFill/>
                </a:ln>
                <a:solidFill>
                  <a:srgbClr val="F7F5F0"/>
                </a:solidFill>
                <a:effectLst/>
                <a:uLnTx/>
                <a:uFillTx/>
                <a:latin typeface="Aptos"/>
                <a:ea typeface="Aptos"/>
                <a:cs typeface="+mn-cs"/>
              </a:rPr>
              <a:t>02  USE IT NOW</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250" name="Text 18"/>
          <p:cNvSpPr/>
          <p:nvPr/>
        </p:nvSpPr>
        <p:spPr>
          <a:xfrm>
            <a:off x="5513760" y="3063240"/>
            <a:ext cx="50745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0" i="0" u="none" strike="noStrike" kern="1200" cap="none" spc="0" normalizeH="0" baseline="0" noProof="0" dirty="0">
                <a:ln>
                  <a:noFill/>
                </a:ln>
                <a:solidFill>
                  <a:srgbClr val="D7D2C9"/>
                </a:solidFill>
                <a:effectLst/>
                <a:uLnTx/>
                <a:uFillTx/>
                <a:latin typeface="Aptos"/>
                <a:ea typeface="Aptos"/>
                <a:cs typeface="+mn-cs"/>
              </a:rPr>
              <a:t>Redeem during the fuel stop</a:t>
            </a:r>
            <a:endParaRPr kumimoji="0" lang="en-US" sz="1100" b="0" i="0" u="none" strike="noStrike" kern="1200" cap="none" spc="0" normalizeH="0" baseline="0" noProof="0" dirty="0">
              <a:ln>
                <a:noFill/>
              </a:ln>
              <a:solidFill>
                <a:srgbClr val="FFFFFF"/>
              </a:solidFill>
              <a:effectLst/>
              <a:uLnTx/>
              <a:uFillTx/>
              <a:latin typeface="Arial"/>
              <a:ea typeface="+mn-ea"/>
              <a:cs typeface="+mn-cs"/>
            </a:endParaRPr>
          </a:p>
        </p:txBody>
      </p:sp>
      <p:sp>
        <p:nvSpPr>
          <p:cNvPr id="251" name="Shape 19"/>
          <p:cNvSpPr/>
          <p:nvPr/>
        </p:nvSpPr>
        <p:spPr>
          <a:xfrm>
            <a:off x="960120" y="3620880"/>
            <a:ext cx="4251600" cy="52992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52" name="Shape 20"/>
          <p:cNvSpPr/>
          <p:nvPr/>
        </p:nvSpPr>
        <p:spPr>
          <a:xfrm>
            <a:off x="877680" y="3620880"/>
            <a:ext cx="164160" cy="52992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3" name="Text 21"/>
          <p:cNvSpPr/>
          <p:nvPr/>
        </p:nvSpPr>
        <p:spPr>
          <a:xfrm>
            <a:off x="1161360" y="3740040"/>
            <a:ext cx="39405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a:ln>
                  <a:noFill/>
                </a:ln>
                <a:solidFill>
                  <a:srgbClr val="F7F5F0"/>
                </a:solidFill>
                <a:effectLst/>
                <a:uLnTx/>
                <a:uFillTx/>
                <a:latin typeface="Aptos"/>
                <a:ea typeface="Aptos"/>
                <a:cs typeface="+mn-cs"/>
              </a:rPr>
              <a:t>03  PAY MY WAY</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254" name="Text 22"/>
          <p:cNvSpPr/>
          <p:nvPr/>
        </p:nvSpPr>
        <p:spPr>
          <a:xfrm>
            <a:off x="5513760" y="3776400"/>
            <a:ext cx="50745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0" i="0" u="none" strike="noStrike" kern="1200" cap="none" spc="0" normalizeH="0" baseline="0" noProof="0">
                <a:ln>
                  <a:noFill/>
                </a:ln>
                <a:solidFill>
                  <a:srgbClr val="D7D2C9"/>
                </a:solidFill>
                <a:effectLst/>
                <a:uLnTx/>
                <a:uFillTx/>
                <a:latin typeface="Aptos"/>
                <a:ea typeface="Aptos"/>
                <a:cs typeface="+mn-cs"/>
              </a:rPr>
              <a:t>Keep payment card-agnostic</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255" name="Shape 23"/>
          <p:cNvSpPr/>
          <p:nvPr/>
        </p:nvSpPr>
        <p:spPr>
          <a:xfrm>
            <a:off x="960120" y="4334400"/>
            <a:ext cx="4251600" cy="52992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56" name="Shape 24"/>
          <p:cNvSpPr/>
          <p:nvPr/>
        </p:nvSpPr>
        <p:spPr>
          <a:xfrm>
            <a:off x="877680" y="4334400"/>
            <a:ext cx="164160" cy="52992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7" name="Text 25"/>
          <p:cNvSpPr/>
          <p:nvPr/>
        </p:nvSpPr>
        <p:spPr>
          <a:xfrm>
            <a:off x="1161360" y="4453200"/>
            <a:ext cx="39405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a:ln>
                  <a:noFill/>
                </a:ln>
                <a:solidFill>
                  <a:srgbClr val="F7F5F0"/>
                </a:solidFill>
                <a:effectLst/>
                <a:uLnTx/>
                <a:uFillTx/>
                <a:latin typeface="Aptos"/>
                <a:ea typeface="Aptos"/>
                <a:cs typeface="+mn-cs"/>
              </a:rPr>
              <a:t>04  THANK CLEARLY</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258" name="Text 26"/>
          <p:cNvSpPr/>
          <p:nvPr/>
        </p:nvSpPr>
        <p:spPr>
          <a:xfrm>
            <a:off x="5513760" y="4489560"/>
            <a:ext cx="50745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0" i="0" u="none" strike="noStrike" kern="1200" cap="none" spc="0" normalizeH="0" baseline="0" noProof="0">
                <a:ln>
                  <a:noFill/>
                </a:ln>
                <a:solidFill>
                  <a:srgbClr val="D7D2C9"/>
                </a:solidFill>
                <a:effectLst/>
                <a:uLnTx/>
                <a:uFillTx/>
                <a:latin typeface="Aptos"/>
                <a:ea typeface="Aptos"/>
                <a:cs typeface="+mn-cs"/>
              </a:rPr>
              <a:t>Separate digital tipping from redemption</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259" name="Shape 27"/>
          <p:cNvSpPr/>
          <p:nvPr/>
        </p:nvSpPr>
        <p:spPr>
          <a:xfrm>
            <a:off x="685800" y="5266800"/>
            <a:ext cx="10807920" cy="658080"/>
          </a:xfrm>
          <a:prstGeom prst="roundRect">
            <a:avLst>
              <a:gd name="adj" fmla="val 9722"/>
            </a:avLst>
          </a:prstGeom>
          <a:solidFill>
            <a:srgbClr val="111214">
              <a:alpha val="98000"/>
            </a:srgbClr>
          </a:solidFill>
          <a:ln w="8890">
            <a:solidFill>
              <a:srgbClr val="322A2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60" name="Text 28"/>
          <p:cNvSpPr/>
          <p:nvPr/>
        </p:nvSpPr>
        <p:spPr>
          <a:xfrm>
            <a:off x="951120" y="5504760"/>
            <a:ext cx="169128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00" b="1" i="0" u="none" strike="noStrike" kern="1200" cap="none" spc="91" normalizeH="0" baseline="0" noProof="0">
                <a:ln>
                  <a:noFill/>
                </a:ln>
                <a:solidFill>
                  <a:srgbClr val="FF7A00"/>
                </a:solidFill>
                <a:effectLst/>
                <a:uLnTx/>
                <a:uFillTx/>
                <a:latin typeface="Aptos"/>
                <a:ea typeface="Aptos"/>
                <a:cs typeface="+mn-cs"/>
              </a:rPr>
              <a:t>PRODUCT PRINCIPLE</a:t>
            </a:r>
            <a:endParaRPr kumimoji="0" lang="en-US" sz="800" b="0" i="0" u="none" strike="noStrike" kern="1200" cap="none" spc="0" normalizeH="0" baseline="0" noProof="0">
              <a:ln>
                <a:noFill/>
              </a:ln>
              <a:solidFill>
                <a:srgbClr val="FFFFFF"/>
              </a:solidFill>
              <a:effectLst/>
              <a:uLnTx/>
              <a:uFillTx/>
              <a:latin typeface="Arial"/>
              <a:ea typeface="+mn-ea"/>
              <a:cs typeface="+mn-cs"/>
            </a:endParaRPr>
          </a:p>
        </p:txBody>
      </p:sp>
      <p:sp>
        <p:nvSpPr>
          <p:cNvPr id="261" name="Text 29"/>
          <p:cNvSpPr/>
          <p:nvPr/>
        </p:nvSpPr>
        <p:spPr>
          <a:xfrm>
            <a:off x="2880360" y="5468040"/>
            <a:ext cx="78634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220" b="1" i="0" u="none" strike="noStrike" kern="1200" cap="none" spc="0" normalizeH="0" baseline="0" noProof="0" dirty="0">
                <a:ln>
                  <a:noFill/>
                </a:ln>
                <a:solidFill>
                  <a:srgbClr val="F7F5F0"/>
                </a:solidFill>
                <a:effectLst/>
                <a:uLnTx/>
                <a:uFillTx/>
                <a:latin typeface="Aptos"/>
                <a:ea typeface="Aptos"/>
                <a:cs typeface="+mn-cs"/>
              </a:rPr>
              <a:t>If it does not help at the pump, it does not belong in the MVP.</a:t>
            </a:r>
            <a:endParaRPr kumimoji="0" lang="en-US" sz="1220" b="0" i="0" u="none" strike="noStrike" kern="1200" cap="none" spc="0" normalizeH="0" baseline="0" noProof="0" dirty="0">
              <a:ln>
                <a:noFill/>
              </a:ln>
              <a:solidFill>
                <a:srgbClr val="FFFFFF"/>
              </a:solidFill>
              <a:effectLst/>
              <a:uLnTx/>
              <a:uFillTx/>
              <a:latin typeface="Arial"/>
              <a:ea typeface="+mn-ea"/>
              <a:cs typeface="+mn-cs"/>
            </a:endParaRPr>
          </a:p>
        </p:txBody>
      </p:sp>
      <p:sp>
        <p:nvSpPr>
          <p:cNvPr id="263" name="Text 31"/>
          <p:cNvSpPr/>
          <p:nvPr/>
        </p:nvSpPr>
        <p:spPr>
          <a:xfrm>
            <a:off x="11201400" y="6501240"/>
            <a:ext cx="36540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r" defTabSz="914400" rtl="0" eaLnBrk="1" fontAlgn="auto" latinLnBrk="0" hangingPunct="1">
              <a:lnSpc>
                <a:spcPct val="100000"/>
              </a:lnSpc>
              <a:spcBef>
                <a:spcPts val="0"/>
              </a:spcBef>
              <a:spcAft>
                <a:spcPts val="0"/>
              </a:spcAft>
              <a:buClrTx/>
              <a:buSzTx/>
              <a:buFontTx/>
              <a:buNone/>
              <a:tabLst>
                <a:tab pos="0" algn="l"/>
              </a:tabLst>
              <a:defRPr/>
            </a:pPr>
            <a:endParaRPr kumimoji="0" lang="en-US" sz="700" b="0" i="0" u="none" strike="noStrike" kern="1200" cap="none" spc="0" normalizeH="0" baseline="0" noProof="0" dirty="0">
              <a:ln>
                <a:noFill/>
              </a:ln>
              <a:solidFill>
                <a:srgbClr val="FFFFFF"/>
              </a:solidFill>
              <a:effectLst/>
              <a:uLnTx/>
              <a:uFillTx/>
              <a:latin typeface="Arial"/>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DD1C1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640080" y="502920"/>
            <a:ext cx="384048"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92"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092"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70432" y="502920"/>
            <a:ext cx="86868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20" normalizeH="0" baseline="0" noProof="0" dirty="0">
                <a:ln>
                  <a:noFill/>
                </a:ln>
                <a:solidFill>
                  <a:srgbClr val="EC8800"/>
                </a:solidFill>
                <a:effectLst/>
                <a:uLnTx/>
                <a:uFillTx/>
                <a:latin typeface="Calibri" pitchFamily="34" charset="0"/>
                <a:ea typeface="Calibri" pitchFamily="34" charset="-122"/>
                <a:cs typeface="Calibri" pitchFamily="34" charset="-120"/>
              </a:rPr>
              <a:t>MVP DEFINITION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40080" y="1051560"/>
            <a:ext cx="105156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D1614"/>
                </a:solidFill>
                <a:effectLst/>
                <a:uLnTx/>
                <a:uFillTx/>
                <a:latin typeface="Arial" pitchFamily="34" charset="0"/>
                <a:ea typeface="Arial" pitchFamily="34" charset="-122"/>
                <a:cs typeface="Arial" pitchFamily="34" charset="-120"/>
              </a:rPr>
              <a:t>Core MVP success matrix</a:t>
            </a:r>
            <a:endParaRPr kumimoji="0" lang="en-US" sz="2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40080" y="173736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50" normalizeH="0" baseline="0" noProof="0" dirty="0">
                <a:ln>
                  <a:noFill/>
                </a:ln>
                <a:solidFill>
                  <a:srgbClr val="EC8800"/>
                </a:solidFill>
                <a:effectLst/>
                <a:uLnTx/>
                <a:uFillTx/>
                <a:latin typeface="Calibri" pitchFamily="34" charset="0"/>
                <a:ea typeface="Calibri" pitchFamily="34" charset="-122"/>
                <a:cs typeface="Calibri" pitchFamily="34" charset="-120"/>
              </a:rPr>
              <a:t>How I'd measure success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12">
            <a:extLst>
              <a:ext uri="{FF2B5EF4-FFF2-40B4-BE49-F238E27FC236}">
                <a16:creationId xmlns:a16="http://schemas.microsoft.com/office/drawing/2014/main" id="{3CA8A0AA-DA88-08B7-7622-2D8D3A956062}"/>
              </a:ext>
            </a:extLst>
          </p:cNvPr>
          <p:cNvSpPr/>
          <p:nvPr/>
        </p:nvSpPr>
        <p:spPr>
          <a:xfrm>
            <a:off x="685800" y="2450520"/>
            <a:ext cx="10807920" cy="877320"/>
          </a:xfrm>
          <a:prstGeom prst="roundRect">
            <a:avLst>
              <a:gd name="adj" fmla="val 6250"/>
            </a:avLst>
          </a:prstGeom>
          <a:solidFill>
            <a:srgbClr val="101112">
              <a:alpha val="98000"/>
            </a:srgbClr>
          </a:solidFill>
          <a:ln w="8890">
            <a:solidFill>
              <a:srgbClr val="302A25"/>
            </a:solidFill>
            <a:round/>
          </a:ln>
          <a:effectLst/>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31" name="Text 13">
            <a:extLst>
              <a:ext uri="{FF2B5EF4-FFF2-40B4-BE49-F238E27FC236}">
                <a16:creationId xmlns:a16="http://schemas.microsoft.com/office/drawing/2014/main" id="{C5FA6F64-F90D-F0C6-72DC-1A3F8DD4B82D}"/>
              </a:ext>
            </a:extLst>
          </p:cNvPr>
          <p:cNvSpPr/>
          <p:nvPr/>
        </p:nvSpPr>
        <p:spPr>
          <a:xfrm>
            <a:off x="932760" y="2706480"/>
            <a:ext cx="328680" cy="16416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50" b="1" i="0" u="none" strike="noStrike" kern="0" cap="none" spc="0" normalizeH="0" baseline="0" noProof="0">
                <a:ln>
                  <a:noFill/>
                </a:ln>
                <a:solidFill>
                  <a:srgbClr val="97938C"/>
                </a:solidFill>
                <a:effectLst/>
                <a:uLnTx/>
                <a:uFillTx/>
                <a:latin typeface="Aptos"/>
                <a:ea typeface="Aptos"/>
                <a:cs typeface="+mn-cs"/>
              </a:rPr>
              <a:t>01</a:t>
            </a:r>
            <a:endParaRPr kumimoji="0" lang="en-US" sz="850" b="0" i="0" u="none" strike="noStrike" kern="0" cap="none" spc="0" normalizeH="0" baseline="0" noProof="0">
              <a:ln>
                <a:noFill/>
              </a:ln>
              <a:solidFill>
                <a:srgbClr val="FFFFFF"/>
              </a:solidFill>
              <a:effectLst/>
              <a:uLnTx/>
              <a:uFillTx/>
              <a:latin typeface="Arial"/>
              <a:ea typeface="+mn-ea"/>
              <a:cs typeface="+mn-cs"/>
            </a:endParaRPr>
          </a:p>
        </p:txBody>
      </p:sp>
      <p:sp>
        <p:nvSpPr>
          <p:cNvPr id="32" name="Text 14">
            <a:extLst>
              <a:ext uri="{FF2B5EF4-FFF2-40B4-BE49-F238E27FC236}">
                <a16:creationId xmlns:a16="http://schemas.microsoft.com/office/drawing/2014/main" id="{D0EE320A-A425-5721-B469-EA909D7C26F4}"/>
              </a:ext>
            </a:extLst>
          </p:cNvPr>
          <p:cNvSpPr/>
          <p:nvPr/>
        </p:nvSpPr>
        <p:spPr>
          <a:xfrm>
            <a:off x="1444680" y="2651760"/>
            <a:ext cx="2194200" cy="16416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20" b="1" i="0" u="none" strike="noStrike" kern="0" cap="none" spc="0" normalizeH="0" baseline="0" noProof="0">
                <a:ln>
                  <a:noFill/>
                </a:ln>
                <a:solidFill>
                  <a:srgbClr val="F7F5F0"/>
                </a:solidFill>
                <a:effectLst/>
                <a:uLnTx/>
                <a:uFillTx/>
                <a:latin typeface="Aptos"/>
                <a:ea typeface="Aptos"/>
                <a:cs typeface="+mn-cs"/>
              </a:rPr>
              <a:t>SIGN-UP RATE</a:t>
            </a:r>
            <a:endParaRPr kumimoji="0" lang="en-US" sz="1020" b="0" i="0" u="none" strike="noStrike" kern="0" cap="none" spc="0" normalizeH="0" baseline="0" noProof="0">
              <a:ln>
                <a:noFill/>
              </a:ln>
              <a:solidFill>
                <a:srgbClr val="FFFFFF"/>
              </a:solidFill>
              <a:effectLst/>
              <a:uLnTx/>
              <a:uFillTx/>
              <a:latin typeface="Arial"/>
              <a:ea typeface="+mn-ea"/>
              <a:cs typeface="+mn-cs"/>
            </a:endParaRPr>
          </a:p>
        </p:txBody>
      </p:sp>
      <p:sp>
        <p:nvSpPr>
          <p:cNvPr id="33" name="Text 15">
            <a:extLst>
              <a:ext uri="{FF2B5EF4-FFF2-40B4-BE49-F238E27FC236}">
                <a16:creationId xmlns:a16="http://schemas.microsoft.com/office/drawing/2014/main" id="{632E8128-86D7-BA44-4945-41BCE9538529}"/>
              </a:ext>
            </a:extLst>
          </p:cNvPr>
          <p:cNvSpPr/>
          <p:nvPr/>
        </p:nvSpPr>
        <p:spPr>
          <a:xfrm>
            <a:off x="3877200" y="2706260"/>
            <a:ext cx="1298160" cy="164160"/>
          </a:xfrm>
          <a:prstGeom prst="rect">
            <a:avLst/>
          </a:prstGeom>
          <a:noFill/>
          <a:ln w="0">
            <a:noFill/>
          </a:ln>
          <a:effectLst/>
        </p:spPr>
        <p:txBody>
          <a:bodyPr lIns="0" tIns="0" rIns="0" bIns="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880" b="1" i="0" u="none" strike="noStrike" kern="0" cap="none" spc="0" normalizeH="0" baseline="0" noProof="0" dirty="0">
                <a:ln>
                  <a:noFill/>
                </a:ln>
                <a:solidFill>
                  <a:srgbClr val="C00000"/>
                </a:solidFill>
                <a:effectLst/>
                <a:uLnTx/>
                <a:uFillTx/>
                <a:latin typeface="Aptos"/>
                <a:ea typeface="Aptos"/>
                <a:cs typeface="+mn-cs"/>
              </a:rPr>
              <a:t>REJECTED</a:t>
            </a:r>
            <a:endParaRPr kumimoji="0" lang="en-US" sz="880" b="0" i="0" u="none" strike="noStrike" kern="0" cap="none" spc="0" normalizeH="0" baseline="0" noProof="0" dirty="0">
              <a:ln>
                <a:noFill/>
              </a:ln>
              <a:solidFill>
                <a:srgbClr val="C00000"/>
              </a:solidFill>
              <a:effectLst/>
              <a:uLnTx/>
              <a:uFillTx/>
              <a:latin typeface="Arial"/>
              <a:ea typeface="+mn-ea"/>
              <a:cs typeface="+mn-cs"/>
            </a:endParaRPr>
          </a:p>
        </p:txBody>
      </p:sp>
      <p:sp>
        <p:nvSpPr>
          <p:cNvPr id="34" name="Text 16">
            <a:extLst>
              <a:ext uri="{FF2B5EF4-FFF2-40B4-BE49-F238E27FC236}">
                <a16:creationId xmlns:a16="http://schemas.microsoft.com/office/drawing/2014/main" id="{1D173E9E-BABC-3C41-E239-7F6A70661DAC}"/>
              </a:ext>
            </a:extLst>
          </p:cNvPr>
          <p:cNvSpPr/>
          <p:nvPr/>
        </p:nvSpPr>
        <p:spPr>
          <a:xfrm>
            <a:off x="5449680" y="2633400"/>
            <a:ext cx="5193360" cy="27396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989" b="0" i="0" u="none" strike="noStrike" kern="0" cap="none" spc="0" normalizeH="0" baseline="0" noProof="0">
                <a:ln>
                  <a:noFill/>
                </a:ln>
                <a:solidFill>
                  <a:srgbClr val="D7D2C9"/>
                </a:solidFill>
                <a:effectLst/>
                <a:uLnTx/>
                <a:uFillTx/>
                <a:latin typeface="Aptos"/>
                <a:ea typeface="Aptos"/>
                <a:cs typeface="+mn-cs"/>
              </a:rPr>
              <a:t>Curiosity can be bought; it does not prove behaviour changed.</a:t>
            </a:r>
            <a:endParaRPr kumimoji="0" lang="en-US" sz="989" b="0" i="0" u="none" strike="noStrike" kern="0" cap="none" spc="0" normalizeH="0" baseline="0" noProof="0">
              <a:ln>
                <a:noFill/>
              </a:ln>
              <a:solidFill>
                <a:srgbClr val="FFFFFF"/>
              </a:solidFill>
              <a:effectLst/>
              <a:uLnTx/>
              <a:uFillTx/>
              <a:latin typeface="Arial"/>
              <a:ea typeface="+mn-ea"/>
              <a:cs typeface="+mn-cs"/>
            </a:endParaRPr>
          </a:p>
        </p:txBody>
      </p:sp>
      <p:sp>
        <p:nvSpPr>
          <p:cNvPr id="35" name="Shape 17">
            <a:extLst>
              <a:ext uri="{FF2B5EF4-FFF2-40B4-BE49-F238E27FC236}">
                <a16:creationId xmlns:a16="http://schemas.microsoft.com/office/drawing/2014/main" id="{E25FE018-400C-C9CF-A62D-17754467F4F4}"/>
              </a:ext>
            </a:extLst>
          </p:cNvPr>
          <p:cNvSpPr/>
          <p:nvPr/>
        </p:nvSpPr>
        <p:spPr>
          <a:xfrm>
            <a:off x="685800" y="3511440"/>
            <a:ext cx="10807920" cy="877320"/>
          </a:xfrm>
          <a:prstGeom prst="roundRect">
            <a:avLst>
              <a:gd name="adj" fmla="val 6250"/>
            </a:avLst>
          </a:prstGeom>
          <a:solidFill>
            <a:srgbClr val="101112">
              <a:alpha val="98000"/>
            </a:srgbClr>
          </a:solidFill>
          <a:ln w="8890">
            <a:solidFill>
              <a:srgbClr val="302A25"/>
            </a:solidFill>
            <a:round/>
          </a:ln>
          <a:effectLst/>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36" name="Text 18">
            <a:extLst>
              <a:ext uri="{FF2B5EF4-FFF2-40B4-BE49-F238E27FC236}">
                <a16:creationId xmlns:a16="http://schemas.microsoft.com/office/drawing/2014/main" id="{D31D11DC-790E-23F2-9B1A-036F349508E8}"/>
              </a:ext>
            </a:extLst>
          </p:cNvPr>
          <p:cNvSpPr/>
          <p:nvPr/>
        </p:nvSpPr>
        <p:spPr>
          <a:xfrm>
            <a:off x="932760" y="3767400"/>
            <a:ext cx="328680" cy="16416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50" b="1" i="0" u="none" strike="noStrike" kern="0" cap="none" spc="0" normalizeH="0" baseline="0" noProof="0">
                <a:ln>
                  <a:noFill/>
                </a:ln>
                <a:solidFill>
                  <a:srgbClr val="97938C"/>
                </a:solidFill>
                <a:effectLst/>
                <a:uLnTx/>
                <a:uFillTx/>
                <a:latin typeface="Aptos"/>
                <a:ea typeface="Aptos"/>
                <a:cs typeface="+mn-cs"/>
              </a:rPr>
              <a:t>02</a:t>
            </a:r>
            <a:endParaRPr kumimoji="0" lang="en-US" sz="850" b="0" i="0" u="none" strike="noStrike" kern="0" cap="none" spc="0" normalizeH="0" baseline="0" noProof="0">
              <a:ln>
                <a:noFill/>
              </a:ln>
              <a:solidFill>
                <a:srgbClr val="FFFFFF"/>
              </a:solidFill>
              <a:effectLst/>
              <a:uLnTx/>
              <a:uFillTx/>
              <a:latin typeface="Arial"/>
              <a:ea typeface="+mn-ea"/>
              <a:cs typeface="+mn-cs"/>
            </a:endParaRPr>
          </a:p>
        </p:txBody>
      </p:sp>
      <p:sp>
        <p:nvSpPr>
          <p:cNvPr id="37" name="Text 19">
            <a:extLst>
              <a:ext uri="{FF2B5EF4-FFF2-40B4-BE49-F238E27FC236}">
                <a16:creationId xmlns:a16="http://schemas.microsoft.com/office/drawing/2014/main" id="{C7E5F81F-81B3-D122-3149-634443E6CA0E}"/>
              </a:ext>
            </a:extLst>
          </p:cNvPr>
          <p:cNvSpPr/>
          <p:nvPr/>
        </p:nvSpPr>
        <p:spPr>
          <a:xfrm>
            <a:off x="1444680" y="3712320"/>
            <a:ext cx="2194200" cy="16416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20" b="1" i="0" u="none" strike="noStrike" kern="0" cap="none" spc="0" normalizeH="0" baseline="0" noProof="0">
                <a:ln>
                  <a:noFill/>
                </a:ln>
                <a:solidFill>
                  <a:srgbClr val="F7F5F0"/>
                </a:solidFill>
                <a:effectLst/>
                <a:uLnTx/>
                <a:uFillTx/>
                <a:latin typeface="Aptos"/>
                <a:ea typeface="Aptos"/>
                <a:cs typeface="+mn-cs"/>
              </a:rPr>
              <a:t>REDEMPTION RATE</a:t>
            </a:r>
            <a:endParaRPr kumimoji="0" lang="en-US" sz="1020" b="0" i="0" u="none" strike="noStrike" kern="0" cap="none" spc="0" normalizeH="0" baseline="0" noProof="0">
              <a:ln>
                <a:noFill/>
              </a:ln>
              <a:solidFill>
                <a:srgbClr val="FFFFFF"/>
              </a:solidFill>
              <a:effectLst/>
              <a:uLnTx/>
              <a:uFillTx/>
              <a:latin typeface="Arial"/>
              <a:ea typeface="+mn-ea"/>
              <a:cs typeface="+mn-cs"/>
            </a:endParaRPr>
          </a:p>
        </p:txBody>
      </p:sp>
      <p:sp>
        <p:nvSpPr>
          <p:cNvPr id="38" name="Text 20">
            <a:extLst>
              <a:ext uri="{FF2B5EF4-FFF2-40B4-BE49-F238E27FC236}">
                <a16:creationId xmlns:a16="http://schemas.microsoft.com/office/drawing/2014/main" id="{07908499-101B-7B82-BD17-1BCC0804B2E8}"/>
              </a:ext>
            </a:extLst>
          </p:cNvPr>
          <p:cNvSpPr/>
          <p:nvPr/>
        </p:nvSpPr>
        <p:spPr>
          <a:xfrm>
            <a:off x="3877200" y="3766820"/>
            <a:ext cx="1298160" cy="164160"/>
          </a:xfrm>
          <a:prstGeom prst="rect">
            <a:avLst/>
          </a:prstGeom>
          <a:noFill/>
          <a:ln w="0">
            <a:noFill/>
          </a:ln>
          <a:effectLst/>
        </p:spPr>
        <p:txBody>
          <a:bodyPr lIns="0" tIns="0" rIns="0" bIns="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880" b="1" i="0" u="none" strike="noStrike" kern="0" cap="none" spc="0" normalizeH="0" baseline="0" noProof="0" dirty="0">
                <a:ln>
                  <a:noFill/>
                </a:ln>
                <a:solidFill>
                  <a:srgbClr val="FFB000"/>
                </a:solidFill>
                <a:effectLst/>
                <a:uLnTx/>
                <a:uFillTx/>
                <a:latin typeface="Aptos"/>
                <a:ea typeface="Aptos"/>
                <a:cs typeface="+mn-cs"/>
              </a:rPr>
              <a:t>SECONDARY</a:t>
            </a:r>
            <a:endParaRPr kumimoji="0" lang="en-US" sz="880" b="0" i="0" u="none" strike="noStrike" kern="0" cap="none" spc="0" normalizeH="0" baseline="0" noProof="0" dirty="0">
              <a:ln>
                <a:noFill/>
              </a:ln>
              <a:solidFill>
                <a:srgbClr val="FFFFFF"/>
              </a:solidFill>
              <a:effectLst/>
              <a:uLnTx/>
              <a:uFillTx/>
              <a:latin typeface="Arial"/>
              <a:ea typeface="+mn-ea"/>
              <a:cs typeface="+mn-cs"/>
            </a:endParaRPr>
          </a:p>
        </p:txBody>
      </p:sp>
      <p:sp>
        <p:nvSpPr>
          <p:cNvPr id="39" name="Text 21">
            <a:extLst>
              <a:ext uri="{FF2B5EF4-FFF2-40B4-BE49-F238E27FC236}">
                <a16:creationId xmlns:a16="http://schemas.microsoft.com/office/drawing/2014/main" id="{077A1377-5F62-BB18-C8CA-A8329AD4260F}"/>
              </a:ext>
            </a:extLst>
          </p:cNvPr>
          <p:cNvSpPr/>
          <p:nvPr/>
        </p:nvSpPr>
        <p:spPr>
          <a:xfrm>
            <a:off x="5449680" y="3694320"/>
            <a:ext cx="5193360" cy="27396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989" b="0" i="0" u="none" strike="noStrike" kern="0" cap="none" spc="0" normalizeH="0" baseline="0" noProof="0">
                <a:ln>
                  <a:noFill/>
                </a:ln>
                <a:solidFill>
                  <a:srgbClr val="D7D2C9"/>
                </a:solidFill>
                <a:effectLst/>
                <a:uLnTx/>
                <a:uFillTx/>
                <a:latin typeface="Aptos"/>
                <a:ea typeface="Aptos"/>
                <a:cs typeface="+mn-cs"/>
              </a:rPr>
              <a:t>Proves the flow works, but not whether the customer returns.</a:t>
            </a:r>
            <a:endParaRPr kumimoji="0" lang="en-US" sz="989" b="0" i="0" u="none" strike="noStrike" kern="0" cap="none" spc="0" normalizeH="0" baseline="0" noProof="0">
              <a:ln>
                <a:noFill/>
              </a:ln>
              <a:solidFill>
                <a:srgbClr val="FFFFFF"/>
              </a:solidFill>
              <a:effectLst/>
              <a:uLnTx/>
              <a:uFillTx/>
              <a:latin typeface="Arial"/>
              <a:ea typeface="+mn-ea"/>
              <a:cs typeface="+mn-cs"/>
            </a:endParaRPr>
          </a:p>
        </p:txBody>
      </p:sp>
      <p:sp>
        <p:nvSpPr>
          <p:cNvPr id="40" name="Shape 22">
            <a:extLst>
              <a:ext uri="{FF2B5EF4-FFF2-40B4-BE49-F238E27FC236}">
                <a16:creationId xmlns:a16="http://schemas.microsoft.com/office/drawing/2014/main" id="{1100AB7F-F15F-417F-01B3-CFB53D9B2A2A}"/>
              </a:ext>
            </a:extLst>
          </p:cNvPr>
          <p:cNvSpPr/>
          <p:nvPr/>
        </p:nvSpPr>
        <p:spPr>
          <a:xfrm>
            <a:off x="685800" y="4572000"/>
            <a:ext cx="10807920" cy="877320"/>
          </a:xfrm>
          <a:prstGeom prst="roundRect">
            <a:avLst>
              <a:gd name="adj" fmla="val 6250"/>
            </a:avLst>
          </a:prstGeom>
          <a:solidFill>
            <a:srgbClr val="101112">
              <a:alpha val="98000"/>
            </a:srgbClr>
          </a:solidFill>
          <a:ln w="8890">
            <a:solidFill>
              <a:srgbClr val="302A25"/>
            </a:solidFill>
            <a:round/>
          </a:ln>
          <a:effectLst/>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41" name="Text 23">
            <a:extLst>
              <a:ext uri="{FF2B5EF4-FFF2-40B4-BE49-F238E27FC236}">
                <a16:creationId xmlns:a16="http://schemas.microsoft.com/office/drawing/2014/main" id="{AB008250-A1AD-5ADF-B1C6-C9DFB35C4D91}"/>
              </a:ext>
            </a:extLst>
          </p:cNvPr>
          <p:cNvSpPr/>
          <p:nvPr/>
        </p:nvSpPr>
        <p:spPr>
          <a:xfrm>
            <a:off x="932760" y="4827960"/>
            <a:ext cx="328680" cy="16416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50" b="1" i="0" u="none" strike="noStrike" kern="0" cap="none" spc="0" normalizeH="0" baseline="0" noProof="0">
                <a:ln>
                  <a:noFill/>
                </a:ln>
                <a:solidFill>
                  <a:srgbClr val="97938C"/>
                </a:solidFill>
                <a:effectLst/>
                <a:uLnTx/>
                <a:uFillTx/>
                <a:latin typeface="Aptos"/>
                <a:ea typeface="Aptos"/>
                <a:cs typeface="+mn-cs"/>
              </a:rPr>
              <a:t>03</a:t>
            </a:r>
            <a:endParaRPr kumimoji="0" lang="en-US" sz="850" b="0" i="0" u="none" strike="noStrike" kern="0" cap="none" spc="0" normalizeH="0" baseline="0" noProof="0">
              <a:ln>
                <a:noFill/>
              </a:ln>
              <a:solidFill>
                <a:srgbClr val="FFFFFF"/>
              </a:solidFill>
              <a:effectLst/>
              <a:uLnTx/>
              <a:uFillTx/>
              <a:latin typeface="Arial"/>
              <a:ea typeface="+mn-ea"/>
              <a:cs typeface="+mn-cs"/>
            </a:endParaRPr>
          </a:p>
        </p:txBody>
      </p:sp>
      <p:sp>
        <p:nvSpPr>
          <p:cNvPr id="42" name="Text 24">
            <a:extLst>
              <a:ext uri="{FF2B5EF4-FFF2-40B4-BE49-F238E27FC236}">
                <a16:creationId xmlns:a16="http://schemas.microsoft.com/office/drawing/2014/main" id="{ACB0A9C7-D336-FC58-F488-DBC517D65D14}"/>
              </a:ext>
            </a:extLst>
          </p:cNvPr>
          <p:cNvSpPr/>
          <p:nvPr/>
        </p:nvSpPr>
        <p:spPr>
          <a:xfrm>
            <a:off x="1444680" y="4773240"/>
            <a:ext cx="2194200" cy="16416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20" b="1" i="0" u="none" strike="noStrike" kern="0" cap="none" spc="0" normalizeH="0" baseline="0" noProof="0">
                <a:ln>
                  <a:noFill/>
                </a:ln>
                <a:solidFill>
                  <a:srgbClr val="F7F5F0"/>
                </a:solidFill>
                <a:effectLst/>
                <a:uLnTx/>
                <a:uFillTx/>
                <a:latin typeface="Aptos"/>
                <a:ea typeface="Aptos"/>
                <a:cs typeface="+mn-cs"/>
              </a:rPr>
              <a:t>REPEAT ENGAGEMENT</a:t>
            </a:r>
            <a:endParaRPr kumimoji="0" lang="en-US" sz="1020" b="0" i="0" u="none" strike="noStrike" kern="0" cap="none" spc="0" normalizeH="0" baseline="0" noProof="0">
              <a:ln>
                <a:noFill/>
              </a:ln>
              <a:solidFill>
                <a:srgbClr val="FFFFFF"/>
              </a:solidFill>
              <a:effectLst/>
              <a:uLnTx/>
              <a:uFillTx/>
              <a:latin typeface="Arial"/>
              <a:ea typeface="+mn-ea"/>
              <a:cs typeface="+mn-cs"/>
            </a:endParaRPr>
          </a:p>
        </p:txBody>
      </p:sp>
      <p:sp>
        <p:nvSpPr>
          <p:cNvPr id="43" name="Text 25">
            <a:extLst>
              <a:ext uri="{FF2B5EF4-FFF2-40B4-BE49-F238E27FC236}">
                <a16:creationId xmlns:a16="http://schemas.microsoft.com/office/drawing/2014/main" id="{B5B2543D-D93F-733F-E312-A9E8F8C1379F}"/>
              </a:ext>
            </a:extLst>
          </p:cNvPr>
          <p:cNvSpPr/>
          <p:nvPr/>
        </p:nvSpPr>
        <p:spPr>
          <a:xfrm>
            <a:off x="3877200" y="4827380"/>
            <a:ext cx="1298160" cy="164160"/>
          </a:xfrm>
          <a:prstGeom prst="rect">
            <a:avLst/>
          </a:prstGeom>
          <a:noFill/>
          <a:ln w="0">
            <a:noFill/>
          </a:ln>
          <a:effectLst/>
        </p:spPr>
        <p:txBody>
          <a:bodyPr lIns="0" tIns="0" rIns="0" bIns="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880" b="1" i="0" u="none" strike="noStrike" kern="0" cap="none" spc="0" normalizeH="0" baseline="0" noProof="0" dirty="0">
                <a:ln>
                  <a:noFill/>
                </a:ln>
                <a:solidFill>
                  <a:srgbClr val="50C878"/>
                </a:solidFill>
                <a:effectLst/>
                <a:uLnTx/>
                <a:uFillTx/>
                <a:latin typeface="Aptos"/>
                <a:ea typeface="Aptos"/>
                <a:cs typeface="+mn-cs"/>
              </a:rPr>
              <a:t>PRIMARY</a:t>
            </a:r>
            <a:endParaRPr kumimoji="0" lang="en-US" sz="880" b="0" i="0" u="none" strike="noStrike" kern="0" cap="none" spc="0" normalizeH="0" baseline="0" noProof="0" dirty="0">
              <a:ln>
                <a:noFill/>
              </a:ln>
              <a:solidFill>
                <a:srgbClr val="FFFFFF"/>
              </a:solidFill>
              <a:effectLst/>
              <a:uLnTx/>
              <a:uFillTx/>
              <a:latin typeface="Arial"/>
              <a:ea typeface="+mn-ea"/>
              <a:cs typeface="+mn-cs"/>
            </a:endParaRPr>
          </a:p>
        </p:txBody>
      </p:sp>
      <p:sp>
        <p:nvSpPr>
          <p:cNvPr id="44" name="Text 26">
            <a:extLst>
              <a:ext uri="{FF2B5EF4-FFF2-40B4-BE49-F238E27FC236}">
                <a16:creationId xmlns:a16="http://schemas.microsoft.com/office/drawing/2014/main" id="{39CD77DD-282D-213F-44EC-E6CC236E421D}"/>
              </a:ext>
            </a:extLst>
          </p:cNvPr>
          <p:cNvSpPr/>
          <p:nvPr/>
        </p:nvSpPr>
        <p:spPr>
          <a:xfrm>
            <a:off x="5449680" y="4754880"/>
            <a:ext cx="5193360" cy="27396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989" b="1" i="0" u="none" strike="noStrike" kern="0" cap="none" spc="0" normalizeH="0" baseline="0" noProof="0">
                <a:ln>
                  <a:noFill/>
                </a:ln>
                <a:solidFill>
                  <a:srgbClr val="D7D2C9"/>
                </a:solidFill>
                <a:effectLst/>
                <a:uLnTx/>
                <a:uFillTx/>
                <a:latin typeface="Aptos"/>
                <a:ea typeface="Aptos"/>
                <a:cs typeface="+mn-cs"/>
              </a:rPr>
              <a:t>Directly tests whether visibility and control create habit.</a:t>
            </a:r>
            <a:endParaRPr kumimoji="0" lang="en-US" sz="989" b="0" i="0" u="none" strike="noStrike" kern="0" cap="none" spc="0" normalizeH="0" baseline="0" noProof="0">
              <a:ln>
                <a:noFill/>
              </a:ln>
              <a:solidFill>
                <a:srgbClr val="FFFFFF"/>
              </a:solidFill>
              <a:effectLst/>
              <a:uLnTx/>
              <a:uFillTx/>
              <a:latin typeface="Arial"/>
              <a:ea typeface="+mn-ea"/>
              <a:cs typeface="+mn-cs"/>
            </a:endParaRPr>
          </a:p>
        </p:txBody>
      </p:sp>
      <p:sp>
        <p:nvSpPr>
          <p:cNvPr id="45" name="Shape 27">
            <a:extLst>
              <a:ext uri="{FF2B5EF4-FFF2-40B4-BE49-F238E27FC236}">
                <a16:creationId xmlns:a16="http://schemas.microsoft.com/office/drawing/2014/main" id="{0F973F05-86B5-938F-61E4-98E40771E843}"/>
              </a:ext>
            </a:extLst>
          </p:cNvPr>
          <p:cNvSpPr/>
          <p:nvPr/>
        </p:nvSpPr>
        <p:spPr>
          <a:xfrm>
            <a:off x="685800" y="5641920"/>
            <a:ext cx="3328200" cy="895680"/>
          </a:xfrm>
          <a:prstGeom prst="roundRect">
            <a:avLst>
              <a:gd name="adj" fmla="val 6122"/>
            </a:avLst>
          </a:prstGeom>
          <a:solidFill>
            <a:srgbClr val="101112">
              <a:alpha val="98000"/>
            </a:srgbClr>
          </a:solidFill>
          <a:ln w="8890">
            <a:solidFill>
              <a:srgbClr val="2E2A26"/>
            </a:solidFill>
            <a:round/>
          </a:ln>
          <a:effectLst/>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46" name="Text 28">
            <a:extLst>
              <a:ext uri="{FF2B5EF4-FFF2-40B4-BE49-F238E27FC236}">
                <a16:creationId xmlns:a16="http://schemas.microsoft.com/office/drawing/2014/main" id="{F3AA61AF-7CC6-6ED8-5694-D8C0C0E17FD5}"/>
              </a:ext>
            </a:extLst>
          </p:cNvPr>
          <p:cNvSpPr/>
          <p:nvPr/>
        </p:nvSpPr>
        <p:spPr>
          <a:xfrm>
            <a:off x="850320" y="5760720"/>
            <a:ext cx="2998800" cy="310680"/>
          </a:xfrm>
          <a:prstGeom prst="rect">
            <a:avLst/>
          </a:prstGeom>
          <a:noFill/>
          <a:ln w="0">
            <a:noFill/>
          </a:ln>
          <a:effectLst/>
        </p:spPr>
        <p:txBody>
          <a:bodyPr lIns="0" tIns="0" rIns="0" bIns="0" anchor="t">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2300" b="1" i="0" u="none" strike="noStrike" kern="0" cap="none" spc="0" normalizeH="0" baseline="0" noProof="0">
                <a:ln>
                  <a:noFill/>
                </a:ln>
                <a:solidFill>
                  <a:srgbClr val="F7F5F0"/>
                </a:solidFill>
                <a:effectLst/>
                <a:uLnTx/>
                <a:uFillTx/>
                <a:latin typeface="Aptos Display"/>
                <a:ea typeface="Aptos Display"/>
                <a:cs typeface="+mn-cs"/>
              </a:rPr>
              <a:t>30/60</a:t>
            </a:r>
            <a:endParaRPr kumimoji="0" lang="en-US" sz="2300" b="0" i="0" u="none" strike="noStrike" kern="0" cap="none" spc="0" normalizeH="0" baseline="0" noProof="0">
              <a:ln>
                <a:noFill/>
              </a:ln>
              <a:solidFill>
                <a:srgbClr val="FFFFFF"/>
              </a:solidFill>
              <a:effectLst/>
              <a:uLnTx/>
              <a:uFillTx/>
              <a:latin typeface="Arial"/>
              <a:ea typeface="+mn-ea"/>
              <a:cs typeface="+mn-cs"/>
            </a:endParaRPr>
          </a:p>
        </p:txBody>
      </p:sp>
      <p:sp>
        <p:nvSpPr>
          <p:cNvPr id="47" name="Shape 29">
            <a:extLst>
              <a:ext uri="{FF2B5EF4-FFF2-40B4-BE49-F238E27FC236}">
                <a16:creationId xmlns:a16="http://schemas.microsoft.com/office/drawing/2014/main" id="{6E5DB84B-1AF8-97CA-00B7-067311E19079}"/>
              </a:ext>
            </a:extLst>
          </p:cNvPr>
          <p:cNvSpPr/>
          <p:nvPr/>
        </p:nvSpPr>
        <p:spPr>
          <a:xfrm>
            <a:off x="850320" y="6181200"/>
            <a:ext cx="566640" cy="31680"/>
          </a:xfrm>
          <a:prstGeom prst="rect">
            <a:avLst/>
          </a:prstGeom>
          <a:solidFill>
            <a:srgbClr val="FF7A00"/>
          </a:solidFill>
          <a:ln w="12700">
            <a:solidFill>
              <a:srgbClr val="FF7A00"/>
            </a:solidFill>
            <a:round/>
          </a:ln>
          <a:effectLst/>
        </p:spPr>
        <p:txBody>
          <a:bodyPr lIns="90000" tIns="-12960" rIns="90000" bIns="-1296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mn-cs"/>
            </a:endParaRPr>
          </a:p>
        </p:txBody>
      </p:sp>
      <p:sp>
        <p:nvSpPr>
          <p:cNvPr id="48" name="Text 30">
            <a:extLst>
              <a:ext uri="{FF2B5EF4-FFF2-40B4-BE49-F238E27FC236}">
                <a16:creationId xmlns:a16="http://schemas.microsoft.com/office/drawing/2014/main" id="{C1C68113-AF0F-11B0-9D1C-26BBCF255A5D}"/>
              </a:ext>
            </a:extLst>
          </p:cNvPr>
          <p:cNvSpPr/>
          <p:nvPr/>
        </p:nvSpPr>
        <p:spPr>
          <a:xfrm>
            <a:off x="850320" y="6282000"/>
            <a:ext cx="3053880" cy="16416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20" b="0" i="0" u="none" strike="noStrike" kern="0" cap="none" spc="0" normalizeH="0" baseline="0" noProof="0">
                <a:ln>
                  <a:noFill/>
                </a:ln>
                <a:solidFill>
                  <a:srgbClr val="97938C"/>
                </a:solidFill>
                <a:effectLst/>
                <a:uLnTx/>
                <a:uFillTx/>
                <a:latin typeface="Aptos"/>
                <a:ea typeface="Aptos"/>
                <a:cs typeface="+mn-cs"/>
              </a:rPr>
              <a:t>day return rate</a:t>
            </a:r>
            <a:endParaRPr kumimoji="0" lang="en-US" sz="820" b="0" i="0" u="none" strike="noStrike" kern="0" cap="none" spc="0" normalizeH="0" baseline="0" noProof="0">
              <a:ln>
                <a:noFill/>
              </a:ln>
              <a:solidFill>
                <a:srgbClr val="FFFFFF"/>
              </a:solidFill>
              <a:effectLst/>
              <a:uLnTx/>
              <a:uFillTx/>
              <a:latin typeface="Arial"/>
              <a:ea typeface="+mn-ea"/>
              <a:cs typeface="+mn-cs"/>
            </a:endParaRPr>
          </a:p>
        </p:txBody>
      </p:sp>
      <p:sp>
        <p:nvSpPr>
          <p:cNvPr id="49" name="Shape 31">
            <a:extLst>
              <a:ext uri="{FF2B5EF4-FFF2-40B4-BE49-F238E27FC236}">
                <a16:creationId xmlns:a16="http://schemas.microsoft.com/office/drawing/2014/main" id="{21521BCF-4FFA-1464-C64C-4646C93A9D7D}"/>
              </a:ext>
            </a:extLst>
          </p:cNvPr>
          <p:cNvSpPr/>
          <p:nvPr/>
        </p:nvSpPr>
        <p:spPr>
          <a:xfrm>
            <a:off x="4169520" y="5641920"/>
            <a:ext cx="3328200" cy="895680"/>
          </a:xfrm>
          <a:prstGeom prst="roundRect">
            <a:avLst>
              <a:gd name="adj" fmla="val 6122"/>
            </a:avLst>
          </a:prstGeom>
          <a:solidFill>
            <a:srgbClr val="101112">
              <a:alpha val="98000"/>
            </a:srgbClr>
          </a:solidFill>
          <a:ln w="8890">
            <a:solidFill>
              <a:srgbClr val="2E2A26"/>
            </a:solidFill>
            <a:round/>
          </a:ln>
          <a:effectLst/>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50" name="Text 32">
            <a:extLst>
              <a:ext uri="{FF2B5EF4-FFF2-40B4-BE49-F238E27FC236}">
                <a16:creationId xmlns:a16="http://schemas.microsoft.com/office/drawing/2014/main" id="{BCE59CAD-9E5B-DFBE-9F16-A1E455A76023}"/>
              </a:ext>
            </a:extLst>
          </p:cNvPr>
          <p:cNvSpPr/>
          <p:nvPr/>
        </p:nvSpPr>
        <p:spPr>
          <a:xfrm>
            <a:off x="4334400" y="5760720"/>
            <a:ext cx="2998800" cy="310680"/>
          </a:xfrm>
          <a:prstGeom prst="rect">
            <a:avLst/>
          </a:prstGeom>
          <a:noFill/>
          <a:ln w="0">
            <a:noFill/>
          </a:ln>
          <a:effectLst/>
        </p:spPr>
        <p:txBody>
          <a:bodyPr lIns="0" tIns="0" rIns="0" bIns="0" anchor="t">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2300" b="1" i="0" u="none" strike="noStrike" kern="0" cap="none" spc="0" normalizeH="0" baseline="0" noProof="0">
                <a:ln>
                  <a:noFill/>
                </a:ln>
                <a:solidFill>
                  <a:srgbClr val="F7F5F0"/>
                </a:solidFill>
                <a:effectLst/>
                <a:uLnTx/>
                <a:uFillTx/>
                <a:latin typeface="Aptos Display"/>
                <a:ea typeface="Aptos Display"/>
                <a:cs typeface="+mn-cs"/>
              </a:rPr>
              <a:t>PRIMARY</a:t>
            </a:r>
            <a:endParaRPr kumimoji="0" lang="en-US" sz="2300" b="0" i="0" u="none" strike="noStrike" kern="0" cap="none" spc="0" normalizeH="0" baseline="0" noProof="0">
              <a:ln>
                <a:noFill/>
              </a:ln>
              <a:solidFill>
                <a:srgbClr val="FFFFFF"/>
              </a:solidFill>
              <a:effectLst/>
              <a:uLnTx/>
              <a:uFillTx/>
              <a:latin typeface="Arial"/>
              <a:ea typeface="+mn-ea"/>
              <a:cs typeface="+mn-cs"/>
            </a:endParaRPr>
          </a:p>
        </p:txBody>
      </p:sp>
      <p:sp>
        <p:nvSpPr>
          <p:cNvPr id="51" name="Shape 33">
            <a:extLst>
              <a:ext uri="{FF2B5EF4-FFF2-40B4-BE49-F238E27FC236}">
                <a16:creationId xmlns:a16="http://schemas.microsoft.com/office/drawing/2014/main" id="{40B3DA37-4259-FC0F-B1A4-0E17B670902A}"/>
              </a:ext>
            </a:extLst>
          </p:cNvPr>
          <p:cNvSpPr/>
          <p:nvPr/>
        </p:nvSpPr>
        <p:spPr>
          <a:xfrm>
            <a:off x="4334400" y="6181200"/>
            <a:ext cx="566640" cy="31680"/>
          </a:xfrm>
          <a:prstGeom prst="rect">
            <a:avLst/>
          </a:prstGeom>
          <a:solidFill>
            <a:srgbClr val="50C878"/>
          </a:solidFill>
          <a:ln w="12700">
            <a:solidFill>
              <a:srgbClr val="50C878"/>
            </a:solidFill>
            <a:round/>
          </a:ln>
          <a:effectLst/>
        </p:spPr>
        <p:txBody>
          <a:bodyPr lIns="90000" tIns="-12960" rIns="90000" bIns="-1296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mn-cs"/>
            </a:endParaRPr>
          </a:p>
        </p:txBody>
      </p:sp>
      <p:sp>
        <p:nvSpPr>
          <p:cNvPr id="52" name="Text 34">
            <a:extLst>
              <a:ext uri="{FF2B5EF4-FFF2-40B4-BE49-F238E27FC236}">
                <a16:creationId xmlns:a16="http://schemas.microsoft.com/office/drawing/2014/main" id="{E25985A4-A2FB-8F2C-4598-992E97A99FE0}"/>
              </a:ext>
            </a:extLst>
          </p:cNvPr>
          <p:cNvSpPr/>
          <p:nvPr/>
        </p:nvSpPr>
        <p:spPr>
          <a:xfrm>
            <a:off x="4334400" y="6282000"/>
            <a:ext cx="3053880" cy="16416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20" b="0" i="0" u="none" strike="noStrike" kern="0" cap="none" spc="0" normalizeH="0" baseline="0" noProof="0">
                <a:ln>
                  <a:noFill/>
                </a:ln>
                <a:solidFill>
                  <a:srgbClr val="97938C"/>
                </a:solidFill>
                <a:effectLst/>
                <a:uLnTx/>
                <a:uFillTx/>
                <a:latin typeface="Aptos"/>
                <a:ea typeface="Aptos"/>
                <a:cs typeface="+mn-cs"/>
              </a:rPr>
              <a:t>repeat engagement</a:t>
            </a:r>
            <a:endParaRPr kumimoji="0" lang="en-US" sz="820" b="0" i="0" u="none" strike="noStrike" kern="0" cap="none" spc="0" normalizeH="0" baseline="0" noProof="0">
              <a:ln>
                <a:noFill/>
              </a:ln>
              <a:solidFill>
                <a:srgbClr val="FFFFFF"/>
              </a:solidFill>
              <a:effectLst/>
              <a:uLnTx/>
              <a:uFillTx/>
              <a:latin typeface="Arial"/>
              <a:ea typeface="+mn-ea"/>
              <a:cs typeface="+mn-cs"/>
            </a:endParaRPr>
          </a:p>
        </p:txBody>
      </p:sp>
      <p:sp>
        <p:nvSpPr>
          <p:cNvPr id="53" name="Shape 35">
            <a:extLst>
              <a:ext uri="{FF2B5EF4-FFF2-40B4-BE49-F238E27FC236}">
                <a16:creationId xmlns:a16="http://schemas.microsoft.com/office/drawing/2014/main" id="{C58C3A3C-EEDC-4E47-F9BF-9CE19559E555}"/>
              </a:ext>
            </a:extLst>
          </p:cNvPr>
          <p:cNvSpPr/>
          <p:nvPr/>
        </p:nvSpPr>
        <p:spPr>
          <a:xfrm>
            <a:off x="7671960" y="5641920"/>
            <a:ext cx="3821760" cy="895680"/>
          </a:xfrm>
          <a:prstGeom prst="roundRect">
            <a:avLst>
              <a:gd name="adj" fmla="val 6122"/>
            </a:avLst>
          </a:prstGeom>
          <a:solidFill>
            <a:srgbClr val="101112">
              <a:alpha val="98000"/>
            </a:srgbClr>
          </a:solidFill>
          <a:ln w="8890">
            <a:solidFill>
              <a:srgbClr val="2E2A26"/>
            </a:solidFill>
            <a:round/>
          </a:ln>
          <a:effectLst/>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54" name="Text 36">
            <a:extLst>
              <a:ext uri="{FF2B5EF4-FFF2-40B4-BE49-F238E27FC236}">
                <a16:creationId xmlns:a16="http://schemas.microsoft.com/office/drawing/2014/main" id="{A3A64C46-F54D-3503-EBB0-FA38298BC1CD}"/>
              </a:ext>
            </a:extLst>
          </p:cNvPr>
          <p:cNvSpPr/>
          <p:nvPr/>
        </p:nvSpPr>
        <p:spPr>
          <a:xfrm>
            <a:off x="7836480" y="5760720"/>
            <a:ext cx="3492720" cy="310680"/>
          </a:xfrm>
          <a:prstGeom prst="rect">
            <a:avLst/>
          </a:prstGeom>
          <a:noFill/>
          <a:ln w="0">
            <a:noFill/>
          </a:ln>
          <a:effectLst/>
        </p:spPr>
        <p:txBody>
          <a:bodyPr lIns="0" tIns="0" rIns="0" bIns="0" anchor="t">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2300" b="1" i="0" u="none" strike="noStrike" kern="0" cap="none" spc="0" normalizeH="0" baseline="0" noProof="0">
                <a:ln>
                  <a:noFill/>
                </a:ln>
                <a:solidFill>
                  <a:srgbClr val="F7F5F0"/>
                </a:solidFill>
                <a:effectLst/>
                <a:uLnTx/>
                <a:uFillTx/>
                <a:latin typeface="Aptos Display"/>
                <a:ea typeface="Aptos Display"/>
                <a:cs typeface="+mn-cs"/>
              </a:rPr>
              <a:t>WHY</a:t>
            </a:r>
            <a:endParaRPr kumimoji="0" lang="en-US" sz="2300" b="0" i="0" u="none" strike="noStrike" kern="0" cap="none" spc="0" normalizeH="0" baseline="0" noProof="0">
              <a:ln>
                <a:noFill/>
              </a:ln>
              <a:solidFill>
                <a:srgbClr val="FFFFFF"/>
              </a:solidFill>
              <a:effectLst/>
              <a:uLnTx/>
              <a:uFillTx/>
              <a:latin typeface="Arial"/>
              <a:ea typeface="+mn-ea"/>
              <a:cs typeface="+mn-cs"/>
            </a:endParaRPr>
          </a:p>
        </p:txBody>
      </p:sp>
      <p:sp>
        <p:nvSpPr>
          <p:cNvPr id="55" name="Shape 37">
            <a:extLst>
              <a:ext uri="{FF2B5EF4-FFF2-40B4-BE49-F238E27FC236}">
                <a16:creationId xmlns:a16="http://schemas.microsoft.com/office/drawing/2014/main" id="{D43F24F0-4BCD-2559-124D-D5FB48EC7F57}"/>
              </a:ext>
            </a:extLst>
          </p:cNvPr>
          <p:cNvSpPr/>
          <p:nvPr/>
        </p:nvSpPr>
        <p:spPr>
          <a:xfrm>
            <a:off x="7836480" y="6181200"/>
            <a:ext cx="566640" cy="31680"/>
          </a:xfrm>
          <a:prstGeom prst="rect">
            <a:avLst/>
          </a:prstGeom>
          <a:solidFill>
            <a:srgbClr val="FFB000"/>
          </a:solidFill>
          <a:ln w="12700">
            <a:solidFill>
              <a:srgbClr val="FFB000"/>
            </a:solidFill>
            <a:round/>
          </a:ln>
          <a:effectLst/>
        </p:spPr>
        <p:txBody>
          <a:bodyPr lIns="90000" tIns="-12960" rIns="90000" bIns="-1296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mn-cs"/>
            </a:endParaRPr>
          </a:p>
        </p:txBody>
      </p:sp>
      <p:sp>
        <p:nvSpPr>
          <p:cNvPr id="56" name="Text 38">
            <a:extLst>
              <a:ext uri="{FF2B5EF4-FFF2-40B4-BE49-F238E27FC236}">
                <a16:creationId xmlns:a16="http://schemas.microsoft.com/office/drawing/2014/main" id="{557F0815-4ED8-A3B5-F77A-BC9A1348D86B}"/>
              </a:ext>
            </a:extLst>
          </p:cNvPr>
          <p:cNvSpPr/>
          <p:nvPr/>
        </p:nvSpPr>
        <p:spPr>
          <a:xfrm>
            <a:off x="7836480" y="6282000"/>
            <a:ext cx="3547440" cy="164160"/>
          </a:xfrm>
          <a:prstGeom prst="rect">
            <a:avLst/>
          </a:prstGeom>
          <a:noFill/>
          <a:ln w="0">
            <a:noFill/>
          </a:ln>
          <a:effectLst/>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20" b="0" i="0" u="none" strike="noStrike" kern="0" cap="none" spc="0" normalizeH="0" baseline="0" noProof="0">
                <a:ln>
                  <a:noFill/>
                </a:ln>
                <a:solidFill>
                  <a:srgbClr val="97938C"/>
                </a:solidFill>
                <a:effectLst/>
                <a:uLnTx/>
                <a:uFillTx/>
                <a:latin typeface="Aptos"/>
                <a:ea typeface="Aptos"/>
                <a:cs typeface="+mn-cs"/>
              </a:rPr>
              <a:t>the experience should earn another stop</a:t>
            </a:r>
            <a:endParaRPr kumimoji="0" lang="en-US" sz="820" b="0" i="0" u="none" strike="noStrike" kern="0" cap="none" spc="0" normalizeH="0" baseline="0" noProof="0">
              <a:ln>
                <a:noFill/>
              </a:ln>
              <a:solidFill>
                <a:srgbClr val="FFFFFF"/>
              </a:solidFill>
              <a:effectLst/>
              <a:uLnTx/>
              <a:uFillTx/>
              <a:latin typeface="Arial"/>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60606"/>
        </a:solidFill>
        <a:effectLst/>
      </p:bgPr>
    </p:bg>
    <p:spTree>
      <p:nvGrpSpPr>
        <p:cNvPr id="1" name=""/>
        <p:cNvGrpSpPr/>
        <p:nvPr/>
      </p:nvGrpSpPr>
      <p:grpSpPr>
        <a:xfrm>
          <a:off x="0" y="0"/>
          <a:ext cx="0" cy="0"/>
          <a:chOff x="0" y="0"/>
          <a:chExt cx="0" cy="0"/>
        </a:xfrm>
      </p:grpSpPr>
      <p:pic>
        <p:nvPicPr>
          <p:cNvPr id="306" name="Image 0" descr="/mnt/data/shell_bg/orange_auto_bg_soft.png"/>
          <p:cNvPicPr/>
          <p:nvPr/>
        </p:nvPicPr>
        <p:blipFill>
          <a:blip r:embed="rId3"/>
          <a:stretch/>
        </p:blipFill>
        <p:spPr>
          <a:xfrm>
            <a:off x="0" y="0"/>
            <a:ext cx="12191400" cy="6857640"/>
          </a:xfrm>
          <a:prstGeom prst="rect">
            <a:avLst/>
          </a:prstGeom>
          <a:noFill/>
          <a:ln w="0">
            <a:noFill/>
          </a:ln>
        </p:spPr>
      </p:pic>
      <p:sp>
        <p:nvSpPr>
          <p:cNvPr id="310" name="Shape 3"/>
          <p:cNvSpPr/>
          <p:nvPr/>
        </p:nvSpPr>
        <p:spPr>
          <a:xfrm>
            <a:off x="9829800" y="338040"/>
            <a:ext cx="1188720" cy="360"/>
          </a:xfrm>
          <a:prstGeom prst="line">
            <a:avLst/>
          </a:prstGeom>
          <a:ln w="15240">
            <a:solidFill>
              <a:srgbClr val="8A2F0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11" name="Shape 4"/>
          <p:cNvSpPr/>
          <p:nvPr/>
        </p:nvSpPr>
        <p:spPr>
          <a:xfrm rot="720000">
            <a:off x="11118960" y="219240"/>
            <a:ext cx="63720" cy="42948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12" name="Shape 5"/>
          <p:cNvSpPr/>
          <p:nvPr/>
        </p:nvSpPr>
        <p:spPr>
          <a:xfrm rot="720000">
            <a:off x="11228760" y="219240"/>
            <a:ext cx="63720" cy="429480"/>
          </a:xfrm>
          <a:prstGeom prst="parallelogram">
            <a:avLst>
              <a:gd name="adj" fmla="val 25000"/>
            </a:avLst>
          </a:prstGeom>
          <a:solidFill>
            <a:srgbClr val="F15A00"/>
          </a:solidFill>
          <a:ln w="12700">
            <a:solidFill>
              <a:srgbClr val="F15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13" name="Shape 6"/>
          <p:cNvSpPr/>
          <p:nvPr/>
        </p:nvSpPr>
        <p:spPr>
          <a:xfrm rot="720000">
            <a:off x="11338560" y="219240"/>
            <a:ext cx="63720" cy="429480"/>
          </a:xfrm>
          <a:prstGeom prst="parallelogram">
            <a:avLst>
              <a:gd name="adj" fmla="val 25000"/>
            </a:avLst>
          </a:prstGeom>
          <a:solidFill>
            <a:srgbClr val="6B2600"/>
          </a:solidFill>
          <a:ln w="12700">
            <a:solidFill>
              <a:srgbClr val="6B26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15" name="Text 8"/>
          <p:cNvSpPr/>
          <p:nvPr/>
        </p:nvSpPr>
        <p:spPr>
          <a:xfrm>
            <a:off x="685800" y="530856"/>
            <a:ext cx="3565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00" b="1" i="0" u="none" strike="noStrike" kern="1200" cap="none" spc="105" normalizeH="0" baseline="0" noProof="0" dirty="0">
                <a:ln>
                  <a:noFill/>
                </a:ln>
                <a:solidFill>
                  <a:srgbClr val="FF7A00"/>
                </a:solidFill>
                <a:effectLst/>
                <a:uLnTx/>
                <a:uFillTx/>
                <a:latin typeface="Aptos"/>
                <a:ea typeface="Aptos"/>
                <a:cs typeface="+mn-cs"/>
              </a:rPr>
              <a:t>JOURNEY DESIGN</a:t>
            </a:r>
            <a:endParaRPr kumimoji="0" lang="en-US" sz="800" b="0" i="0" u="none" strike="noStrike" kern="1200" cap="none" spc="0" normalizeH="0" baseline="0" noProof="0" dirty="0">
              <a:ln>
                <a:noFill/>
              </a:ln>
              <a:solidFill>
                <a:srgbClr val="FFFFFF"/>
              </a:solidFill>
              <a:effectLst/>
              <a:uLnTx/>
              <a:uFillTx/>
              <a:latin typeface="Arial"/>
              <a:ea typeface="+mn-ea"/>
              <a:cs typeface="+mn-cs"/>
            </a:endParaRPr>
          </a:p>
        </p:txBody>
      </p:sp>
      <p:sp>
        <p:nvSpPr>
          <p:cNvPr id="316" name="Shape 9"/>
          <p:cNvSpPr/>
          <p:nvPr/>
        </p:nvSpPr>
        <p:spPr>
          <a:xfrm>
            <a:off x="4553640" y="731520"/>
            <a:ext cx="1005840" cy="360"/>
          </a:xfrm>
          <a:prstGeom prst="line">
            <a:avLst/>
          </a:prstGeom>
          <a:ln w="13970">
            <a:solidFill>
              <a:srgbClr val="6B2E0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17" name="Text 10"/>
          <p:cNvSpPr/>
          <p:nvPr/>
        </p:nvSpPr>
        <p:spPr>
          <a:xfrm>
            <a:off x="685800" y="826657"/>
            <a:ext cx="99666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2700" b="1" i="0" u="none" strike="noStrike" kern="1200" cap="none" spc="0" normalizeH="0" baseline="0" noProof="0" dirty="0">
                <a:ln>
                  <a:noFill/>
                </a:ln>
                <a:solidFill>
                  <a:srgbClr val="F7F5F0"/>
                </a:solidFill>
                <a:effectLst/>
                <a:uLnTx/>
                <a:uFillTx/>
                <a:latin typeface="Aptos Display"/>
                <a:ea typeface="Aptos Display"/>
                <a:cs typeface="+mn-cs"/>
              </a:rPr>
              <a:t>The digital flow mirrors the physical station journey.</a:t>
            </a:r>
            <a:endParaRPr kumimoji="0" lang="en-US" sz="2700" b="0" i="0" u="none" strike="noStrike" kern="1200" cap="none" spc="0" normalizeH="0" baseline="0" noProof="0" dirty="0">
              <a:ln>
                <a:noFill/>
              </a:ln>
              <a:solidFill>
                <a:srgbClr val="FFFFFF"/>
              </a:solidFill>
              <a:effectLst/>
              <a:uLnTx/>
              <a:uFillTx/>
              <a:latin typeface="Arial"/>
              <a:ea typeface="+mn-ea"/>
              <a:cs typeface="+mn-cs"/>
            </a:endParaRPr>
          </a:p>
        </p:txBody>
      </p:sp>
      <p:sp>
        <p:nvSpPr>
          <p:cNvPr id="2" name="Shape 2">
            <a:extLst>
              <a:ext uri="{FF2B5EF4-FFF2-40B4-BE49-F238E27FC236}">
                <a16:creationId xmlns:a16="http://schemas.microsoft.com/office/drawing/2014/main" id="{351782E9-E34B-495F-6DC6-B8083E104659}"/>
              </a:ext>
            </a:extLst>
          </p:cNvPr>
          <p:cNvSpPr/>
          <p:nvPr/>
        </p:nvSpPr>
        <p:spPr>
          <a:xfrm>
            <a:off x="6089904" y="1842588"/>
            <a:ext cx="0" cy="246888"/>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3" name="Shape 3">
            <a:extLst>
              <a:ext uri="{FF2B5EF4-FFF2-40B4-BE49-F238E27FC236}">
                <a16:creationId xmlns:a16="http://schemas.microsoft.com/office/drawing/2014/main" id="{FE14E387-C739-65F7-AA98-A1621A3783DD}"/>
              </a:ext>
            </a:extLst>
          </p:cNvPr>
          <p:cNvSpPr/>
          <p:nvPr/>
        </p:nvSpPr>
        <p:spPr>
          <a:xfrm>
            <a:off x="5184648" y="2089476"/>
            <a:ext cx="1810512" cy="0"/>
          </a:xfrm>
          <a:prstGeom prst="line">
            <a:avLst/>
          </a:prstGeom>
          <a:noFill/>
          <a:ln w="9525">
            <a:solidFill>
              <a:srgbClr val="D98A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4" name="Shape 4">
            <a:extLst>
              <a:ext uri="{FF2B5EF4-FFF2-40B4-BE49-F238E27FC236}">
                <a16:creationId xmlns:a16="http://schemas.microsoft.com/office/drawing/2014/main" id="{FC7F46D0-5D13-7870-E4E3-FE5C12B675F5}"/>
              </a:ext>
            </a:extLst>
          </p:cNvPr>
          <p:cNvSpPr/>
          <p:nvPr/>
        </p:nvSpPr>
        <p:spPr>
          <a:xfrm>
            <a:off x="5184648" y="2089476"/>
            <a:ext cx="0" cy="237744"/>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5" name="Shape 5">
            <a:extLst>
              <a:ext uri="{FF2B5EF4-FFF2-40B4-BE49-F238E27FC236}">
                <a16:creationId xmlns:a16="http://schemas.microsoft.com/office/drawing/2014/main" id="{565442E5-D4FB-4314-B266-F793D071EF2E}"/>
              </a:ext>
            </a:extLst>
          </p:cNvPr>
          <p:cNvSpPr/>
          <p:nvPr/>
        </p:nvSpPr>
        <p:spPr>
          <a:xfrm>
            <a:off x="6995160" y="2089476"/>
            <a:ext cx="0" cy="237744"/>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6" name="Shape 6">
            <a:extLst>
              <a:ext uri="{FF2B5EF4-FFF2-40B4-BE49-F238E27FC236}">
                <a16:creationId xmlns:a16="http://schemas.microsoft.com/office/drawing/2014/main" id="{5D719117-09C1-E2D6-52F0-2CA3BF147FD0}"/>
              </a:ext>
            </a:extLst>
          </p:cNvPr>
          <p:cNvSpPr/>
          <p:nvPr/>
        </p:nvSpPr>
        <p:spPr>
          <a:xfrm>
            <a:off x="5184648" y="2683836"/>
            <a:ext cx="0" cy="210312"/>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7" name="Shape 7">
            <a:extLst>
              <a:ext uri="{FF2B5EF4-FFF2-40B4-BE49-F238E27FC236}">
                <a16:creationId xmlns:a16="http://schemas.microsoft.com/office/drawing/2014/main" id="{08132019-DE24-7C78-5493-E36AD7C11132}"/>
              </a:ext>
            </a:extLst>
          </p:cNvPr>
          <p:cNvSpPr/>
          <p:nvPr/>
        </p:nvSpPr>
        <p:spPr>
          <a:xfrm>
            <a:off x="6995160" y="2683836"/>
            <a:ext cx="0" cy="210312"/>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8" name="Shape 8">
            <a:extLst>
              <a:ext uri="{FF2B5EF4-FFF2-40B4-BE49-F238E27FC236}">
                <a16:creationId xmlns:a16="http://schemas.microsoft.com/office/drawing/2014/main" id="{FD20336B-CABE-AB1F-7D10-5B05E61F5B03}"/>
              </a:ext>
            </a:extLst>
          </p:cNvPr>
          <p:cNvSpPr/>
          <p:nvPr/>
        </p:nvSpPr>
        <p:spPr>
          <a:xfrm>
            <a:off x="5184648" y="2894148"/>
            <a:ext cx="1810512" cy="0"/>
          </a:xfrm>
          <a:prstGeom prst="line">
            <a:avLst/>
          </a:prstGeom>
          <a:noFill/>
          <a:ln w="9525">
            <a:solidFill>
              <a:srgbClr val="D98A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9" name="Shape 9">
            <a:extLst>
              <a:ext uri="{FF2B5EF4-FFF2-40B4-BE49-F238E27FC236}">
                <a16:creationId xmlns:a16="http://schemas.microsoft.com/office/drawing/2014/main" id="{BE08A988-B263-4303-8593-A17C2BDA1EDC}"/>
              </a:ext>
            </a:extLst>
          </p:cNvPr>
          <p:cNvSpPr/>
          <p:nvPr/>
        </p:nvSpPr>
        <p:spPr>
          <a:xfrm>
            <a:off x="6089904" y="2894148"/>
            <a:ext cx="0" cy="210312"/>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10" name="Shape 10">
            <a:extLst>
              <a:ext uri="{FF2B5EF4-FFF2-40B4-BE49-F238E27FC236}">
                <a16:creationId xmlns:a16="http://schemas.microsoft.com/office/drawing/2014/main" id="{BA848D53-1EDA-C05D-99E4-6AB74F70C7AB}"/>
              </a:ext>
            </a:extLst>
          </p:cNvPr>
          <p:cNvSpPr/>
          <p:nvPr/>
        </p:nvSpPr>
        <p:spPr>
          <a:xfrm>
            <a:off x="6089904" y="3479364"/>
            <a:ext cx="0" cy="219456"/>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11" name="Shape 11">
            <a:extLst>
              <a:ext uri="{FF2B5EF4-FFF2-40B4-BE49-F238E27FC236}">
                <a16:creationId xmlns:a16="http://schemas.microsoft.com/office/drawing/2014/main" id="{1FDDCA86-CEEA-44CF-785A-5B3407678AEF}"/>
              </a:ext>
            </a:extLst>
          </p:cNvPr>
          <p:cNvSpPr/>
          <p:nvPr/>
        </p:nvSpPr>
        <p:spPr>
          <a:xfrm>
            <a:off x="2228451" y="3689316"/>
            <a:ext cx="7818120" cy="360"/>
          </a:xfrm>
          <a:prstGeom prst="line">
            <a:avLst/>
          </a:prstGeom>
          <a:noFill/>
          <a:ln w="9525">
            <a:solidFill>
              <a:srgbClr val="D98A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dirty="0">
              <a:ln>
                <a:noFill/>
              </a:ln>
              <a:solidFill>
                <a:prstClr val="black"/>
              </a:solidFill>
              <a:effectLst/>
              <a:uLnTx/>
              <a:uFillTx/>
              <a:latin typeface="Aptos"/>
              <a:ea typeface="+mn-ea"/>
              <a:cs typeface="+mn-cs"/>
            </a:endParaRPr>
          </a:p>
        </p:txBody>
      </p:sp>
      <p:sp>
        <p:nvSpPr>
          <p:cNvPr id="13" name="Shape 13">
            <a:extLst>
              <a:ext uri="{FF2B5EF4-FFF2-40B4-BE49-F238E27FC236}">
                <a16:creationId xmlns:a16="http://schemas.microsoft.com/office/drawing/2014/main" id="{A533DFFF-2C9D-99D2-C424-6393FF53F60B}"/>
              </a:ext>
            </a:extLst>
          </p:cNvPr>
          <p:cNvSpPr/>
          <p:nvPr/>
        </p:nvSpPr>
        <p:spPr>
          <a:xfrm>
            <a:off x="2228451" y="3689676"/>
            <a:ext cx="0" cy="246888"/>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14" name="Shape 14">
            <a:extLst>
              <a:ext uri="{FF2B5EF4-FFF2-40B4-BE49-F238E27FC236}">
                <a16:creationId xmlns:a16="http://schemas.microsoft.com/office/drawing/2014/main" id="{E768215E-8A1D-FF0B-2AC6-60DEFE63785C}"/>
              </a:ext>
            </a:extLst>
          </p:cNvPr>
          <p:cNvSpPr/>
          <p:nvPr/>
        </p:nvSpPr>
        <p:spPr>
          <a:xfrm>
            <a:off x="5026515" y="3689676"/>
            <a:ext cx="0" cy="246888"/>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15" name="Shape 15">
            <a:extLst>
              <a:ext uri="{FF2B5EF4-FFF2-40B4-BE49-F238E27FC236}">
                <a16:creationId xmlns:a16="http://schemas.microsoft.com/office/drawing/2014/main" id="{C2C7D5B0-473C-2721-D36B-F0A1714AB620}"/>
              </a:ext>
            </a:extLst>
          </p:cNvPr>
          <p:cNvSpPr/>
          <p:nvPr/>
        </p:nvSpPr>
        <p:spPr>
          <a:xfrm>
            <a:off x="7376523" y="3689676"/>
            <a:ext cx="0" cy="246888"/>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16" name="Shape 16">
            <a:extLst>
              <a:ext uri="{FF2B5EF4-FFF2-40B4-BE49-F238E27FC236}">
                <a16:creationId xmlns:a16="http://schemas.microsoft.com/office/drawing/2014/main" id="{5EE43E5A-8C28-252F-E80A-90A5713C6444}"/>
              </a:ext>
            </a:extLst>
          </p:cNvPr>
          <p:cNvSpPr/>
          <p:nvPr/>
        </p:nvSpPr>
        <p:spPr>
          <a:xfrm>
            <a:off x="10046571" y="3689676"/>
            <a:ext cx="0" cy="246888"/>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20" name="Shape 20">
            <a:extLst>
              <a:ext uri="{FF2B5EF4-FFF2-40B4-BE49-F238E27FC236}">
                <a16:creationId xmlns:a16="http://schemas.microsoft.com/office/drawing/2014/main" id="{54D5C292-D73E-86F4-8A0A-572F4753B1A6}"/>
              </a:ext>
            </a:extLst>
          </p:cNvPr>
          <p:cNvSpPr/>
          <p:nvPr/>
        </p:nvSpPr>
        <p:spPr>
          <a:xfrm>
            <a:off x="2228451" y="4311468"/>
            <a:ext cx="0" cy="246888"/>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21" name="Shape 21">
            <a:extLst>
              <a:ext uri="{FF2B5EF4-FFF2-40B4-BE49-F238E27FC236}">
                <a16:creationId xmlns:a16="http://schemas.microsoft.com/office/drawing/2014/main" id="{2DA7174A-0A30-AE8E-24EE-75C8841C8A89}"/>
              </a:ext>
            </a:extLst>
          </p:cNvPr>
          <p:cNvSpPr/>
          <p:nvPr/>
        </p:nvSpPr>
        <p:spPr>
          <a:xfrm>
            <a:off x="2228451" y="4924116"/>
            <a:ext cx="0" cy="237744"/>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22" name="Shape 22">
            <a:extLst>
              <a:ext uri="{FF2B5EF4-FFF2-40B4-BE49-F238E27FC236}">
                <a16:creationId xmlns:a16="http://schemas.microsoft.com/office/drawing/2014/main" id="{14355A85-0083-BB89-1246-8762207AA337}"/>
              </a:ext>
            </a:extLst>
          </p:cNvPr>
          <p:cNvSpPr/>
          <p:nvPr/>
        </p:nvSpPr>
        <p:spPr>
          <a:xfrm>
            <a:off x="1451211" y="5344740"/>
            <a:ext cx="1554480" cy="0"/>
          </a:xfrm>
          <a:prstGeom prst="line">
            <a:avLst/>
          </a:prstGeom>
          <a:noFill/>
          <a:ln w="9525">
            <a:solidFill>
              <a:srgbClr val="D98A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23" name="Shape 23">
            <a:extLst>
              <a:ext uri="{FF2B5EF4-FFF2-40B4-BE49-F238E27FC236}">
                <a16:creationId xmlns:a16="http://schemas.microsoft.com/office/drawing/2014/main" id="{F2C4BC07-2D57-300B-D8F1-8C49EE145256}"/>
              </a:ext>
            </a:extLst>
          </p:cNvPr>
          <p:cNvSpPr/>
          <p:nvPr/>
        </p:nvSpPr>
        <p:spPr>
          <a:xfrm>
            <a:off x="1451211" y="5344740"/>
            <a:ext cx="0" cy="429768"/>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24" name="Shape 24">
            <a:extLst>
              <a:ext uri="{FF2B5EF4-FFF2-40B4-BE49-F238E27FC236}">
                <a16:creationId xmlns:a16="http://schemas.microsoft.com/office/drawing/2014/main" id="{8DE0241F-5005-65A5-A74B-EC9C8686762E}"/>
              </a:ext>
            </a:extLst>
          </p:cNvPr>
          <p:cNvSpPr/>
          <p:nvPr/>
        </p:nvSpPr>
        <p:spPr>
          <a:xfrm>
            <a:off x="3005691" y="5344740"/>
            <a:ext cx="0" cy="429768"/>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25" name="Shape 25">
            <a:extLst>
              <a:ext uri="{FF2B5EF4-FFF2-40B4-BE49-F238E27FC236}">
                <a16:creationId xmlns:a16="http://schemas.microsoft.com/office/drawing/2014/main" id="{9E0D72DD-9A04-1027-7FB9-54DBCEC0B7D2}"/>
              </a:ext>
            </a:extLst>
          </p:cNvPr>
          <p:cNvSpPr/>
          <p:nvPr/>
        </p:nvSpPr>
        <p:spPr>
          <a:xfrm>
            <a:off x="5026515" y="4311468"/>
            <a:ext cx="0" cy="246888"/>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26" name="Shape 26">
            <a:extLst>
              <a:ext uri="{FF2B5EF4-FFF2-40B4-BE49-F238E27FC236}">
                <a16:creationId xmlns:a16="http://schemas.microsoft.com/office/drawing/2014/main" id="{43CBC30C-837B-AC38-57F4-1BD8187C79B5}"/>
              </a:ext>
            </a:extLst>
          </p:cNvPr>
          <p:cNvSpPr/>
          <p:nvPr/>
        </p:nvSpPr>
        <p:spPr>
          <a:xfrm>
            <a:off x="4267563" y="4741236"/>
            <a:ext cx="1517904" cy="0"/>
          </a:xfrm>
          <a:prstGeom prst="line">
            <a:avLst/>
          </a:prstGeom>
          <a:noFill/>
          <a:ln w="9525">
            <a:solidFill>
              <a:srgbClr val="D98A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27" name="Shape 27">
            <a:extLst>
              <a:ext uri="{FF2B5EF4-FFF2-40B4-BE49-F238E27FC236}">
                <a16:creationId xmlns:a16="http://schemas.microsoft.com/office/drawing/2014/main" id="{9FCA3D3A-BF9D-38D8-DFAC-CEC94D7785FB}"/>
              </a:ext>
            </a:extLst>
          </p:cNvPr>
          <p:cNvSpPr/>
          <p:nvPr/>
        </p:nvSpPr>
        <p:spPr>
          <a:xfrm>
            <a:off x="4267563" y="4741236"/>
            <a:ext cx="0" cy="420624"/>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28" name="Shape 28">
            <a:extLst>
              <a:ext uri="{FF2B5EF4-FFF2-40B4-BE49-F238E27FC236}">
                <a16:creationId xmlns:a16="http://schemas.microsoft.com/office/drawing/2014/main" id="{63CE769C-1E8F-25E4-4380-D226A098F038}"/>
              </a:ext>
            </a:extLst>
          </p:cNvPr>
          <p:cNvSpPr/>
          <p:nvPr/>
        </p:nvSpPr>
        <p:spPr>
          <a:xfrm>
            <a:off x="5785467" y="4741236"/>
            <a:ext cx="0" cy="420624"/>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29" name="Shape 29">
            <a:extLst>
              <a:ext uri="{FF2B5EF4-FFF2-40B4-BE49-F238E27FC236}">
                <a16:creationId xmlns:a16="http://schemas.microsoft.com/office/drawing/2014/main" id="{4A4F8FE5-B629-D04C-AD63-9E22646C151B}"/>
              </a:ext>
            </a:extLst>
          </p:cNvPr>
          <p:cNvSpPr/>
          <p:nvPr/>
        </p:nvSpPr>
        <p:spPr>
          <a:xfrm>
            <a:off x="5785467" y="5527620"/>
            <a:ext cx="0" cy="246888"/>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30" name="Shape 30">
            <a:extLst>
              <a:ext uri="{FF2B5EF4-FFF2-40B4-BE49-F238E27FC236}">
                <a16:creationId xmlns:a16="http://schemas.microsoft.com/office/drawing/2014/main" id="{A067A2FB-5452-4F8F-97A6-C2268604FA1D}"/>
              </a:ext>
            </a:extLst>
          </p:cNvPr>
          <p:cNvSpPr/>
          <p:nvPr/>
        </p:nvSpPr>
        <p:spPr>
          <a:xfrm>
            <a:off x="7376523" y="4311468"/>
            <a:ext cx="0" cy="246888"/>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31" name="Shape 31">
            <a:extLst>
              <a:ext uri="{FF2B5EF4-FFF2-40B4-BE49-F238E27FC236}">
                <a16:creationId xmlns:a16="http://schemas.microsoft.com/office/drawing/2014/main" id="{319AD2BB-C892-E269-D285-F8685D124DF8}"/>
              </a:ext>
            </a:extLst>
          </p:cNvPr>
          <p:cNvSpPr/>
          <p:nvPr/>
        </p:nvSpPr>
        <p:spPr>
          <a:xfrm>
            <a:off x="7376523" y="4924116"/>
            <a:ext cx="0" cy="237744"/>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32" name="Shape 32">
            <a:extLst>
              <a:ext uri="{FF2B5EF4-FFF2-40B4-BE49-F238E27FC236}">
                <a16:creationId xmlns:a16="http://schemas.microsoft.com/office/drawing/2014/main" id="{1CD7A8D7-E3EF-EEF7-CD3B-F52C134AED15}"/>
              </a:ext>
            </a:extLst>
          </p:cNvPr>
          <p:cNvSpPr/>
          <p:nvPr/>
        </p:nvSpPr>
        <p:spPr>
          <a:xfrm>
            <a:off x="7376523" y="5527620"/>
            <a:ext cx="0" cy="246888"/>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33" name="Shape 33">
            <a:extLst>
              <a:ext uri="{FF2B5EF4-FFF2-40B4-BE49-F238E27FC236}">
                <a16:creationId xmlns:a16="http://schemas.microsoft.com/office/drawing/2014/main" id="{E70DB0A6-EC85-7FD2-38EB-99F7E6E0F658}"/>
              </a:ext>
            </a:extLst>
          </p:cNvPr>
          <p:cNvSpPr/>
          <p:nvPr/>
        </p:nvSpPr>
        <p:spPr>
          <a:xfrm>
            <a:off x="10046571" y="4311468"/>
            <a:ext cx="0" cy="246888"/>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34" name="Shape 34">
            <a:extLst>
              <a:ext uri="{FF2B5EF4-FFF2-40B4-BE49-F238E27FC236}">
                <a16:creationId xmlns:a16="http://schemas.microsoft.com/office/drawing/2014/main" id="{0EEF1BB0-FFF4-9B3E-34F2-E06F3A4B659E}"/>
              </a:ext>
            </a:extLst>
          </p:cNvPr>
          <p:cNvSpPr/>
          <p:nvPr/>
        </p:nvSpPr>
        <p:spPr>
          <a:xfrm>
            <a:off x="9315051" y="4741236"/>
            <a:ext cx="1463040" cy="0"/>
          </a:xfrm>
          <a:prstGeom prst="line">
            <a:avLst/>
          </a:prstGeom>
          <a:noFill/>
          <a:ln w="9525">
            <a:solidFill>
              <a:srgbClr val="D98A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35" name="Shape 35">
            <a:extLst>
              <a:ext uri="{FF2B5EF4-FFF2-40B4-BE49-F238E27FC236}">
                <a16:creationId xmlns:a16="http://schemas.microsoft.com/office/drawing/2014/main" id="{3454A2E1-866E-A503-D9E2-5DA726434892}"/>
              </a:ext>
            </a:extLst>
          </p:cNvPr>
          <p:cNvSpPr/>
          <p:nvPr/>
        </p:nvSpPr>
        <p:spPr>
          <a:xfrm>
            <a:off x="9315051" y="4741236"/>
            <a:ext cx="0" cy="420624"/>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36" name="Shape 36">
            <a:extLst>
              <a:ext uri="{FF2B5EF4-FFF2-40B4-BE49-F238E27FC236}">
                <a16:creationId xmlns:a16="http://schemas.microsoft.com/office/drawing/2014/main" id="{1F790809-83A6-6AAC-0971-CA4AB4E25E52}"/>
              </a:ext>
            </a:extLst>
          </p:cNvPr>
          <p:cNvSpPr/>
          <p:nvPr/>
        </p:nvSpPr>
        <p:spPr>
          <a:xfrm>
            <a:off x="10778091" y="4741236"/>
            <a:ext cx="0" cy="420624"/>
          </a:xfrm>
          <a:prstGeom prst="line">
            <a:avLst/>
          </a:prstGeom>
          <a:noFill/>
          <a:ln w="9525">
            <a:solidFill>
              <a:srgbClr val="D98A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black"/>
              </a:solidFill>
              <a:effectLst/>
              <a:uLnTx/>
              <a:uFillTx/>
              <a:latin typeface="Aptos"/>
              <a:ea typeface="+mn-ea"/>
              <a:cs typeface="+mn-cs"/>
            </a:endParaRPr>
          </a:p>
        </p:txBody>
      </p:sp>
      <p:sp>
        <p:nvSpPr>
          <p:cNvPr id="37" name="Text 37">
            <a:extLst>
              <a:ext uri="{FF2B5EF4-FFF2-40B4-BE49-F238E27FC236}">
                <a16:creationId xmlns:a16="http://schemas.microsoft.com/office/drawing/2014/main" id="{FD6B8981-7FAB-6FC6-1B6D-B4F5B5B3E35E}"/>
              </a:ext>
            </a:extLst>
          </p:cNvPr>
          <p:cNvSpPr/>
          <p:nvPr/>
        </p:nvSpPr>
        <p:spPr>
          <a:xfrm>
            <a:off x="5376672" y="1449396"/>
            <a:ext cx="1426464" cy="393192"/>
          </a:xfrm>
          <a:prstGeom prst="roundRect">
            <a:avLst>
              <a:gd name="adj" fmla="val 18605"/>
            </a:avLst>
          </a:prstGeom>
          <a:solidFill>
            <a:srgbClr val="F36C21"/>
          </a:solidFill>
          <a:ln w="10795">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40" b="1" i="0" u="none" strike="noStrike" kern="0" cap="none" spc="0" normalizeH="0" baseline="0" noProof="0" dirty="0">
                <a:ln>
                  <a:noFill/>
                </a:ln>
                <a:solidFill>
                  <a:srgbClr val="FFFFFF"/>
                </a:solidFill>
                <a:effectLst/>
                <a:uLnTx/>
                <a:uFillTx/>
                <a:latin typeface="Aptos"/>
                <a:ea typeface="Aptos" pitchFamily="34" charset="-122"/>
                <a:cs typeface="Aptos" pitchFamily="34" charset="-120"/>
              </a:rPr>
              <a:t>Launch app</a:t>
            </a:r>
            <a:endParaRPr kumimoji="0" lang="en-US" sz="940" b="0" i="0" u="none" strike="noStrike" kern="0" cap="none" spc="0" normalizeH="0" baseline="0" noProof="0" dirty="0">
              <a:ln>
                <a:noFill/>
              </a:ln>
              <a:solidFill>
                <a:prstClr val="black"/>
              </a:solidFill>
              <a:effectLst/>
              <a:uLnTx/>
              <a:uFillTx/>
              <a:latin typeface="Aptos"/>
              <a:ea typeface="+mn-ea"/>
              <a:cs typeface="+mn-cs"/>
            </a:endParaRPr>
          </a:p>
        </p:txBody>
      </p:sp>
      <p:sp>
        <p:nvSpPr>
          <p:cNvPr id="38" name="Text 38">
            <a:extLst>
              <a:ext uri="{FF2B5EF4-FFF2-40B4-BE49-F238E27FC236}">
                <a16:creationId xmlns:a16="http://schemas.microsoft.com/office/drawing/2014/main" id="{E525C483-D0A8-3877-634E-D4E2691386F1}"/>
              </a:ext>
            </a:extLst>
          </p:cNvPr>
          <p:cNvSpPr/>
          <p:nvPr/>
        </p:nvSpPr>
        <p:spPr>
          <a:xfrm>
            <a:off x="4443984" y="2327220"/>
            <a:ext cx="1481328" cy="365760"/>
          </a:xfrm>
          <a:prstGeom prst="roundRect">
            <a:avLst>
              <a:gd name="adj" fmla="val 20000"/>
            </a:avLst>
          </a:prstGeom>
          <a:solidFill>
            <a:srgbClr val="FFFFFF"/>
          </a:solidFill>
          <a:ln w="10795">
            <a:solidFill>
              <a:srgbClr val="C9BCA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20" b="0"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Log in</a:t>
            </a:r>
            <a:endParaRPr kumimoji="0" lang="en-US" sz="920" b="0" i="0" u="none" strike="noStrike" kern="0" cap="none" spc="0" normalizeH="0" baseline="0" noProof="0" dirty="0">
              <a:ln>
                <a:noFill/>
              </a:ln>
              <a:solidFill>
                <a:prstClr val="black"/>
              </a:solidFill>
              <a:effectLst/>
              <a:uLnTx/>
              <a:uFillTx/>
              <a:latin typeface="Aptos"/>
              <a:ea typeface="+mn-ea"/>
              <a:cs typeface="+mn-cs"/>
            </a:endParaRPr>
          </a:p>
        </p:txBody>
      </p:sp>
      <p:sp>
        <p:nvSpPr>
          <p:cNvPr id="39" name="Text 39">
            <a:extLst>
              <a:ext uri="{FF2B5EF4-FFF2-40B4-BE49-F238E27FC236}">
                <a16:creationId xmlns:a16="http://schemas.microsoft.com/office/drawing/2014/main" id="{A4614A89-9CC8-D5A0-BA1C-C5F78CA0F86D}"/>
              </a:ext>
            </a:extLst>
          </p:cNvPr>
          <p:cNvSpPr/>
          <p:nvPr/>
        </p:nvSpPr>
        <p:spPr>
          <a:xfrm>
            <a:off x="6254496" y="2327220"/>
            <a:ext cx="1481328" cy="365760"/>
          </a:xfrm>
          <a:prstGeom prst="roundRect">
            <a:avLst>
              <a:gd name="adj" fmla="val 20000"/>
            </a:avLst>
          </a:prstGeom>
          <a:solidFill>
            <a:srgbClr val="FFFFFF"/>
          </a:solidFill>
          <a:ln w="10795">
            <a:solidFill>
              <a:srgbClr val="C9BCA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20" b="0"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Sign up</a:t>
            </a:r>
            <a:endParaRPr kumimoji="0" lang="en-US" sz="920" b="0" i="0" u="none" strike="noStrike" kern="0" cap="none" spc="0" normalizeH="0" baseline="0" noProof="0" dirty="0">
              <a:ln>
                <a:noFill/>
              </a:ln>
              <a:solidFill>
                <a:prstClr val="black"/>
              </a:solidFill>
              <a:effectLst/>
              <a:uLnTx/>
              <a:uFillTx/>
              <a:latin typeface="Aptos"/>
              <a:ea typeface="+mn-ea"/>
              <a:cs typeface="+mn-cs"/>
            </a:endParaRPr>
          </a:p>
        </p:txBody>
      </p:sp>
      <p:sp>
        <p:nvSpPr>
          <p:cNvPr id="40" name="Text 40">
            <a:extLst>
              <a:ext uri="{FF2B5EF4-FFF2-40B4-BE49-F238E27FC236}">
                <a16:creationId xmlns:a16="http://schemas.microsoft.com/office/drawing/2014/main" id="{CC3F7145-3A7B-44D7-59C3-474D699A7571}"/>
              </a:ext>
            </a:extLst>
          </p:cNvPr>
          <p:cNvSpPr/>
          <p:nvPr/>
        </p:nvSpPr>
        <p:spPr>
          <a:xfrm>
            <a:off x="5239512" y="3104460"/>
            <a:ext cx="1700784" cy="384048"/>
          </a:xfrm>
          <a:prstGeom prst="roundRect">
            <a:avLst>
              <a:gd name="adj" fmla="val 19048"/>
            </a:avLst>
          </a:prstGeom>
          <a:solidFill>
            <a:srgbClr val="F36C21"/>
          </a:solidFill>
          <a:ln w="10795">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40" b="1" i="0" u="none" strike="noStrike" kern="0" cap="none" spc="0" normalizeH="0" baseline="0" noProof="0" dirty="0">
                <a:ln>
                  <a:noFill/>
                </a:ln>
                <a:solidFill>
                  <a:srgbClr val="FFFFFF"/>
                </a:solidFill>
                <a:effectLst/>
                <a:uLnTx/>
                <a:uFillTx/>
                <a:latin typeface="Aptos"/>
                <a:ea typeface="Aptos" pitchFamily="34" charset="-122"/>
                <a:cs typeface="Aptos" pitchFamily="34" charset="-120"/>
              </a:rPr>
              <a:t>Home dashboard</a:t>
            </a:r>
            <a:endParaRPr kumimoji="0" lang="en-US" sz="940" b="0" i="0" u="none" strike="noStrike" kern="0" cap="none" spc="0" normalizeH="0" baseline="0" noProof="0" dirty="0">
              <a:ln>
                <a:noFill/>
              </a:ln>
              <a:solidFill>
                <a:prstClr val="black"/>
              </a:solidFill>
              <a:effectLst/>
              <a:uLnTx/>
              <a:uFillTx/>
              <a:latin typeface="Aptos"/>
              <a:ea typeface="+mn-ea"/>
              <a:cs typeface="+mn-cs"/>
            </a:endParaRPr>
          </a:p>
        </p:txBody>
      </p:sp>
      <p:sp>
        <p:nvSpPr>
          <p:cNvPr id="42" name="Text 42">
            <a:extLst>
              <a:ext uri="{FF2B5EF4-FFF2-40B4-BE49-F238E27FC236}">
                <a16:creationId xmlns:a16="http://schemas.microsoft.com/office/drawing/2014/main" id="{C16218A8-6AFA-5318-AEB7-4E09912D1A23}"/>
              </a:ext>
            </a:extLst>
          </p:cNvPr>
          <p:cNvSpPr/>
          <p:nvPr/>
        </p:nvSpPr>
        <p:spPr>
          <a:xfrm>
            <a:off x="1423779" y="3936564"/>
            <a:ext cx="1609344" cy="384048"/>
          </a:xfrm>
          <a:prstGeom prst="roundRect">
            <a:avLst>
              <a:gd name="adj" fmla="val 19048"/>
            </a:avLst>
          </a:prstGeom>
          <a:solidFill>
            <a:srgbClr val="F36C21"/>
          </a:solidFill>
          <a:ln w="10795">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40" b="1" i="0" u="none" strike="noStrike" kern="0" cap="none" spc="0" normalizeH="0" baseline="0" noProof="0" dirty="0">
                <a:ln>
                  <a:noFill/>
                </a:ln>
                <a:solidFill>
                  <a:srgbClr val="FFFFFF"/>
                </a:solidFill>
                <a:effectLst/>
                <a:uLnTx/>
                <a:uFillTx/>
                <a:latin typeface="Aptos"/>
                <a:ea typeface="Aptos" pitchFamily="34" charset="-122"/>
                <a:cs typeface="Aptos" pitchFamily="34" charset="-120"/>
              </a:rPr>
              <a:t>Fuel payment</a:t>
            </a:r>
            <a:endParaRPr kumimoji="0" lang="en-US" sz="940" b="0" i="0" u="none" strike="noStrike" kern="0" cap="none" spc="0" normalizeH="0" baseline="0" noProof="0" dirty="0">
              <a:ln>
                <a:noFill/>
              </a:ln>
              <a:solidFill>
                <a:prstClr val="black"/>
              </a:solidFill>
              <a:effectLst/>
              <a:uLnTx/>
              <a:uFillTx/>
              <a:latin typeface="Aptos"/>
              <a:ea typeface="+mn-ea"/>
              <a:cs typeface="+mn-cs"/>
            </a:endParaRPr>
          </a:p>
        </p:txBody>
      </p:sp>
      <p:sp>
        <p:nvSpPr>
          <p:cNvPr id="43" name="Text 43">
            <a:extLst>
              <a:ext uri="{FF2B5EF4-FFF2-40B4-BE49-F238E27FC236}">
                <a16:creationId xmlns:a16="http://schemas.microsoft.com/office/drawing/2014/main" id="{F9DB05BA-64DC-78A1-0C0F-28269D25226E}"/>
              </a:ext>
            </a:extLst>
          </p:cNvPr>
          <p:cNvSpPr/>
          <p:nvPr/>
        </p:nvSpPr>
        <p:spPr>
          <a:xfrm>
            <a:off x="4294995" y="3936564"/>
            <a:ext cx="1463040" cy="384048"/>
          </a:xfrm>
          <a:prstGeom prst="roundRect">
            <a:avLst>
              <a:gd name="adj" fmla="val 19048"/>
            </a:avLst>
          </a:prstGeom>
          <a:solidFill>
            <a:srgbClr val="F36C21"/>
          </a:solidFill>
          <a:ln w="10795">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40" b="1" i="0" u="none" strike="noStrike" kern="0" cap="none" spc="0" normalizeH="0" baseline="0" noProof="0" dirty="0">
                <a:ln>
                  <a:noFill/>
                </a:ln>
                <a:solidFill>
                  <a:srgbClr val="FFFFFF"/>
                </a:solidFill>
                <a:effectLst/>
                <a:uLnTx/>
                <a:uFillTx/>
                <a:latin typeface="Aptos"/>
                <a:ea typeface="Aptos" pitchFamily="34" charset="-122"/>
                <a:cs typeface="Aptos" pitchFamily="34" charset="-120"/>
              </a:rPr>
              <a:t>Rewards</a:t>
            </a:r>
            <a:endParaRPr kumimoji="0" lang="en-US" sz="940" b="0" i="0" u="none" strike="noStrike" kern="0" cap="none" spc="0" normalizeH="0" baseline="0" noProof="0" dirty="0">
              <a:ln>
                <a:noFill/>
              </a:ln>
              <a:solidFill>
                <a:prstClr val="black"/>
              </a:solidFill>
              <a:effectLst/>
              <a:uLnTx/>
              <a:uFillTx/>
              <a:latin typeface="Aptos"/>
              <a:ea typeface="+mn-ea"/>
              <a:cs typeface="+mn-cs"/>
            </a:endParaRPr>
          </a:p>
        </p:txBody>
      </p:sp>
      <p:sp>
        <p:nvSpPr>
          <p:cNvPr id="44" name="Text 44">
            <a:extLst>
              <a:ext uri="{FF2B5EF4-FFF2-40B4-BE49-F238E27FC236}">
                <a16:creationId xmlns:a16="http://schemas.microsoft.com/office/drawing/2014/main" id="{21C6AAFB-B767-0C4B-1A9C-DDBA98B59B04}"/>
              </a:ext>
            </a:extLst>
          </p:cNvPr>
          <p:cNvSpPr/>
          <p:nvPr/>
        </p:nvSpPr>
        <p:spPr>
          <a:xfrm>
            <a:off x="6580995" y="3936564"/>
            <a:ext cx="1591056" cy="384048"/>
          </a:xfrm>
          <a:prstGeom prst="roundRect">
            <a:avLst>
              <a:gd name="adj" fmla="val 19048"/>
            </a:avLst>
          </a:prstGeom>
          <a:solidFill>
            <a:srgbClr val="F36C21"/>
          </a:solidFill>
          <a:ln w="10795">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40" b="1" i="0" u="none" strike="noStrike" kern="0" cap="none" spc="0" normalizeH="0" baseline="0" noProof="0" dirty="0">
                <a:ln>
                  <a:noFill/>
                </a:ln>
                <a:solidFill>
                  <a:srgbClr val="FFFFFF"/>
                </a:solidFill>
                <a:effectLst/>
                <a:uLnTx/>
                <a:uFillTx/>
                <a:latin typeface="Aptos"/>
                <a:ea typeface="Aptos" pitchFamily="34" charset="-122"/>
                <a:cs typeface="Aptos" pitchFamily="34" charset="-120"/>
              </a:rPr>
              <a:t>Tip attendant</a:t>
            </a:r>
            <a:endParaRPr kumimoji="0" lang="en-US" sz="940" b="0" i="0" u="none" strike="noStrike" kern="0" cap="none" spc="0" normalizeH="0" baseline="0" noProof="0" dirty="0">
              <a:ln>
                <a:noFill/>
              </a:ln>
              <a:solidFill>
                <a:prstClr val="black"/>
              </a:solidFill>
              <a:effectLst/>
              <a:uLnTx/>
              <a:uFillTx/>
              <a:latin typeface="Aptos"/>
              <a:ea typeface="+mn-ea"/>
              <a:cs typeface="+mn-cs"/>
            </a:endParaRPr>
          </a:p>
        </p:txBody>
      </p:sp>
      <p:sp>
        <p:nvSpPr>
          <p:cNvPr id="45" name="Text 45">
            <a:extLst>
              <a:ext uri="{FF2B5EF4-FFF2-40B4-BE49-F238E27FC236}">
                <a16:creationId xmlns:a16="http://schemas.microsoft.com/office/drawing/2014/main" id="{6B8E589B-4E82-4393-C91E-85621D09CD22}"/>
              </a:ext>
            </a:extLst>
          </p:cNvPr>
          <p:cNvSpPr/>
          <p:nvPr/>
        </p:nvSpPr>
        <p:spPr>
          <a:xfrm>
            <a:off x="9159603" y="3936564"/>
            <a:ext cx="1755648" cy="384048"/>
          </a:xfrm>
          <a:prstGeom prst="roundRect">
            <a:avLst>
              <a:gd name="adj" fmla="val 19048"/>
            </a:avLst>
          </a:prstGeom>
          <a:solidFill>
            <a:srgbClr val="F36C21"/>
          </a:solidFill>
          <a:ln w="10795">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40" b="1" i="0" u="none" strike="noStrike" kern="0" cap="none" spc="0" normalizeH="0" baseline="0" noProof="0" dirty="0">
                <a:ln>
                  <a:noFill/>
                </a:ln>
                <a:solidFill>
                  <a:srgbClr val="FFFFFF"/>
                </a:solidFill>
                <a:effectLst/>
                <a:uLnTx/>
                <a:uFillTx/>
                <a:latin typeface="Aptos"/>
                <a:ea typeface="Aptos" pitchFamily="34" charset="-122"/>
                <a:cs typeface="Aptos" pitchFamily="34" charset="-120"/>
              </a:rPr>
              <a:t>Profile &amp; wallet</a:t>
            </a:r>
            <a:endParaRPr kumimoji="0" lang="en-US" sz="940" b="0" i="0" u="none" strike="noStrike" kern="0" cap="none" spc="0" normalizeH="0" baseline="0" noProof="0" dirty="0">
              <a:ln>
                <a:noFill/>
              </a:ln>
              <a:solidFill>
                <a:prstClr val="black"/>
              </a:solidFill>
              <a:effectLst/>
              <a:uLnTx/>
              <a:uFillTx/>
              <a:latin typeface="Aptos"/>
              <a:ea typeface="+mn-ea"/>
              <a:cs typeface="+mn-cs"/>
            </a:endParaRPr>
          </a:p>
        </p:txBody>
      </p:sp>
      <p:sp>
        <p:nvSpPr>
          <p:cNvPr id="49" name="Text 49">
            <a:extLst>
              <a:ext uri="{FF2B5EF4-FFF2-40B4-BE49-F238E27FC236}">
                <a16:creationId xmlns:a16="http://schemas.microsoft.com/office/drawing/2014/main" id="{D7F1A578-2F75-76BE-1C00-FC4217C3F66A}"/>
              </a:ext>
            </a:extLst>
          </p:cNvPr>
          <p:cNvSpPr/>
          <p:nvPr/>
        </p:nvSpPr>
        <p:spPr>
          <a:xfrm>
            <a:off x="1323195" y="4558356"/>
            <a:ext cx="1810512" cy="365760"/>
          </a:xfrm>
          <a:prstGeom prst="roundRect">
            <a:avLst>
              <a:gd name="adj" fmla="val 20000"/>
            </a:avLst>
          </a:prstGeom>
          <a:solidFill>
            <a:srgbClr val="FFFFFF"/>
          </a:solidFill>
          <a:ln w="10795">
            <a:solidFill>
              <a:srgbClr val="C9BCA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0"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Choose pump / amount</a:t>
            </a:r>
            <a:endParaRPr kumimoji="0" lang="en-US" sz="840" b="0" i="0" u="none" strike="noStrike" kern="0" cap="none" spc="0" normalizeH="0" baseline="0" noProof="0" dirty="0">
              <a:ln>
                <a:noFill/>
              </a:ln>
              <a:solidFill>
                <a:prstClr val="black"/>
              </a:solidFill>
              <a:effectLst/>
              <a:uLnTx/>
              <a:uFillTx/>
              <a:latin typeface="Aptos"/>
              <a:ea typeface="+mn-ea"/>
              <a:cs typeface="+mn-cs"/>
            </a:endParaRPr>
          </a:p>
        </p:txBody>
      </p:sp>
      <p:sp>
        <p:nvSpPr>
          <p:cNvPr id="50" name="Text 50">
            <a:extLst>
              <a:ext uri="{FF2B5EF4-FFF2-40B4-BE49-F238E27FC236}">
                <a16:creationId xmlns:a16="http://schemas.microsoft.com/office/drawing/2014/main" id="{F1C7CB01-24F2-28B5-B6DA-9DF2832202A8}"/>
              </a:ext>
            </a:extLst>
          </p:cNvPr>
          <p:cNvSpPr/>
          <p:nvPr/>
        </p:nvSpPr>
        <p:spPr>
          <a:xfrm>
            <a:off x="1496931" y="5161860"/>
            <a:ext cx="1463040" cy="365760"/>
          </a:xfrm>
          <a:prstGeom prst="roundRect">
            <a:avLst>
              <a:gd name="adj" fmla="val 20000"/>
            </a:avLst>
          </a:prstGeom>
          <a:solidFill>
            <a:srgbClr val="FFFFFF"/>
          </a:solidFill>
          <a:ln w="10795">
            <a:solidFill>
              <a:srgbClr val="C9BCA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20" b="0"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Pay by card</a:t>
            </a:r>
            <a:endParaRPr kumimoji="0" lang="en-US" sz="920" b="0" i="0" u="none" strike="noStrike" kern="0" cap="none" spc="0" normalizeH="0" baseline="0" noProof="0" dirty="0">
              <a:ln>
                <a:noFill/>
              </a:ln>
              <a:solidFill>
                <a:prstClr val="black"/>
              </a:solidFill>
              <a:effectLst/>
              <a:uLnTx/>
              <a:uFillTx/>
              <a:latin typeface="Aptos"/>
              <a:ea typeface="+mn-ea"/>
              <a:cs typeface="+mn-cs"/>
            </a:endParaRPr>
          </a:p>
        </p:txBody>
      </p:sp>
      <p:sp>
        <p:nvSpPr>
          <p:cNvPr id="51" name="Text 51">
            <a:extLst>
              <a:ext uri="{FF2B5EF4-FFF2-40B4-BE49-F238E27FC236}">
                <a16:creationId xmlns:a16="http://schemas.microsoft.com/office/drawing/2014/main" id="{B2BAF449-94F0-7F4A-D328-F9FE72F84194}"/>
              </a:ext>
            </a:extLst>
          </p:cNvPr>
          <p:cNvSpPr/>
          <p:nvPr/>
        </p:nvSpPr>
        <p:spPr>
          <a:xfrm>
            <a:off x="783699" y="5774508"/>
            <a:ext cx="1335024" cy="365760"/>
          </a:xfrm>
          <a:prstGeom prst="roundRect">
            <a:avLst>
              <a:gd name="adj" fmla="val 20000"/>
            </a:avLst>
          </a:prstGeom>
          <a:solidFill>
            <a:srgbClr val="FFFFFF"/>
          </a:solidFill>
          <a:ln w="10795">
            <a:solidFill>
              <a:srgbClr val="C9BCA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20" b="0"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Receipt</a:t>
            </a:r>
            <a:endParaRPr kumimoji="0" lang="en-US" sz="920" b="0" i="0" u="none" strike="noStrike" kern="0" cap="none" spc="0" normalizeH="0" baseline="0" noProof="0" dirty="0">
              <a:ln>
                <a:noFill/>
              </a:ln>
              <a:solidFill>
                <a:prstClr val="black"/>
              </a:solidFill>
              <a:effectLst/>
              <a:uLnTx/>
              <a:uFillTx/>
              <a:latin typeface="Aptos"/>
              <a:ea typeface="+mn-ea"/>
              <a:cs typeface="+mn-cs"/>
            </a:endParaRPr>
          </a:p>
        </p:txBody>
      </p:sp>
      <p:sp>
        <p:nvSpPr>
          <p:cNvPr id="52" name="Text 52">
            <a:extLst>
              <a:ext uri="{FF2B5EF4-FFF2-40B4-BE49-F238E27FC236}">
                <a16:creationId xmlns:a16="http://schemas.microsoft.com/office/drawing/2014/main" id="{FC90BA9B-E0F4-5922-E03A-48310CD0909A}"/>
              </a:ext>
            </a:extLst>
          </p:cNvPr>
          <p:cNvSpPr/>
          <p:nvPr/>
        </p:nvSpPr>
        <p:spPr>
          <a:xfrm>
            <a:off x="2338179" y="5774508"/>
            <a:ext cx="1335024" cy="365760"/>
          </a:xfrm>
          <a:prstGeom prst="roundRect">
            <a:avLst>
              <a:gd name="adj" fmla="val 20000"/>
            </a:avLst>
          </a:prstGeom>
          <a:solidFill>
            <a:srgbClr val="FFFFFF"/>
          </a:solidFill>
          <a:ln w="10795">
            <a:solidFill>
              <a:srgbClr val="C9BCA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20" b="0"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Earn points</a:t>
            </a:r>
            <a:endParaRPr kumimoji="0" lang="en-US" sz="920" b="0" i="0" u="none" strike="noStrike" kern="0" cap="none" spc="0" normalizeH="0" baseline="0" noProof="0" dirty="0">
              <a:ln>
                <a:noFill/>
              </a:ln>
              <a:solidFill>
                <a:prstClr val="black"/>
              </a:solidFill>
              <a:effectLst/>
              <a:uLnTx/>
              <a:uFillTx/>
              <a:latin typeface="Aptos"/>
              <a:ea typeface="+mn-ea"/>
              <a:cs typeface="+mn-cs"/>
            </a:endParaRPr>
          </a:p>
        </p:txBody>
      </p:sp>
      <p:sp>
        <p:nvSpPr>
          <p:cNvPr id="53" name="Text 53">
            <a:extLst>
              <a:ext uri="{FF2B5EF4-FFF2-40B4-BE49-F238E27FC236}">
                <a16:creationId xmlns:a16="http://schemas.microsoft.com/office/drawing/2014/main" id="{4932188C-51C6-A44A-3625-07CCEFE04F88}"/>
              </a:ext>
            </a:extLst>
          </p:cNvPr>
          <p:cNvSpPr/>
          <p:nvPr/>
        </p:nvSpPr>
        <p:spPr>
          <a:xfrm>
            <a:off x="4194411" y="4558356"/>
            <a:ext cx="1664208" cy="365760"/>
          </a:xfrm>
          <a:prstGeom prst="roundRect">
            <a:avLst>
              <a:gd name="adj" fmla="val 20000"/>
            </a:avLst>
          </a:prstGeom>
          <a:solidFill>
            <a:srgbClr val="FFFFFF"/>
          </a:solidFill>
          <a:ln w="10795">
            <a:solidFill>
              <a:srgbClr val="C9BCA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20" b="0"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Points balance</a:t>
            </a:r>
            <a:endParaRPr kumimoji="0" lang="en-US" sz="920" b="0" i="0" u="none" strike="noStrike" kern="0" cap="none" spc="0" normalizeH="0" baseline="0" noProof="0" dirty="0">
              <a:ln>
                <a:noFill/>
              </a:ln>
              <a:solidFill>
                <a:prstClr val="black"/>
              </a:solidFill>
              <a:effectLst/>
              <a:uLnTx/>
              <a:uFillTx/>
              <a:latin typeface="Aptos"/>
              <a:ea typeface="+mn-ea"/>
              <a:cs typeface="+mn-cs"/>
            </a:endParaRPr>
          </a:p>
        </p:txBody>
      </p:sp>
      <p:sp>
        <p:nvSpPr>
          <p:cNvPr id="54" name="Text 54">
            <a:extLst>
              <a:ext uri="{FF2B5EF4-FFF2-40B4-BE49-F238E27FC236}">
                <a16:creationId xmlns:a16="http://schemas.microsoft.com/office/drawing/2014/main" id="{17DB594D-6368-D36A-5FEE-A8FF8ED6180A}"/>
              </a:ext>
            </a:extLst>
          </p:cNvPr>
          <p:cNvSpPr/>
          <p:nvPr/>
        </p:nvSpPr>
        <p:spPr>
          <a:xfrm>
            <a:off x="3554331" y="5161860"/>
            <a:ext cx="1417320" cy="365760"/>
          </a:xfrm>
          <a:prstGeom prst="roundRect">
            <a:avLst>
              <a:gd name="adj" fmla="val 20000"/>
            </a:avLst>
          </a:prstGeom>
          <a:solidFill>
            <a:srgbClr val="FFF1DD"/>
          </a:solidFill>
          <a:ln w="10795">
            <a:solidFill>
              <a:srgbClr val="FFF1DD"/>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 b="1"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Redeem reward</a:t>
            </a:r>
            <a:endParaRPr kumimoji="0" lang="en-US" sz="880" b="0" i="0" u="none" strike="noStrike" kern="0" cap="none" spc="0" normalizeH="0" baseline="0" noProof="0" dirty="0">
              <a:ln>
                <a:noFill/>
              </a:ln>
              <a:solidFill>
                <a:prstClr val="black"/>
              </a:solidFill>
              <a:effectLst/>
              <a:uLnTx/>
              <a:uFillTx/>
              <a:latin typeface="Aptos"/>
              <a:ea typeface="+mn-ea"/>
              <a:cs typeface="+mn-cs"/>
            </a:endParaRPr>
          </a:p>
        </p:txBody>
      </p:sp>
      <p:sp>
        <p:nvSpPr>
          <p:cNvPr id="55" name="Text 55">
            <a:extLst>
              <a:ext uri="{FF2B5EF4-FFF2-40B4-BE49-F238E27FC236}">
                <a16:creationId xmlns:a16="http://schemas.microsoft.com/office/drawing/2014/main" id="{A0D51BC8-6520-F581-7924-5861F624D0CA}"/>
              </a:ext>
            </a:extLst>
          </p:cNvPr>
          <p:cNvSpPr/>
          <p:nvPr/>
        </p:nvSpPr>
        <p:spPr>
          <a:xfrm>
            <a:off x="5081379" y="5161860"/>
            <a:ext cx="1417320" cy="365760"/>
          </a:xfrm>
          <a:prstGeom prst="roundRect">
            <a:avLst>
              <a:gd name="adj" fmla="val 20000"/>
            </a:avLst>
          </a:prstGeom>
          <a:solidFill>
            <a:srgbClr val="FFF1DD"/>
          </a:solidFill>
          <a:ln w="10795">
            <a:solidFill>
              <a:srgbClr val="FFF1DD"/>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 b="1"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Withdraw money</a:t>
            </a:r>
            <a:endParaRPr kumimoji="0" lang="en-US" sz="880" b="0" i="0" u="none" strike="noStrike" kern="0" cap="none" spc="0" normalizeH="0" baseline="0" noProof="0" dirty="0">
              <a:ln>
                <a:noFill/>
              </a:ln>
              <a:solidFill>
                <a:prstClr val="black"/>
              </a:solidFill>
              <a:effectLst/>
              <a:uLnTx/>
              <a:uFillTx/>
              <a:latin typeface="Aptos"/>
              <a:ea typeface="+mn-ea"/>
              <a:cs typeface="+mn-cs"/>
            </a:endParaRPr>
          </a:p>
        </p:txBody>
      </p:sp>
      <p:sp>
        <p:nvSpPr>
          <p:cNvPr id="56" name="Text 56">
            <a:extLst>
              <a:ext uri="{FF2B5EF4-FFF2-40B4-BE49-F238E27FC236}">
                <a16:creationId xmlns:a16="http://schemas.microsoft.com/office/drawing/2014/main" id="{EB612A99-C855-256D-E60A-B9341BC95F83}"/>
              </a:ext>
            </a:extLst>
          </p:cNvPr>
          <p:cNvSpPr/>
          <p:nvPr/>
        </p:nvSpPr>
        <p:spPr>
          <a:xfrm>
            <a:off x="5017371" y="5774508"/>
            <a:ext cx="1426464" cy="365760"/>
          </a:xfrm>
          <a:prstGeom prst="roundRect">
            <a:avLst>
              <a:gd name="adj" fmla="val 20000"/>
            </a:avLst>
          </a:prstGeom>
          <a:solidFill>
            <a:srgbClr val="FFFFFF"/>
          </a:solidFill>
          <a:ln w="10795">
            <a:solidFill>
              <a:srgbClr val="C9BCA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20" b="0"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Bank / card payout</a:t>
            </a:r>
            <a:endParaRPr kumimoji="0" lang="en-US" sz="820" b="0" i="0" u="none" strike="noStrike" kern="0" cap="none" spc="0" normalizeH="0" baseline="0" noProof="0" dirty="0">
              <a:ln>
                <a:noFill/>
              </a:ln>
              <a:solidFill>
                <a:prstClr val="black"/>
              </a:solidFill>
              <a:effectLst/>
              <a:uLnTx/>
              <a:uFillTx/>
              <a:latin typeface="Aptos"/>
              <a:ea typeface="+mn-ea"/>
              <a:cs typeface="+mn-cs"/>
            </a:endParaRPr>
          </a:p>
        </p:txBody>
      </p:sp>
      <p:sp>
        <p:nvSpPr>
          <p:cNvPr id="57" name="Text 57">
            <a:extLst>
              <a:ext uri="{FF2B5EF4-FFF2-40B4-BE49-F238E27FC236}">
                <a16:creationId xmlns:a16="http://schemas.microsoft.com/office/drawing/2014/main" id="{6D57C76E-3FE5-DC3F-4C75-2F71E35387F4}"/>
              </a:ext>
            </a:extLst>
          </p:cNvPr>
          <p:cNvSpPr/>
          <p:nvPr/>
        </p:nvSpPr>
        <p:spPr>
          <a:xfrm>
            <a:off x="6635859" y="4558356"/>
            <a:ext cx="1481328" cy="365760"/>
          </a:xfrm>
          <a:prstGeom prst="roundRect">
            <a:avLst>
              <a:gd name="adj" fmla="val 20000"/>
            </a:avLst>
          </a:prstGeom>
          <a:solidFill>
            <a:srgbClr val="FFFFFF"/>
          </a:solidFill>
          <a:ln w="10795">
            <a:solidFill>
              <a:srgbClr val="C9BCA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20" b="0"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Select attendant</a:t>
            </a:r>
            <a:endParaRPr kumimoji="0" lang="en-US" sz="920" b="0" i="0" u="none" strike="noStrike" kern="0" cap="none" spc="0" normalizeH="0" baseline="0" noProof="0" dirty="0">
              <a:ln>
                <a:noFill/>
              </a:ln>
              <a:solidFill>
                <a:prstClr val="black"/>
              </a:solidFill>
              <a:effectLst/>
              <a:uLnTx/>
              <a:uFillTx/>
              <a:latin typeface="Aptos"/>
              <a:ea typeface="+mn-ea"/>
              <a:cs typeface="+mn-cs"/>
            </a:endParaRPr>
          </a:p>
        </p:txBody>
      </p:sp>
      <p:sp>
        <p:nvSpPr>
          <p:cNvPr id="58" name="Text 58">
            <a:extLst>
              <a:ext uri="{FF2B5EF4-FFF2-40B4-BE49-F238E27FC236}">
                <a16:creationId xmlns:a16="http://schemas.microsoft.com/office/drawing/2014/main" id="{8901D1F2-6BF7-AD5D-A711-4A18CF6FA2C9}"/>
              </a:ext>
            </a:extLst>
          </p:cNvPr>
          <p:cNvSpPr/>
          <p:nvPr/>
        </p:nvSpPr>
        <p:spPr>
          <a:xfrm>
            <a:off x="6535275" y="5161860"/>
            <a:ext cx="1682496" cy="365760"/>
          </a:xfrm>
          <a:prstGeom prst="roundRect">
            <a:avLst>
              <a:gd name="adj" fmla="val 20000"/>
            </a:avLst>
          </a:prstGeom>
          <a:solidFill>
            <a:srgbClr val="FFFFFF"/>
          </a:solidFill>
          <a:ln w="10795">
            <a:solidFill>
              <a:srgbClr val="C9BCA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20" b="0"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Choose tip amount</a:t>
            </a:r>
            <a:endParaRPr kumimoji="0" lang="en-US" sz="920" b="0" i="0" u="none" strike="noStrike" kern="0" cap="none" spc="0" normalizeH="0" baseline="0" noProof="0" dirty="0">
              <a:ln>
                <a:noFill/>
              </a:ln>
              <a:solidFill>
                <a:prstClr val="black"/>
              </a:solidFill>
              <a:effectLst/>
              <a:uLnTx/>
              <a:uFillTx/>
              <a:latin typeface="Aptos"/>
              <a:ea typeface="+mn-ea"/>
              <a:cs typeface="+mn-cs"/>
            </a:endParaRPr>
          </a:p>
        </p:txBody>
      </p:sp>
      <p:sp>
        <p:nvSpPr>
          <p:cNvPr id="59" name="Text 59">
            <a:extLst>
              <a:ext uri="{FF2B5EF4-FFF2-40B4-BE49-F238E27FC236}">
                <a16:creationId xmlns:a16="http://schemas.microsoft.com/office/drawing/2014/main" id="{3C6CA587-4E0A-B7B3-95B8-B660166B341F}"/>
              </a:ext>
            </a:extLst>
          </p:cNvPr>
          <p:cNvSpPr/>
          <p:nvPr/>
        </p:nvSpPr>
        <p:spPr>
          <a:xfrm>
            <a:off x="6535275" y="5774508"/>
            <a:ext cx="1682496" cy="365760"/>
          </a:xfrm>
          <a:prstGeom prst="roundRect">
            <a:avLst>
              <a:gd name="adj" fmla="val 20000"/>
            </a:avLst>
          </a:prstGeom>
          <a:solidFill>
            <a:srgbClr val="FFFFFF"/>
          </a:solidFill>
          <a:ln w="10795">
            <a:solidFill>
              <a:srgbClr val="C9BCA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20" b="0"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Tip confirmation</a:t>
            </a:r>
            <a:endParaRPr kumimoji="0" lang="en-US" sz="920" b="0" i="0" u="none" strike="noStrike" kern="0" cap="none" spc="0" normalizeH="0" baseline="0" noProof="0" dirty="0">
              <a:ln>
                <a:noFill/>
              </a:ln>
              <a:solidFill>
                <a:prstClr val="black"/>
              </a:solidFill>
              <a:effectLst/>
              <a:uLnTx/>
              <a:uFillTx/>
              <a:latin typeface="Aptos"/>
              <a:ea typeface="+mn-ea"/>
              <a:cs typeface="+mn-cs"/>
            </a:endParaRPr>
          </a:p>
        </p:txBody>
      </p:sp>
      <p:sp>
        <p:nvSpPr>
          <p:cNvPr id="60" name="Text 60">
            <a:extLst>
              <a:ext uri="{FF2B5EF4-FFF2-40B4-BE49-F238E27FC236}">
                <a16:creationId xmlns:a16="http://schemas.microsoft.com/office/drawing/2014/main" id="{7EB3665D-4674-C770-9D4A-98FFB96A9BC0}"/>
              </a:ext>
            </a:extLst>
          </p:cNvPr>
          <p:cNvSpPr/>
          <p:nvPr/>
        </p:nvSpPr>
        <p:spPr>
          <a:xfrm>
            <a:off x="8674971" y="5161860"/>
            <a:ext cx="1280160" cy="365760"/>
          </a:xfrm>
          <a:prstGeom prst="roundRect">
            <a:avLst>
              <a:gd name="adj" fmla="val 20000"/>
            </a:avLst>
          </a:prstGeom>
          <a:solidFill>
            <a:srgbClr val="FFFFFF"/>
          </a:solidFill>
          <a:ln w="10795">
            <a:solidFill>
              <a:srgbClr val="C9BCA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20" b="0"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Add card</a:t>
            </a:r>
            <a:endParaRPr kumimoji="0" lang="en-US" sz="920" b="0" i="0" u="none" strike="noStrike" kern="0" cap="none" spc="0" normalizeH="0" baseline="0" noProof="0" dirty="0">
              <a:ln>
                <a:noFill/>
              </a:ln>
              <a:solidFill>
                <a:prstClr val="black"/>
              </a:solidFill>
              <a:effectLst/>
              <a:uLnTx/>
              <a:uFillTx/>
              <a:latin typeface="Aptos"/>
              <a:ea typeface="+mn-ea"/>
              <a:cs typeface="+mn-cs"/>
            </a:endParaRPr>
          </a:p>
        </p:txBody>
      </p:sp>
      <p:sp>
        <p:nvSpPr>
          <p:cNvPr id="61" name="Text 61">
            <a:extLst>
              <a:ext uri="{FF2B5EF4-FFF2-40B4-BE49-F238E27FC236}">
                <a16:creationId xmlns:a16="http://schemas.microsoft.com/office/drawing/2014/main" id="{C2E10962-C297-EB7A-D2CD-D66BD64FCED0}"/>
              </a:ext>
            </a:extLst>
          </p:cNvPr>
          <p:cNvSpPr/>
          <p:nvPr/>
        </p:nvSpPr>
        <p:spPr>
          <a:xfrm>
            <a:off x="10138011" y="5161860"/>
            <a:ext cx="914400" cy="365760"/>
          </a:xfrm>
          <a:prstGeom prst="roundRect">
            <a:avLst>
              <a:gd name="adj" fmla="val 20000"/>
            </a:avLst>
          </a:prstGeom>
          <a:solidFill>
            <a:srgbClr val="FFFFFF"/>
          </a:solidFill>
          <a:ln w="10795">
            <a:solidFill>
              <a:srgbClr val="C9BCA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20" b="0" i="0" u="none" strike="noStrike" kern="0" cap="none" spc="0" normalizeH="0" baseline="0" noProof="0" dirty="0">
                <a:ln>
                  <a:noFill/>
                </a:ln>
                <a:solidFill>
                  <a:srgbClr val="27231F"/>
                </a:solidFill>
                <a:effectLst/>
                <a:uLnTx/>
                <a:uFillTx/>
                <a:latin typeface="Aptos"/>
                <a:ea typeface="Aptos" pitchFamily="34" charset="-122"/>
                <a:cs typeface="Aptos" pitchFamily="34" charset="-120"/>
              </a:rPr>
              <a:t>Add bank</a:t>
            </a:r>
            <a:endParaRPr kumimoji="0" lang="en-US" sz="820" b="0" i="0" u="none" strike="noStrike" kern="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9" name="Picture 48">
            <a:extLst>
              <a:ext uri="{FF2B5EF4-FFF2-40B4-BE49-F238E27FC236}">
                <a16:creationId xmlns:a16="http://schemas.microsoft.com/office/drawing/2014/main" id="{01969119-1BCC-BE49-8440-2A2E51CFDDB9}"/>
              </a:ext>
            </a:extLst>
          </p:cNvPr>
          <p:cNvPicPr>
            <a:picLocks noChangeAspect="1"/>
          </p:cNvPicPr>
          <p:nvPr/>
        </p:nvPicPr>
        <p:blipFill>
          <a:blip r:embed="rId3"/>
          <a:stretch>
            <a:fillRect/>
          </a:stretch>
        </p:blipFill>
        <p:spPr>
          <a:xfrm>
            <a:off x="0" y="-149897"/>
            <a:ext cx="12525829" cy="7157793"/>
          </a:xfrm>
          <a:prstGeom prst="rect">
            <a:avLst/>
          </a:prstGeom>
        </p:spPr>
      </p:pic>
      <p:sp>
        <p:nvSpPr>
          <p:cNvPr id="357" name="Shape 4"/>
          <p:cNvSpPr/>
          <p:nvPr/>
        </p:nvSpPr>
        <p:spPr>
          <a:xfrm rot="720000">
            <a:off x="11118960" y="219240"/>
            <a:ext cx="63720" cy="42948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58" name="Shape 5"/>
          <p:cNvSpPr/>
          <p:nvPr/>
        </p:nvSpPr>
        <p:spPr>
          <a:xfrm rot="720000">
            <a:off x="11228760" y="219240"/>
            <a:ext cx="63720" cy="429480"/>
          </a:xfrm>
          <a:prstGeom prst="parallelogram">
            <a:avLst>
              <a:gd name="adj" fmla="val 25000"/>
            </a:avLst>
          </a:prstGeom>
          <a:solidFill>
            <a:srgbClr val="F15A00"/>
          </a:solidFill>
          <a:ln w="12700">
            <a:solidFill>
              <a:srgbClr val="F15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59" name="Shape 6"/>
          <p:cNvSpPr/>
          <p:nvPr/>
        </p:nvSpPr>
        <p:spPr>
          <a:xfrm rot="720000">
            <a:off x="11338560" y="219240"/>
            <a:ext cx="63720" cy="429480"/>
          </a:xfrm>
          <a:prstGeom prst="parallelogram">
            <a:avLst>
              <a:gd name="adj" fmla="val 25000"/>
            </a:avLst>
          </a:prstGeom>
          <a:solidFill>
            <a:srgbClr val="6B2600"/>
          </a:solidFill>
          <a:ln w="12700">
            <a:solidFill>
              <a:srgbClr val="6B26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60" name="Text 7"/>
          <p:cNvSpPr/>
          <p:nvPr/>
        </p:nvSpPr>
        <p:spPr>
          <a:xfrm>
            <a:off x="685799" y="576000"/>
            <a:ext cx="2812143"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7200" b="1" i="0" u="none" strike="noStrike" kern="1200" cap="none" spc="0" normalizeH="0" baseline="0" noProof="0" dirty="0">
                <a:ln>
                  <a:noFill/>
                </a:ln>
                <a:solidFill>
                  <a:srgbClr val="FFFFFF"/>
                </a:solidFill>
                <a:effectLst/>
                <a:uLnTx/>
                <a:uFillTx/>
                <a:latin typeface="Aptos Display"/>
                <a:ea typeface="Aptos Display"/>
                <a:cs typeface="+mn-cs"/>
              </a:rPr>
              <a:t>32</a:t>
            </a:r>
            <a:endParaRPr kumimoji="0" lang="en-US" sz="7200" b="0" i="0" u="none" strike="noStrike" kern="1200" cap="none" spc="0" normalizeH="0" baseline="0" noProof="0" dirty="0">
              <a:ln>
                <a:noFill/>
              </a:ln>
              <a:solidFill>
                <a:srgbClr val="FFFFFF"/>
              </a:solidFill>
              <a:effectLst/>
              <a:uLnTx/>
              <a:uFillTx/>
              <a:latin typeface="Arial"/>
              <a:ea typeface="+mn-ea"/>
              <a:cs typeface="+mn-cs"/>
            </a:endParaRPr>
          </a:p>
        </p:txBody>
      </p:sp>
      <p:sp>
        <p:nvSpPr>
          <p:cNvPr id="361" name="Text 8"/>
          <p:cNvSpPr/>
          <p:nvPr/>
        </p:nvSpPr>
        <p:spPr>
          <a:xfrm>
            <a:off x="1914745" y="1078133"/>
            <a:ext cx="3978056" cy="12299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2800" b="1" i="0" u="none" strike="noStrike" kern="1200" cap="none" spc="105" normalizeH="0" baseline="0" noProof="0" dirty="0">
                <a:ln>
                  <a:noFill/>
                </a:ln>
                <a:solidFill>
                  <a:srgbClr val="FF7A00"/>
                </a:solidFill>
                <a:effectLst/>
                <a:uLnTx/>
                <a:uFillTx/>
                <a:latin typeface="Aptos"/>
                <a:ea typeface="Aptos"/>
                <a:cs typeface="+mn-cs"/>
              </a:rPr>
              <a:t>DESIGN SCREENS</a:t>
            </a:r>
            <a:endParaRPr kumimoji="0" lang="en-US" sz="2800" b="0" i="0" u="none" strike="noStrike" kern="1200" cap="none" spc="0" normalizeH="0" baseline="0" noProof="0" dirty="0">
              <a:ln>
                <a:noFill/>
              </a:ln>
              <a:solidFill>
                <a:srgbClr val="FFFFFF"/>
              </a:solidFill>
              <a:effectLst/>
              <a:uLnTx/>
              <a:uFillTx/>
              <a:latin typeface="Arial"/>
              <a:ea typeface="+mn-ea"/>
              <a:cs typeface="+mn-cs"/>
            </a:endParaRPr>
          </a:p>
        </p:txBody>
      </p:sp>
      <p:pic>
        <p:nvPicPr>
          <p:cNvPr id="37" name="Picture 36">
            <a:extLst>
              <a:ext uri="{FF2B5EF4-FFF2-40B4-BE49-F238E27FC236}">
                <a16:creationId xmlns:a16="http://schemas.microsoft.com/office/drawing/2014/main" id="{18DD2F38-57DA-01C5-4DF9-232B25C1EC8E}"/>
              </a:ext>
            </a:extLst>
          </p:cNvPr>
          <p:cNvPicPr>
            <a:picLocks noChangeAspect="1"/>
          </p:cNvPicPr>
          <p:nvPr/>
        </p:nvPicPr>
        <p:blipFill>
          <a:blip r:embed="rId4"/>
          <a:stretch>
            <a:fillRect/>
          </a:stretch>
        </p:blipFill>
        <p:spPr>
          <a:xfrm>
            <a:off x="6275836" y="2239140"/>
            <a:ext cx="1510349" cy="3317442"/>
          </a:xfrm>
          <a:prstGeom prst="rect">
            <a:avLst/>
          </a:prstGeom>
        </p:spPr>
      </p:pic>
      <p:pic>
        <p:nvPicPr>
          <p:cNvPr id="39" name="Picture 38">
            <a:extLst>
              <a:ext uri="{FF2B5EF4-FFF2-40B4-BE49-F238E27FC236}">
                <a16:creationId xmlns:a16="http://schemas.microsoft.com/office/drawing/2014/main" id="{88976B49-A687-51E3-DE0B-6CCC382FC9A0}"/>
              </a:ext>
            </a:extLst>
          </p:cNvPr>
          <p:cNvPicPr>
            <a:picLocks noChangeAspect="1"/>
          </p:cNvPicPr>
          <p:nvPr/>
        </p:nvPicPr>
        <p:blipFill>
          <a:blip r:embed="rId5"/>
          <a:stretch>
            <a:fillRect/>
          </a:stretch>
        </p:blipFill>
        <p:spPr>
          <a:xfrm>
            <a:off x="10176548" y="2207653"/>
            <a:ext cx="1539020" cy="3380415"/>
          </a:xfrm>
          <a:prstGeom prst="rect">
            <a:avLst/>
          </a:prstGeom>
        </p:spPr>
      </p:pic>
      <p:pic>
        <p:nvPicPr>
          <p:cNvPr id="5" name="Picture 4">
            <a:extLst>
              <a:ext uri="{FF2B5EF4-FFF2-40B4-BE49-F238E27FC236}">
                <a16:creationId xmlns:a16="http://schemas.microsoft.com/office/drawing/2014/main" id="{C08252B8-1ADA-14D9-6154-4F1AFC8A26E7}"/>
              </a:ext>
            </a:extLst>
          </p:cNvPr>
          <p:cNvPicPr>
            <a:picLocks noChangeAspect="1"/>
          </p:cNvPicPr>
          <p:nvPr/>
        </p:nvPicPr>
        <p:blipFill>
          <a:blip r:embed="rId6"/>
          <a:stretch>
            <a:fillRect/>
          </a:stretch>
        </p:blipFill>
        <p:spPr>
          <a:xfrm>
            <a:off x="4556981" y="2224150"/>
            <a:ext cx="1539019" cy="3317442"/>
          </a:xfrm>
          <a:prstGeom prst="rect">
            <a:avLst/>
          </a:prstGeom>
        </p:spPr>
      </p:pic>
      <p:pic>
        <p:nvPicPr>
          <p:cNvPr id="7" name="Picture 6">
            <a:extLst>
              <a:ext uri="{FF2B5EF4-FFF2-40B4-BE49-F238E27FC236}">
                <a16:creationId xmlns:a16="http://schemas.microsoft.com/office/drawing/2014/main" id="{12418926-4E5A-C0C2-75E7-37D7A43585A6}"/>
              </a:ext>
            </a:extLst>
          </p:cNvPr>
          <p:cNvPicPr>
            <a:picLocks noChangeAspect="1"/>
          </p:cNvPicPr>
          <p:nvPr/>
        </p:nvPicPr>
        <p:blipFill>
          <a:blip r:embed="rId7"/>
          <a:stretch>
            <a:fillRect/>
          </a:stretch>
        </p:blipFill>
        <p:spPr>
          <a:xfrm>
            <a:off x="8486363" y="2224150"/>
            <a:ext cx="1539020" cy="3317442"/>
          </a:xfrm>
          <a:prstGeom prst="rect">
            <a:avLst/>
          </a:prstGeom>
        </p:spPr>
      </p:pic>
      <p:pic>
        <p:nvPicPr>
          <p:cNvPr id="9" name="Picture 8">
            <a:extLst>
              <a:ext uri="{FF2B5EF4-FFF2-40B4-BE49-F238E27FC236}">
                <a16:creationId xmlns:a16="http://schemas.microsoft.com/office/drawing/2014/main" id="{7022588E-D621-7F41-7650-AFC0D2D87E48}"/>
              </a:ext>
            </a:extLst>
          </p:cNvPr>
          <p:cNvPicPr>
            <a:picLocks noChangeAspect="1"/>
          </p:cNvPicPr>
          <p:nvPr/>
        </p:nvPicPr>
        <p:blipFill>
          <a:blip r:embed="rId8"/>
          <a:stretch>
            <a:fillRect/>
          </a:stretch>
        </p:blipFill>
        <p:spPr>
          <a:xfrm>
            <a:off x="512524" y="2161177"/>
            <a:ext cx="1568233" cy="3380415"/>
          </a:xfrm>
          <a:prstGeom prst="rect">
            <a:avLst/>
          </a:prstGeom>
        </p:spPr>
      </p:pic>
      <p:pic>
        <p:nvPicPr>
          <p:cNvPr id="11" name="Picture 10">
            <a:extLst>
              <a:ext uri="{FF2B5EF4-FFF2-40B4-BE49-F238E27FC236}">
                <a16:creationId xmlns:a16="http://schemas.microsoft.com/office/drawing/2014/main" id="{E2BC5092-4343-6C7C-31E7-F970D67291F9}"/>
              </a:ext>
            </a:extLst>
          </p:cNvPr>
          <p:cNvPicPr>
            <a:picLocks noChangeAspect="1"/>
          </p:cNvPicPr>
          <p:nvPr/>
        </p:nvPicPr>
        <p:blipFill>
          <a:blip r:embed="rId9"/>
          <a:stretch>
            <a:fillRect/>
          </a:stretch>
        </p:blipFill>
        <p:spPr>
          <a:xfrm>
            <a:off x="2260593" y="2161177"/>
            <a:ext cx="1568233" cy="339381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40080" y="489691"/>
            <a:ext cx="86868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20" normalizeH="0" baseline="0" noProof="0" dirty="0">
                <a:ln>
                  <a:noFill/>
                </a:ln>
                <a:solidFill>
                  <a:srgbClr val="EC8800"/>
                </a:solidFill>
                <a:effectLst/>
                <a:uLnTx/>
                <a:uFillTx/>
                <a:latin typeface="Calibri" pitchFamily="34" charset="0"/>
                <a:ea typeface="Calibri" pitchFamily="34" charset="-122"/>
                <a:cs typeface="Calibri" pitchFamily="34" charset="-120"/>
              </a:rPr>
              <a:t>DESIGN DECISIONS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40080" y="1051560"/>
            <a:ext cx="100584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D1614"/>
                </a:solidFill>
                <a:effectLst/>
                <a:uLnTx/>
                <a:uFillTx/>
                <a:latin typeface="Arial" pitchFamily="34" charset="0"/>
                <a:ea typeface="Arial" pitchFamily="34" charset="-122"/>
                <a:cs typeface="Arial" pitchFamily="34" charset="-120"/>
              </a:rPr>
              <a:t>Key decisions &amp; visual design system</a:t>
            </a:r>
            <a:endParaRPr kumimoji="0" lang="en-US" sz="2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66328" y="3104674"/>
            <a:ext cx="6675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DD1C1F"/>
                </a:solidFill>
                <a:effectLst/>
                <a:uLnTx/>
                <a:uFillTx/>
                <a:latin typeface="Calibri" pitchFamily="34" charset="0"/>
                <a:ea typeface="Calibri" pitchFamily="34" charset="-122"/>
                <a:cs typeface="Calibri" pitchFamily="34" charset="-120"/>
              </a:rPr>
              <a:t>One unified balance, not separate wallets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66328" y="3570446"/>
            <a:ext cx="6675120" cy="192024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Fuel and in-store purchases feed a single visible points balance instead of separate pools. </a:t>
            </a:r>
            <a:r>
              <a:rPr kumimoji="0" lang="en-US" sz="1200" b="0" i="0" u="none" strike="noStrike" kern="1200" cap="none" spc="0" normalizeH="0" baseline="0" noProof="0" dirty="0">
                <a:ln>
                  <a:noFill/>
                </a:ln>
                <a:solidFill>
                  <a:srgbClr val="ED7D31"/>
                </a:solidFill>
                <a:effectLst/>
                <a:uLnTx/>
                <a:uFillTx/>
                <a:latin typeface="Calibri" pitchFamily="34" charset="0"/>
                <a:ea typeface="Calibri" pitchFamily="34" charset="-122"/>
                <a:cs typeface="Calibri" pitchFamily="34" charset="-120"/>
              </a:rPr>
              <a:t>Alternative considered</a:t>
            </a:r>
            <a:r>
              <a:rPr kumimoji="0" lang="en-US" sz="12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 mirroring the business structure with distinct fuel-points and shop-points wallets. I ruled this out because it recreates the fragmentation problem in a new form, many balances are harder to track than one, even if each is individually visible. A single number reinforces the “one </a:t>
            </a:r>
            <a:r>
              <a:rPr kumimoji="0" lang="en-US" sz="1200" b="0" i="0" u="none" strike="noStrike" kern="1200" cap="none" spc="0" normalizeH="0" baseline="0" noProof="0" dirty="0" err="1">
                <a:ln>
                  <a:noFill/>
                </a:ln>
                <a:solidFill>
                  <a:srgbClr val="2A2622"/>
                </a:solidFill>
                <a:effectLst/>
                <a:uLnTx/>
                <a:uFillTx/>
                <a:latin typeface="Calibri" pitchFamily="34" charset="0"/>
                <a:ea typeface="Calibri" pitchFamily="34" charset="-122"/>
                <a:cs typeface="Calibri" pitchFamily="34" charset="-120"/>
              </a:rPr>
              <a:t>programme</a:t>
            </a:r>
            <a:r>
              <a:rPr kumimoji="0" lang="en-US" sz="1200" b="0" i="0" u="none" strike="noStrike" kern="1200" cap="none" spc="0" normalizeH="0" baseline="0" noProof="0" dirty="0">
                <a:ln>
                  <a:noFill/>
                </a:ln>
                <a:solidFill>
                  <a:srgbClr val="2A2622"/>
                </a:solidFill>
                <a:effectLst/>
                <a:uLnTx/>
                <a:uFillTx/>
                <a:latin typeface="Calibri" pitchFamily="34" charset="0"/>
                <a:ea typeface="Calibri" pitchFamily="34" charset="-122"/>
                <a:cs typeface="Calibri" pitchFamily="34" charset="-120"/>
              </a:rPr>
              <a:t>” mental model the whole redesign is built around</a:t>
            </a:r>
            <a:r>
              <a:rPr kumimoji="0" lang="en-US" sz="1200" b="0" i="0" u="none" strike="noStrike" kern="1200" cap="none" spc="0" normalizeH="0" baseline="0" noProof="0" dirty="0">
                <a:ln>
                  <a:noFill/>
                </a:ln>
                <a:solidFill>
                  <a:srgbClr val="2A2622"/>
                </a:solidFill>
                <a:effectLst/>
                <a:uLnTx/>
                <a:uFillTx/>
                <a:latin typeface="Calibri Light" panose="020F0302020204030204"/>
                <a:ea typeface="Calibri" pitchFamily="34" charset="-122"/>
                <a:cs typeface="Calibri" pitchFamily="34" charset="-120"/>
              </a:rPr>
              <a:t>. </a:t>
            </a:r>
            <a:r>
              <a:rPr kumimoji="0" lang="en-ZA" sz="1200" b="0" i="0" u="none" strike="noStrike" kern="1200" cap="none" spc="0" normalizeH="0" baseline="0" noProof="0" dirty="0">
                <a:ln>
                  <a:noFill/>
                </a:ln>
                <a:solidFill>
                  <a:prstClr val="black"/>
                </a:solidFill>
                <a:effectLst/>
                <a:uLnTx/>
                <a:uFillTx/>
                <a:latin typeface="Calibri Light" panose="020F0302020204030204"/>
                <a:ea typeface="+mn-ea"/>
                <a:cs typeface="+mn-cs"/>
              </a:rPr>
              <a:t>Strategically, this turns rewards from a passive back-end benefit into an active part of the customer experience. The design decision supports both user clarity and stronger perceived programme value.</a:t>
            </a:r>
            <a:endPar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6" name="Shape 11">
            <a:extLst>
              <a:ext uri="{FF2B5EF4-FFF2-40B4-BE49-F238E27FC236}">
                <a16:creationId xmlns:a16="http://schemas.microsoft.com/office/drawing/2014/main" id="{69FB5F63-BFFE-A3F0-8B25-80B213D3FDB6}"/>
              </a:ext>
            </a:extLst>
          </p:cNvPr>
          <p:cNvSpPr/>
          <p:nvPr/>
        </p:nvSpPr>
        <p:spPr>
          <a:xfrm>
            <a:off x="722520" y="2274643"/>
            <a:ext cx="4251600" cy="529920"/>
          </a:xfrm>
          <a:prstGeom prst="parallelogram">
            <a:avLst>
              <a:gd name="adj" fmla="val 13496"/>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8" name="Shape 12">
            <a:extLst>
              <a:ext uri="{FF2B5EF4-FFF2-40B4-BE49-F238E27FC236}">
                <a16:creationId xmlns:a16="http://schemas.microsoft.com/office/drawing/2014/main" id="{CE42E26A-0862-12F2-556C-BD7CD382FE91}"/>
              </a:ext>
            </a:extLst>
          </p:cNvPr>
          <p:cNvSpPr/>
          <p:nvPr/>
        </p:nvSpPr>
        <p:spPr>
          <a:xfrm>
            <a:off x="640080" y="2274643"/>
            <a:ext cx="164160" cy="52992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Text 13">
            <a:extLst>
              <a:ext uri="{FF2B5EF4-FFF2-40B4-BE49-F238E27FC236}">
                <a16:creationId xmlns:a16="http://schemas.microsoft.com/office/drawing/2014/main" id="{B04EE396-E8D1-3309-9C32-278FE77CC0E8}"/>
              </a:ext>
            </a:extLst>
          </p:cNvPr>
          <p:cNvSpPr/>
          <p:nvPr/>
        </p:nvSpPr>
        <p:spPr>
          <a:xfrm>
            <a:off x="923760" y="2393443"/>
            <a:ext cx="39405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a:ln>
                  <a:noFill/>
                </a:ln>
                <a:solidFill>
                  <a:srgbClr val="F7F5F0"/>
                </a:solidFill>
                <a:effectLst/>
                <a:uLnTx/>
                <a:uFillTx/>
                <a:latin typeface="Aptos"/>
                <a:ea typeface="Aptos"/>
                <a:cs typeface="+mn-cs"/>
              </a:rPr>
              <a:t>01  SEE IT</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pic>
        <p:nvPicPr>
          <p:cNvPr id="22" name="Picture 21">
            <a:extLst>
              <a:ext uri="{FF2B5EF4-FFF2-40B4-BE49-F238E27FC236}">
                <a16:creationId xmlns:a16="http://schemas.microsoft.com/office/drawing/2014/main" id="{578FDBED-735D-4905-6307-591467A7DE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3480" y="535343"/>
            <a:ext cx="8686800" cy="65151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5D96D7C-5C56-3028-D60F-D01B46E22E44}"/>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874D163C-EBBF-86BC-1208-4B806B3D8E86}"/>
              </a:ext>
            </a:extLst>
          </p:cNvPr>
          <p:cNvSpPr/>
          <p:nvPr/>
        </p:nvSpPr>
        <p:spPr>
          <a:xfrm>
            <a:off x="639720" y="517671"/>
            <a:ext cx="86868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20" normalizeH="0" baseline="0" noProof="0" dirty="0">
                <a:ln>
                  <a:noFill/>
                </a:ln>
                <a:solidFill>
                  <a:srgbClr val="EC8800"/>
                </a:solidFill>
                <a:effectLst/>
                <a:uLnTx/>
                <a:uFillTx/>
                <a:latin typeface="Calibri" pitchFamily="34" charset="0"/>
                <a:ea typeface="Calibri" pitchFamily="34" charset="-122"/>
                <a:cs typeface="Calibri" pitchFamily="34" charset="-120"/>
              </a:rPr>
              <a:t>DESIGN DECISIONS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EB31A723-0074-98F9-F69A-5D89BF432F36}"/>
              </a:ext>
            </a:extLst>
          </p:cNvPr>
          <p:cNvSpPr/>
          <p:nvPr/>
        </p:nvSpPr>
        <p:spPr>
          <a:xfrm>
            <a:off x="640080" y="1051560"/>
            <a:ext cx="100584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D1614"/>
                </a:solidFill>
                <a:effectLst/>
                <a:uLnTx/>
                <a:uFillTx/>
                <a:latin typeface="Arial" pitchFamily="34" charset="0"/>
                <a:ea typeface="Arial" pitchFamily="34" charset="-122"/>
                <a:cs typeface="Arial" pitchFamily="34" charset="-120"/>
              </a:rPr>
              <a:t>Key decisions &amp; visual design system</a:t>
            </a:r>
            <a:endParaRPr kumimoji="0" lang="en-US" sz="2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F88D6256-0B99-498C-5B9E-3EAEDA25194E}"/>
              </a:ext>
            </a:extLst>
          </p:cNvPr>
          <p:cNvSpPr/>
          <p:nvPr/>
        </p:nvSpPr>
        <p:spPr>
          <a:xfrm>
            <a:off x="538480" y="3255691"/>
            <a:ext cx="6675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DD1C1F"/>
                </a:solidFill>
                <a:effectLst/>
                <a:uLnTx/>
                <a:uFillTx/>
                <a:latin typeface="Calibri" pitchFamily="34" charset="0"/>
                <a:ea typeface="Calibri" pitchFamily="34" charset="-122"/>
                <a:cs typeface="Calibri" pitchFamily="34" charset="-120"/>
              </a:rPr>
              <a:t>Real-time visibility and control over point usage</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B90C9EC5-B690-D44C-2C9D-FB8DD86E25D1}"/>
              </a:ext>
            </a:extLst>
          </p:cNvPr>
          <p:cNvSpPr/>
          <p:nvPr/>
        </p:nvSpPr>
        <p:spPr>
          <a:xfrm>
            <a:off x="538480" y="3680461"/>
            <a:ext cx="6675120" cy="146304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200" b="1" i="0" u="none" strike="noStrike" kern="1200" cap="none" spc="0" normalizeH="0" baseline="0" noProof="0" dirty="0">
                <a:ln>
                  <a:noFill/>
                </a:ln>
                <a:solidFill>
                  <a:prstClr val="black"/>
                </a:solidFill>
                <a:effectLst/>
                <a:uLnTx/>
                <a:uFillTx/>
                <a:latin typeface="Calibri" panose="020F0502020204030204"/>
                <a:ea typeface="+mn-ea"/>
                <a:cs typeface="+mn-cs"/>
              </a:rPr>
              <a:t>Reduce redemption friction:</a:t>
            </a:r>
            <a:r>
              <a:rPr kumimoji="0" lang="en-ZA" sz="1200" b="0" i="0" u="none" strike="noStrike" kern="1200" cap="none" spc="0" normalizeH="0" baseline="0" noProof="0" dirty="0">
                <a:ln>
                  <a:noFill/>
                </a:ln>
                <a:solidFill>
                  <a:prstClr val="black"/>
                </a:solidFill>
                <a:effectLst/>
                <a:uLnTx/>
                <a:uFillTx/>
                <a:latin typeface="Calibri" panose="020F0502020204030204"/>
                <a:ea typeface="+mn-ea"/>
                <a:cs typeface="+mn-cs"/>
              </a:rPr>
              <a:t> Rejected a conventional points model that relies on high redemption thresholds, delayed rewards or restricted catalogues. Those approaches may support long-term accumulation, but they weaken immediacy and can make the benefit feel distant. Velocity instead allows users to redeem or withdraw value closer to the moment it is earned. Strategically, this reduces the distance between behaviour and benefit, making the programme more relevant to everyday fuel needs. The principle is simple: value should not only be earned; it should be usable.</a:t>
            </a:r>
            <a:r>
              <a:rPr kumimoji="0" lang="en-US" sz="1200" b="0" i="0" u="none" strike="noStrike" kern="1200" cap="none" spc="0" normalizeH="0" baseline="0" noProof="0" dirty="0">
                <a:ln>
                  <a:noFill/>
                </a:ln>
                <a:solidFill>
                  <a:srgbClr val="2A2622"/>
                </a:solidFill>
                <a:effectLst/>
                <a:uLnTx/>
                <a:uFillTx/>
                <a:latin typeface="Calibri" panose="020F0502020204030204"/>
                <a:ea typeface="Calibri" pitchFamily="34" charset="-122"/>
                <a:cs typeface="Calibri"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EEFB3295-D76A-EF2C-30A5-FDC2ED5AE2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69280" y="950267"/>
            <a:ext cx="7876977" cy="5907733"/>
          </a:xfrm>
          <a:prstGeom prst="rect">
            <a:avLst/>
          </a:prstGeom>
        </p:spPr>
      </p:pic>
      <p:sp>
        <p:nvSpPr>
          <p:cNvPr id="13" name="Shape 15">
            <a:extLst>
              <a:ext uri="{FF2B5EF4-FFF2-40B4-BE49-F238E27FC236}">
                <a16:creationId xmlns:a16="http://schemas.microsoft.com/office/drawing/2014/main" id="{09F88E62-EAF6-D7F6-D7BD-FEDDED5BC1DA}"/>
              </a:ext>
            </a:extLst>
          </p:cNvPr>
          <p:cNvSpPr/>
          <p:nvPr/>
        </p:nvSpPr>
        <p:spPr>
          <a:xfrm>
            <a:off x="640080" y="2466810"/>
            <a:ext cx="4251600" cy="529920"/>
          </a:xfrm>
          <a:prstGeom prst="parallelogram">
            <a:avLst>
              <a:gd name="adj" fmla="val 14934"/>
            </a:avLst>
          </a:prstGeom>
          <a:solidFill>
            <a:srgbClr val="2D1609"/>
          </a:solidFill>
          <a:ln w="10160">
            <a:solidFill>
              <a:srgbClr val="5F2B08"/>
            </a:solidFill>
            <a:round/>
          </a:ln>
          <a:effectLst/>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15" name="Shape 16">
            <a:extLst>
              <a:ext uri="{FF2B5EF4-FFF2-40B4-BE49-F238E27FC236}">
                <a16:creationId xmlns:a16="http://schemas.microsoft.com/office/drawing/2014/main" id="{5BE30C93-8BFF-195B-A607-3EB4214CF72E}"/>
              </a:ext>
            </a:extLst>
          </p:cNvPr>
          <p:cNvSpPr/>
          <p:nvPr/>
        </p:nvSpPr>
        <p:spPr>
          <a:xfrm>
            <a:off x="557640" y="2466810"/>
            <a:ext cx="164160" cy="529920"/>
          </a:xfrm>
          <a:prstGeom prst="parallelogram">
            <a:avLst>
              <a:gd name="adj" fmla="val 25000"/>
            </a:avLst>
          </a:prstGeom>
          <a:solidFill>
            <a:srgbClr val="FF7A00"/>
          </a:solidFill>
          <a:ln w="12700">
            <a:solidFill>
              <a:srgbClr val="FF7A00"/>
            </a:solidFill>
            <a:round/>
          </a:ln>
          <a:effectLst/>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mn-cs"/>
            </a:endParaRPr>
          </a:p>
        </p:txBody>
      </p:sp>
      <p:sp>
        <p:nvSpPr>
          <p:cNvPr id="17" name="Text 17">
            <a:extLst>
              <a:ext uri="{FF2B5EF4-FFF2-40B4-BE49-F238E27FC236}">
                <a16:creationId xmlns:a16="http://schemas.microsoft.com/office/drawing/2014/main" id="{B8B878CB-84FF-B9AD-3CBF-188FA2B196C9}"/>
              </a:ext>
            </a:extLst>
          </p:cNvPr>
          <p:cNvSpPr/>
          <p:nvPr/>
        </p:nvSpPr>
        <p:spPr>
          <a:xfrm>
            <a:off x="841320" y="2585610"/>
            <a:ext cx="3940560" cy="164160"/>
          </a:xfrm>
          <a:prstGeom prst="rect">
            <a:avLst/>
          </a:prstGeom>
          <a:noFill/>
          <a:ln w="0">
            <a:noFill/>
          </a:ln>
          <a:effectLst/>
        </p:spPr>
        <p:txBody>
          <a:bodyPr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0" cap="none" spc="0" normalizeH="0" baseline="0" noProof="0">
                <a:ln>
                  <a:noFill/>
                </a:ln>
                <a:solidFill>
                  <a:srgbClr val="F7F5F0"/>
                </a:solidFill>
                <a:effectLst/>
                <a:uLnTx/>
                <a:uFillTx/>
                <a:latin typeface="Aptos"/>
                <a:ea typeface="Aptos"/>
                <a:cs typeface="+mn-cs"/>
              </a:rPr>
              <a:t>02  USE IT NOW</a:t>
            </a:r>
            <a:endParaRPr kumimoji="0" lang="en-US" sz="1100" b="0" i="0" u="none" strike="noStrike" kern="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846914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AE51D7E-DA77-C6FA-C292-3780F72CB09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90F145A-3490-AEF5-FEF7-B3CE08A9F63B}"/>
              </a:ext>
            </a:extLst>
          </p:cNvPr>
          <p:cNvSpPr/>
          <p:nvPr/>
        </p:nvSpPr>
        <p:spPr>
          <a:xfrm>
            <a:off x="630720" y="487423"/>
            <a:ext cx="86868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20" normalizeH="0" baseline="0" noProof="0" dirty="0">
                <a:ln>
                  <a:noFill/>
                </a:ln>
                <a:solidFill>
                  <a:srgbClr val="EC8800"/>
                </a:solidFill>
                <a:effectLst/>
                <a:uLnTx/>
                <a:uFillTx/>
                <a:latin typeface="Calibri" pitchFamily="34" charset="0"/>
                <a:ea typeface="Calibri" pitchFamily="34" charset="-122"/>
                <a:cs typeface="Calibri" pitchFamily="34" charset="-120"/>
              </a:rPr>
              <a:t>DESIGN DECISIONS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09A8E662-A557-F861-3759-D3C8104F51DA}"/>
              </a:ext>
            </a:extLst>
          </p:cNvPr>
          <p:cNvSpPr/>
          <p:nvPr/>
        </p:nvSpPr>
        <p:spPr>
          <a:xfrm>
            <a:off x="640080" y="1051560"/>
            <a:ext cx="100584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D1614"/>
                </a:solidFill>
                <a:effectLst/>
                <a:uLnTx/>
                <a:uFillTx/>
                <a:latin typeface="Arial" pitchFamily="34" charset="0"/>
                <a:ea typeface="Arial" pitchFamily="34" charset="-122"/>
                <a:cs typeface="Arial" pitchFamily="34" charset="-120"/>
              </a:rPr>
              <a:t>Key decisions &amp; visual design system</a:t>
            </a:r>
            <a:endParaRPr kumimoji="0" lang="en-US" sz="2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F3B30134-CF6E-D8CB-50B5-9AEF96DC413E}"/>
              </a:ext>
            </a:extLst>
          </p:cNvPr>
          <p:cNvSpPr/>
          <p:nvPr/>
        </p:nvSpPr>
        <p:spPr>
          <a:xfrm>
            <a:off x="538480" y="3255691"/>
            <a:ext cx="6675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DD1C1F"/>
                </a:solidFill>
                <a:effectLst/>
                <a:uLnTx/>
                <a:uFillTx/>
                <a:latin typeface="Calibri" pitchFamily="34" charset="0"/>
                <a:ea typeface="Calibri" pitchFamily="34" charset="-122"/>
                <a:cs typeface="Calibri" pitchFamily="34" charset="-120"/>
              </a:rPr>
              <a:t>Preserve customer freedom</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C7DCFD04-411C-5A8C-2AF3-75DC80522F3B}"/>
              </a:ext>
            </a:extLst>
          </p:cNvPr>
          <p:cNvSpPr/>
          <p:nvPr/>
        </p:nvSpPr>
        <p:spPr>
          <a:xfrm>
            <a:off x="538480" y="3680461"/>
            <a:ext cx="6675120" cy="146304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200" b="0" i="0" u="none" strike="noStrike" kern="1200" cap="none" spc="0" normalizeH="0" baseline="0" noProof="0" dirty="0">
                <a:ln>
                  <a:noFill/>
                </a:ln>
                <a:solidFill>
                  <a:prstClr val="black"/>
                </a:solidFill>
                <a:effectLst/>
                <a:uLnTx/>
                <a:uFillTx/>
                <a:latin typeface="Calibri" panose="020F0502020204030204"/>
                <a:ea typeface="+mn-ea"/>
                <a:cs typeface="+mn-cs"/>
              </a:rPr>
              <a:t>We deliberately moved away from a bank-linked or single-card loyalty structure, where customers need a specific financial product to qualify. That model was rejected because it creates unnecessary dependency and excludes users whose existing payment habits do not match the programme. Velocity keeps earning more payment-agnostic, allowing the customer to retain control over how they pay. Strategically, this broadens participation and positions Shell, rather than a banking partner, at the centre of the loyalty relationship.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19">
            <a:extLst>
              <a:ext uri="{FF2B5EF4-FFF2-40B4-BE49-F238E27FC236}">
                <a16:creationId xmlns:a16="http://schemas.microsoft.com/office/drawing/2014/main" id="{D605E293-C620-C2E4-83E0-8180A0DC3FDD}"/>
              </a:ext>
            </a:extLst>
          </p:cNvPr>
          <p:cNvSpPr/>
          <p:nvPr/>
        </p:nvSpPr>
        <p:spPr>
          <a:xfrm>
            <a:off x="722520" y="2466810"/>
            <a:ext cx="4251600" cy="529920"/>
          </a:xfrm>
          <a:prstGeom prst="parallelogram">
            <a:avLst>
              <a:gd name="adj" fmla="val 12058"/>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4" name="Shape 20">
            <a:extLst>
              <a:ext uri="{FF2B5EF4-FFF2-40B4-BE49-F238E27FC236}">
                <a16:creationId xmlns:a16="http://schemas.microsoft.com/office/drawing/2014/main" id="{B9D769E6-A821-9ADC-2258-F08CAC749884}"/>
              </a:ext>
            </a:extLst>
          </p:cNvPr>
          <p:cNvSpPr/>
          <p:nvPr/>
        </p:nvSpPr>
        <p:spPr>
          <a:xfrm>
            <a:off x="640080" y="2466810"/>
            <a:ext cx="164160" cy="52992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 name="Text 21">
            <a:extLst>
              <a:ext uri="{FF2B5EF4-FFF2-40B4-BE49-F238E27FC236}">
                <a16:creationId xmlns:a16="http://schemas.microsoft.com/office/drawing/2014/main" id="{5BAD2746-6ACF-88C9-AC5A-7B998D19249B}"/>
              </a:ext>
            </a:extLst>
          </p:cNvPr>
          <p:cNvSpPr/>
          <p:nvPr/>
        </p:nvSpPr>
        <p:spPr>
          <a:xfrm>
            <a:off x="923760" y="2585970"/>
            <a:ext cx="39405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a:ln>
                  <a:noFill/>
                </a:ln>
                <a:solidFill>
                  <a:srgbClr val="F7F5F0"/>
                </a:solidFill>
                <a:effectLst/>
                <a:uLnTx/>
                <a:uFillTx/>
                <a:latin typeface="Aptos"/>
                <a:ea typeface="Aptos"/>
                <a:cs typeface="+mn-cs"/>
              </a:rPr>
              <a:t>03  PAY MY WAY</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pic>
        <p:nvPicPr>
          <p:cNvPr id="20" name="Picture 19">
            <a:extLst>
              <a:ext uri="{FF2B5EF4-FFF2-40B4-BE49-F238E27FC236}">
                <a16:creationId xmlns:a16="http://schemas.microsoft.com/office/drawing/2014/main" id="{654FD8F2-C685-E155-0121-297D887459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4687" y="2044282"/>
            <a:ext cx="6418290" cy="4813718"/>
          </a:xfrm>
          <a:prstGeom prst="rect">
            <a:avLst/>
          </a:prstGeom>
        </p:spPr>
      </p:pic>
    </p:spTree>
    <p:extLst>
      <p:ext uri="{BB962C8B-B14F-4D97-AF65-F5344CB8AC3E}">
        <p14:creationId xmlns:p14="http://schemas.microsoft.com/office/powerpoint/2010/main" val="97606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2F1DF47-5FEF-A4E1-8F1E-90D11243AD5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EC80DE1-2856-429E-9BAB-12FC5F6457B4}"/>
              </a:ext>
            </a:extLst>
          </p:cNvPr>
          <p:cNvSpPr/>
          <p:nvPr/>
        </p:nvSpPr>
        <p:spPr>
          <a:xfrm>
            <a:off x="630720" y="487423"/>
            <a:ext cx="86868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20" normalizeH="0" baseline="0" noProof="0" dirty="0">
                <a:ln>
                  <a:noFill/>
                </a:ln>
                <a:solidFill>
                  <a:srgbClr val="EC8800"/>
                </a:solidFill>
                <a:effectLst/>
                <a:uLnTx/>
                <a:uFillTx/>
                <a:latin typeface="Calibri" pitchFamily="34" charset="0"/>
                <a:ea typeface="Calibri" pitchFamily="34" charset="-122"/>
                <a:cs typeface="Calibri" pitchFamily="34" charset="-120"/>
              </a:rPr>
              <a:t>DESIGN DECISIONS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90B9AABE-3BC9-D2BC-AFFE-5DE6F8602F7C}"/>
              </a:ext>
            </a:extLst>
          </p:cNvPr>
          <p:cNvSpPr/>
          <p:nvPr/>
        </p:nvSpPr>
        <p:spPr>
          <a:xfrm>
            <a:off x="640080" y="1051560"/>
            <a:ext cx="100584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D1614"/>
                </a:solidFill>
                <a:effectLst/>
                <a:uLnTx/>
                <a:uFillTx/>
                <a:latin typeface="Arial" pitchFamily="34" charset="0"/>
                <a:ea typeface="Arial" pitchFamily="34" charset="-122"/>
                <a:cs typeface="Arial" pitchFamily="34" charset="-120"/>
              </a:rPr>
              <a:t>Key decisions &amp; visual design system</a:t>
            </a:r>
            <a:endParaRPr kumimoji="0" lang="en-US" sz="2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44A5491B-50CA-F0AF-8FB0-AD44ACE9CC35}"/>
              </a:ext>
            </a:extLst>
          </p:cNvPr>
          <p:cNvSpPr/>
          <p:nvPr/>
        </p:nvSpPr>
        <p:spPr>
          <a:xfrm>
            <a:off x="538480" y="3255691"/>
            <a:ext cx="6675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DD1C1F"/>
                </a:solidFill>
                <a:effectLst/>
                <a:uLnTx/>
                <a:uFillTx/>
                <a:latin typeface="Calibri" pitchFamily="34" charset="0"/>
                <a:ea typeface="Calibri" pitchFamily="34" charset="-122"/>
                <a:cs typeface="Calibri" pitchFamily="34" charset="-120"/>
              </a:rPr>
              <a:t>Bring the human service layer into the ecosystem</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28C05737-509B-DEC3-89F3-7C7D0C546AEA}"/>
              </a:ext>
            </a:extLst>
          </p:cNvPr>
          <p:cNvSpPr/>
          <p:nvPr/>
        </p:nvSpPr>
        <p:spPr>
          <a:xfrm>
            <a:off x="538480" y="3680461"/>
            <a:ext cx="5920377" cy="146304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200" b="0" i="0" u="none" strike="noStrike" kern="1200" cap="none" spc="0" normalizeH="0" baseline="0" noProof="0" dirty="0">
                <a:ln>
                  <a:noFill/>
                </a:ln>
                <a:solidFill>
                  <a:prstClr val="black"/>
                </a:solidFill>
                <a:effectLst/>
                <a:uLnTx/>
                <a:uFillTx/>
                <a:latin typeface="Calibri" panose="020F0502020204030204"/>
                <a:ea typeface="+mn-ea"/>
                <a:cs typeface="+mn-cs"/>
              </a:rPr>
              <a:t>We rejected both a purely transactional digital journey and a tipping model where gratuity is bundled invisibly into the fuel payment. Velocity separates tipping from the fuel transaction and makes the recipient and amount explicit. Strategically, this preserves the human layer of the forecourt experience while still supporting a cashless future. It creates transparency for the customer and clearer recognition for the attendant.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Shape 23">
            <a:extLst>
              <a:ext uri="{FF2B5EF4-FFF2-40B4-BE49-F238E27FC236}">
                <a16:creationId xmlns:a16="http://schemas.microsoft.com/office/drawing/2014/main" id="{53E83BBD-FBDB-A6EA-5B7B-7414E8CC3FDE}"/>
              </a:ext>
            </a:extLst>
          </p:cNvPr>
          <p:cNvSpPr/>
          <p:nvPr/>
        </p:nvSpPr>
        <p:spPr>
          <a:xfrm>
            <a:off x="722520" y="2466810"/>
            <a:ext cx="4251600" cy="529920"/>
          </a:xfrm>
          <a:prstGeom prst="parallelogram">
            <a:avLst>
              <a:gd name="adj" fmla="val 7026"/>
            </a:avLst>
          </a:prstGeom>
          <a:solidFill>
            <a:srgbClr val="2D1609"/>
          </a:solidFill>
          <a:ln w="10160">
            <a:solidFill>
              <a:srgbClr val="5F2B08"/>
            </a:solidFill>
            <a:round/>
          </a:ln>
          <a:effectLst/>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3" name="Shape 24">
            <a:extLst>
              <a:ext uri="{FF2B5EF4-FFF2-40B4-BE49-F238E27FC236}">
                <a16:creationId xmlns:a16="http://schemas.microsoft.com/office/drawing/2014/main" id="{44B8D81F-961D-DF57-7FAD-1BD8E90CBF28}"/>
              </a:ext>
            </a:extLst>
          </p:cNvPr>
          <p:cNvSpPr/>
          <p:nvPr/>
        </p:nvSpPr>
        <p:spPr>
          <a:xfrm>
            <a:off x="640080" y="2466810"/>
            <a:ext cx="164160" cy="529920"/>
          </a:xfrm>
          <a:prstGeom prst="parallelogram">
            <a:avLst>
              <a:gd name="adj" fmla="val 25000"/>
            </a:avLst>
          </a:prstGeom>
          <a:solidFill>
            <a:srgbClr val="FF7A00"/>
          </a:solidFill>
          <a:ln w="12700">
            <a:solidFill>
              <a:srgbClr val="FF7A00"/>
            </a:solidFill>
            <a:round/>
          </a:ln>
          <a:effectLst/>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mn-cs"/>
            </a:endParaRPr>
          </a:p>
        </p:txBody>
      </p:sp>
      <p:sp>
        <p:nvSpPr>
          <p:cNvPr id="6" name="Text 25">
            <a:extLst>
              <a:ext uri="{FF2B5EF4-FFF2-40B4-BE49-F238E27FC236}">
                <a16:creationId xmlns:a16="http://schemas.microsoft.com/office/drawing/2014/main" id="{9BC53B12-95F0-9BD1-0007-117B02BF2CC4}"/>
              </a:ext>
            </a:extLst>
          </p:cNvPr>
          <p:cNvSpPr/>
          <p:nvPr/>
        </p:nvSpPr>
        <p:spPr>
          <a:xfrm>
            <a:off x="923760" y="2585610"/>
            <a:ext cx="3940560" cy="164160"/>
          </a:xfrm>
          <a:prstGeom prst="rect">
            <a:avLst/>
          </a:prstGeom>
          <a:noFill/>
          <a:ln w="0">
            <a:noFill/>
          </a:ln>
          <a:effectLst/>
        </p:spPr>
        <p:txBody>
          <a:bodyPr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0" cap="none" spc="0" normalizeH="0" baseline="0" noProof="0">
                <a:ln>
                  <a:noFill/>
                </a:ln>
                <a:solidFill>
                  <a:srgbClr val="F7F5F0"/>
                </a:solidFill>
                <a:effectLst/>
                <a:uLnTx/>
                <a:uFillTx/>
                <a:latin typeface="Aptos"/>
                <a:ea typeface="Aptos"/>
                <a:cs typeface="+mn-cs"/>
              </a:rPr>
              <a:t>04  THANK CLEARLY</a:t>
            </a:r>
            <a:endParaRPr kumimoji="0" lang="en-US" sz="1100" b="0" i="0" u="none" strike="noStrike" kern="0" cap="none" spc="0" normalizeH="0" baseline="0" noProof="0">
              <a:ln>
                <a:noFill/>
              </a:ln>
              <a:solidFill>
                <a:srgbClr val="FFFFFF"/>
              </a:solidFill>
              <a:effectLst/>
              <a:uLnTx/>
              <a:uFillTx/>
              <a:latin typeface="Arial"/>
              <a:ea typeface="+mn-ea"/>
              <a:cs typeface="+mn-cs"/>
            </a:endParaRPr>
          </a:p>
        </p:txBody>
      </p:sp>
      <p:pic>
        <p:nvPicPr>
          <p:cNvPr id="11" name="Picture 10">
            <a:extLst>
              <a:ext uri="{FF2B5EF4-FFF2-40B4-BE49-F238E27FC236}">
                <a16:creationId xmlns:a16="http://schemas.microsoft.com/office/drawing/2014/main" id="{38FE7475-E3FF-FC13-76D4-468F99814B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0914" y="1238539"/>
            <a:ext cx="7162316" cy="5371738"/>
          </a:xfrm>
          <a:prstGeom prst="rect">
            <a:avLst/>
          </a:prstGeom>
        </p:spPr>
      </p:pic>
    </p:spTree>
    <p:extLst>
      <p:ext uri="{BB962C8B-B14F-4D97-AF65-F5344CB8AC3E}">
        <p14:creationId xmlns:p14="http://schemas.microsoft.com/office/powerpoint/2010/main" val="32418327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60606"/>
        </a:solidFill>
        <a:effectLst/>
      </p:bgPr>
    </p:bg>
    <p:spTree>
      <p:nvGrpSpPr>
        <p:cNvPr id="1" name=""/>
        <p:cNvGrpSpPr/>
        <p:nvPr/>
      </p:nvGrpSpPr>
      <p:grpSpPr>
        <a:xfrm>
          <a:off x="0" y="0"/>
          <a:ext cx="0" cy="0"/>
          <a:chOff x="0" y="0"/>
          <a:chExt cx="0" cy="0"/>
        </a:xfrm>
      </p:grpSpPr>
      <p:pic>
        <p:nvPicPr>
          <p:cNvPr id="408" name="Image 0" descr="/mnt/data/shell_bg/orange_auto_bg.png"/>
          <p:cNvPicPr/>
          <p:nvPr/>
        </p:nvPicPr>
        <p:blipFill>
          <a:blip r:embed="rId3"/>
          <a:stretch/>
        </p:blipFill>
        <p:spPr>
          <a:xfrm>
            <a:off x="0" y="0"/>
            <a:ext cx="12191400" cy="6857640"/>
          </a:xfrm>
          <a:prstGeom prst="rect">
            <a:avLst/>
          </a:prstGeom>
          <a:noFill/>
          <a:ln w="0">
            <a:noFill/>
          </a:ln>
        </p:spPr>
      </p:pic>
      <p:sp>
        <p:nvSpPr>
          <p:cNvPr id="409" name="Shape 0"/>
          <p:cNvSpPr/>
          <p:nvPr/>
        </p:nvSpPr>
        <p:spPr>
          <a:xfrm>
            <a:off x="0" y="0"/>
            <a:ext cx="12191400" cy="164160"/>
          </a:xfrm>
          <a:prstGeom prst="rect">
            <a:avLst/>
          </a:prstGeom>
          <a:solidFill>
            <a:srgbClr val="050505"/>
          </a:solidFill>
          <a:ln w="12700">
            <a:solidFill>
              <a:srgbClr val="05050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12" name="Shape 3"/>
          <p:cNvSpPr/>
          <p:nvPr/>
        </p:nvSpPr>
        <p:spPr>
          <a:xfrm>
            <a:off x="9829800" y="338040"/>
            <a:ext cx="1188720" cy="360"/>
          </a:xfrm>
          <a:prstGeom prst="line">
            <a:avLst/>
          </a:prstGeom>
          <a:ln w="15240">
            <a:solidFill>
              <a:srgbClr val="8A2F0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13" name="Shape 4"/>
          <p:cNvSpPr/>
          <p:nvPr/>
        </p:nvSpPr>
        <p:spPr>
          <a:xfrm rot="720000">
            <a:off x="11118960" y="219240"/>
            <a:ext cx="63720" cy="42948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14" name="Shape 5"/>
          <p:cNvSpPr/>
          <p:nvPr/>
        </p:nvSpPr>
        <p:spPr>
          <a:xfrm rot="720000">
            <a:off x="11228760" y="219240"/>
            <a:ext cx="63720" cy="429480"/>
          </a:xfrm>
          <a:prstGeom prst="parallelogram">
            <a:avLst>
              <a:gd name="adj" fmla="val 25000"/>
            </a:avLst>
          </a:prstGeom>
          <a:solidFill>
            <a:srgbClr val="F15A00"/>
          </a:solidFill>
          <a:ln w="12700">
            <a:solidFill>
              <a:srgbClr val="F15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15" name="Shape 6"/>
          <p:cNvSpPr/>
          <p:nvPr/>
        </p:nvSpPr>
        <p:spPr>
          <a:xfrm rot="720000">
            <a:off x="11338560" y="219240"/>
            <a:ext cx="63720" cy="429480"/>
          </a:xfrm>
          <a:prstGeom prst="parallelogram">
            <a:avLst>
              <a:gd name="adj" fmla="val 25000"/>
            </a:avLst>
          </a:prstGeom>
          <a:solidFill>
            <a:srgbClr val="6B2600"/>
          </a:solidFill>
          <a:ln w="12700">
            <a:solidFill>
              <a:srgbClr val="6B26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17" name="Text 8"/>
          <p:cNvSpPr/>
          <p:nvPr/>
        </p:nvSpPr>
        <p:spPr>
          <a:xfrm>
            <a:off x="685800" y="731880"/>
            <a:ext cx="3565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00" b="1" i="0" u="none" strike="noStrike" kern="1200" cap="none" spc="105" normalizeH="0" baseline="0" noProof="0" dirty="0">
                <a:ln>
                  <a:noFill/>
                </a:ln>
                <a:solidFill>
                  <a:srgbClr val="FF7A00"/>
                </a:solidFill>
                <a:effectLst/>
                <a:uLnTx/>
                <a:uFillTx/>
                <a:latin typeface="Aptos"/>
                <a:ea typeface="Aptos"/>
                <a:cs typeface="+mn-cs"/>
              </a:rPr>
              <a:t>NEXT ITERATION</a:t>
            </a:r>
            <a:endParaRPr kumimoji="0" lang="en-US" sz="800" b="0" i="0" u="none" strike="noStrike" kern="1200" cap="none" spc="0" normalizeH="0" baseline="0" noProof="0" dirty="0">
              <a:ln>
                <a:noFill/>
              </a:ln>
              <a:solidFill>
                <a:srgbClr val="FFFFFF"/>
              </a:solidFill>
              <a:effectLst/>
              <a:uLnTx/>
              <a:uFillTx/>
              <a:latin typeface="Arial"/>
              <a:ea typeface="+mn-ea"/>
              <a:cs typeface="+mn-cs"/>
            </a:endParaRPr>
          </a:p>
        </p:txBody>
      </p:sp>
      <p:sp>
        <p:nvSpPr>
          <p:cNvPr id="418" name="Shape 9"/>
          <p:cNvSpPr/>
          <p:nvPr/>
        </p:nvSpPr>
        <p:spPr>
          <a:xfrm>
            <a:off x="4553640" y="731520"/>
            <a:ext cx="1005840" cy="360"/>
          </a:xfrm>
          <a:prstGeom prst="line">
            <a:avLst/>
          </a:prstGeom>
          <a:ln w="13970">
            <a:solidFill>
              <a:srgbClr val="6B2E0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19" name="Text 10"/>
          <p:cNvSpPr/>
          <p:nvPr/>
        </p:nvSpPr>
        <p:spPr>
          <a:xfrm>
            <a:off x="685800" y="1115640"/>
            <a:ext cx="80463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2800" b="1" i="0" u="none" strike="noStrike" kern="1200" cap="none" spc="0" normalizeH="0" baseline="0" noProof="0">
                <a:ln>
                  <a:noFill/>
                </a:ln>
                <a:solidFill>
                  <a:srgbClr val="F7F5F0"/>
                </a:solidFill>
                <a:effectLst/>
                <a:uLnTx/>
                <a:uFillTx/>
                <a:latin typeface="Aptos Display"/>
                <a:ea typeface="Aptos Display"/>
                <a:cs typeface="+mn-cs"/>
              </a:rPr>
              <a:t>The next test belongs at the station.</a:t>
            </a:r>
            <a:endParaRPr kumimoji="0" lang="en-US" sz="2800" b="0" i="0" u="none" strike="noStrike" kern="1200" cap="none" spc="0" normalizeH="0" baseline="0" noProof="0">
              <a:ln>
                <a:noFill/>
              </a:ln>
              <a:solidFill>
                <a:srgbClr val="FFFFFF"/>
              </a:solidFill>
              <a:effectLst/>
              <a:uLnTx/>
              <a:uFillTx/>
              <a:latin typeface="Arial"/>
              <a:ea typeface="+mn-ea"/>
              <a:cs typeface="+mn-cs"/>
            </a:endParaRPr>
          </a:p>
        </p:txBody>
      </p:sp>
      <p:sp>
        <p:nvSpPr>
          <p:cNvPr id="420" name="Text 11"/>
          <p:cNvSpPr/>
          <p:nvPr/>
        </p:nvSpPr>
        <p:spPr>
          <a:xfrm>
            <a:off x="685800" y="1810440"/>
            <a:ext cx="7131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200" b="0" i="0" u="none" strike="noStrike" kern="1200" cap="none" spc="0" normalizeH="0" baseline="0" noProof="0">
                <a:ln>
                  <a:noFill/>
                </a:ln>
                <a:solidFill>
                  <a:srgbClr val="D7D2C9"/>
                </a:solidFill>
                <a:effectLst/>
                <a:uLnTx/>
                <a:uFillTx/>
                <a:latin typeface="Aptos"/>
                <a:ea typeface="Aptos"/>
                <a:cs typeface="+mn-cs"/>
              </a:rPr>
              <a:t>The concept should now meet real motorists, attendants and operational constraints.</a:t>
            </a:r>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sp>
        <p:nvSpPr>
          <p:cNvPr id="421" name="Shape 12"/>
          <p:cNvSpPr/>
          <p:nvPr/>
        </p:nvSpPr>
        <p:spPr>
          <a:xfrm>
            <a:off x="896040" y="2331720"/>
            <a:ext cx="3794400" cy="49356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22" name="Shape 13"/>
          <p:cNvSpPr/>
          <p:nvPr/>
        </p:nvSpPr>
        <p:spPr>
          <a:xfrm>
            <a:off x="813960" y="2331720"/>
            <a:ext cx="164160" cy="49356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23" name="Text 14"/>
          <p:cNvSpPr/>
          <p:nvPr/>
        </p:nvSpPr>
        <p:spPr>
          <a:xfrm>
            <a:off x="1097280" y="2450520"/>
            <a:ext cx="3483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a:ln>
                  <a:noFill/>
                </a:ln>
                <a:solidFill>
                  <a:srgbClr val="F7F5F0"/>
                </a:solidFill>
                <a:effectLst/>
                <a:uLnTx/>
                <a:uFillTx/>
                <a:latin typeface="Aptos"/>
                <a:ea typeface="Aptos"/>
                <a:cs typeface="+mn-cs"/>
              </a:rPr>
              <a:t>01  INTERVIEWS</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424" name="Text 15"/>
          <p:cNvSpPr/>
          <p:nvPr/>
        </p:nvSpPr>
        <p:spPr>
          <a:xfrm>
            <a:off x="4956120" y="2459880"/>
            <a:ext cx="5284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40" b="0" i="0" u="none" strike="noStrike" kern="1200" cap="none" spc="0" normalizeH="0" baseline="0" noProof="0">
                <a:ln>
                  <a:noFill/>
                </a:ln>
                <a:solidFill>
                  <a:srgbClr val="D7D2C9"/>
                </a:solidFill>
                <a:effectLst/>
                <a:uLnTx/>
                <a:uFillTx/>
                <a:latin typeface="Aptos"/>
                <a:ea typeface="Aptos"/>
                <a:cs typeface="+mn-cs"/>
              </a:rPr>
              <a:t>Validate visibility, flexibility and payment freedom.</a:t>
            </a:r>
            <a:endParaRPr kumimoji="0" lang="en-US" sz="1040" b="0" i="0" u="none" strike="noStrike" kern="1200" cap="none" spc="0" normalizeH="0" baseline="0" noProof="0">
              <a:ln>
                <a:noFill/>
              </a:ln>
              <a:solidFill>
                <a:srgbClr val="FFFFFF"/>
              </a:solidFill>
              <a:effectLst/>
              <a:uLnTx/>
              <a:uFillTx/>
              <a:latin typeface="Arial"/>
              <a:ea typeface="+mn-ea"/>
              <a:cs typeface="+mn-cs"/>
            </a:endParaRPr>
          </a:p>
        </p:txBody>
      </p:sp>
      <p:sp>
        <p:nvSpPr>
          <p:cNvPr id="425" name="Shape 16"/>
          <p:cNvSpPr/>
          <p:nvPr/>
        </p:nvSpPr>
        <p:spPr>
          <a:xfrm>
            <a:off x="896040" y="2990160"/>
            <a:ext cx="3794400" cy="49356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26" name="Shape 17"/>
          <p:cNvSpPr/>
          <p:nvPr/>
        </p:nvSpPr>
        <p:spPr>
          <a:xfrm>
            <a:off x="813960" y="2990160"/>
            <a:ext cx="164160" cy="49356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27" name="Text 18"/>
          <p:cNvSpPr/>
          <p:nvPr/>
        </p:nvSpPr>
        <p:spPr>
          <a:xfrm>
            <a:off x="1097280" y="3108960"/>
            <a:ext cx="3483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a:ln>
                  <a:noFill/>
                </a:ln>
                <a:solidFill>
                  <a:srgbClr val="F7F5F0"/>
                </a:solidFill>
                <a:effectLst/>
                <a:uLnTx/>
                <a:uFillTx/>
                <a:latin typeface="Aptos"/>
                <a:ea typeface="Aptos"/>
                <a:cs typeface="+mn-cs"/>
              </a:rPr>
              <a:t>02  TASK TESTS</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428" name="Text 19"/>
          <p:cNvSpPr/>
          <p:nvPr/>
        </p:nvSpPr>
        <p:spPr>
          <a:xfrm>
            <a:off x="4956120" y="3117960"/>
            <a:ext cx="5284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40" b="0" i="0" u="none" strike="noStrike" kern="1200" cap="none" spc="0" normalizeH="0" baseline="0" noProof="0">
                <a:ln>
                  <a:noFill/>
                </a:ln>
                <a:solidFill>
                  <a:srgbClr val="D7D2C9"/>
                </a:solidFill>
                <a:effectLst/>
                <a:uLnTx/>
                <a:uFillTx/>
                <a:latin typeface="Aptos"/>
                <a:ea typeface="Aptos"/>
                <a:cs typeface="+mn-cs"/>
              </a:rPr>
              <a:t>Test comprehension of balance, redeem and tip flows.</a:t>
            </a:r>
            <a:endParaRPr kumimoji="0" lang="en-US" sz="1040" b="0" i="0" u="none" strike="noStrike" kern="1200" cap="none" spc="0" normalizeH="0" baseline="0" noProof="0">
              <a:ln>
                <a:noFill/>
              </a:ln>
              <a:solidFill>
                <a:srgbClr val="FFFFFF"/>
              </a:solidFill>
              <a:effectLst/>
              <a:uLnTx/>
              <a:uFillTx/>
              <a:latin typeface="Arial"/>
              <a:ea typeface="+mn-ea"/>
              <a:cs typeface="+mn-cs"/>
            </a:endParaRPr>
          </a:p>
        </p:txBody>
      </p:sp>
      <p:sp>
        <p:nvSpPr>
          <p:cNvPr id="429" name="Shape 20"/>
          <p:cNvSpPr/>
          <p:nvPr/>
        </p:nvSpPr>
        <p:spPr>
          <a:xfrm>
            <a:off x="896040" y="3648600"/>
            <a:ext cx="3794400" cy="49356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30" name="Shape 21"/>
          <p:cNvSpPr/>
          <p:nvPr/>
        </p:nvSpPr>
        <p:spPr>
          <a:xfrm>
            <a:off x="813960" y="3648600"/>
            <a:ext cx="164160" cy="49356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31" name="Text 22"/>
          <p:cNvSpPr/>
          <p:nvPr/>
        </p:nvSpPr>
        <p:spPr>
          <a:xfrm>
            <a:off x="1097280" y="3767400"/>
            <a:ext cx="3483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a:ln>
                  <a:noFill/>
                </a:ln>
                <a:solidFill>
                  <a:srgbClr val="F7F5F0"/>
                </a:solidFill>
                <a:effectLst/>
                <a:uLnTx/>
                <a:uFillTx/>
                <a:latin typeface="Aptos"/>
                <a:ea typeface="Aptos"/>
                <a:cs typeface="+mn-cs"/>
              </a:rPr>
              <a:t>03  LIVE PILOT</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432" name="Text 23"/>
          <p:cNvSpPr/>
          <p:nvPr/>
        </p:nvSpPr>
        <p:spPr>
          <a:xfrm>
            <a:off x="4956120" y="3776400"/>
            <a:ext cx="5284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40" b="1" i="0" u="none" strike="noStrike" kern="1200" cap="none" spc="0" normalizeH="0" baseline="0" noProof="0">
                <a:ln>
                  <a:noFill/>
                </a:ln>
                <a:solidFill>
                  <a:srgbClr val="D7D2C9"/>
                </a:solidFill>
                <a:effectLst/>
                <a:uLnTx/>
                <a:uFillTx/>
                <a:latin typeface="Aptos"/>
                <a:ea typeface="Aptos"/>
                <a:cs typeface="+mn-cs"/>
              </a:rPr>
              <a:t>Track return behaviour and service-time impact.</a:t>
            </a:r>
            <a:endParaRPr kumimoji="0" lang="en-US" sz="1040" b="0" i="0" u="none" strike="noStrike" kern="1200" cap="none" spc="0" normalizeH="0" baseline="0" noProof="0">
              <a:ln>
                <a:noFill/>
              </a:ln>
              <a:solidFill>
                <a:srgbClr val="FFFFFF"/>
              </a:solidFill>
              <a:effectLst/>
              <a:uLnTx/>
              <a:uFillTx/>
              <a:latin typeface="Arial"/>
              <a:ea typeface="+mn-ea"/>
              <a:cs typeface="+mn-cs"/>
            </a:endParaRPr>
          </a:p>
        </p:txBody>
      </p:sp>
      <p:sp>
        <p:nvSpPr>
          <p:cNvPr id="433" name="Shape 24"/>
          <p:cNvSpPr/>
          <p:nvPr/>
        </p:nvSpPr>
        <p:spPr>
          <a:xfrm>
            <a:off x="896040" y="4306680"/>
            <a:ext cx="3794400" cy="493560"/>
          </a:xfrm>
          <a:prstGeom prst="parallelogram">
            <a:avLst>
              <a:gd name="adj" fmla="val 25000"/>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34" name="Shape 25"/>
          <p:cNvSpPr/>
          <p:nvPr/>
        </p:nvSpPr>
        <p:spPr>
          <a:xfrm>
            <a:off x="813960" y="4306680"/>
            <a:ext cx="164160" cy="49356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35" name="Text 26"/>
          <p:cNvSpPr/>
          <p:nvPr/>
        </p:nvSpPr>
        <p:spPr>
          <a:xfrm>
            <a:off x="1097280" y="4425840"/>
            <a:ext cx="3483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a:ln>
                  <a:noFill/>
                </a:ln>
                <a:solidFill>
                  <a:srgbClr val="F7F5F0"/>
                </a:solidFill>
                <a:effectLst/>
                <a:uLnTx/>
                <a:uFillTx/>
                <a:latin typeface="Aptos"/>
                <a:ea typeface="Aptos"/>
                <a:cs typeface="+mn-cs"/>
              </a:rPr>
              <a:t>04  ITERATE</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436" name="Text 27"/>
          <p:cNvSpPr/>
          <p:nvPr/>
        </p:nvSpPr>
        <p:spPr>
          <a:xfrm>
            <a:off x="4956120" y="4434840"/>
            <a:ext cx="5284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40" b="0" i="0" u="none" strike="noStrike" kern="1200" cap="none" spc="0" normalizeH="0" baseline="0" noProof="0">
                <a:ln>
                  <a:noFill/>
                </a:ln>
                <a:solidFill>
                  <a:srgbClr val="D7D2C9"/>
                </a:solidFill>
                <a:effectLst/>
                <a:uLnTx/>
                <a:uFillTx/>
                <a:latin typeface="Aptos"/>
                <a:ea typeface="Aptos"/>
                <a:cs typeface="+mn-cs"/>
              </a:rPr>
              <a:t>Keep only the mechanics that earn another visit.</a:t>
            </a:r>
            <a:endParaRPr kumimoji="0" lang="en-US" sz="1040" b="0" i="0" u="none" strike="noStrike" kern="1200" cap="none" spc="0" normalizeH="0" baseline="0" noProof="0">
              <a:ln>
                <a:noFill/>
              </a:ln>
              <a:solidFill>
                <a:srgbClr val="FFFFFF"/>
              </a:solidFill>
              <a:effectLst/>
              <a:uLnTx/>
              <a:uFillTx/>
              <a:latin typeface="Arial"/>
              <a:ea typeface="+mn-ea"/>
              <a:cs typeface="+mn-cs"/>
            </a:endParaRPr>
          </a:p>
        </p:txBody>
      </p:sp>
      <p:sp>
        <p:nvSpPr>
          <p:cNvPr id="437" name="Shape 28"/>
          <p:cNvSpPr/>
          <p:nvPr/>
        </p:nvSpPr>
        <p:spPr>
          <a:xfrm>
            <a:off x="685800" y="5230440"/>
            <a:ext cx="10807920" cy="658080"/>
          </a:xfrm>
          <a:prstGeom prst="roundRect">
            <a:avLst>
              <a:gd name="adj" fmla="val 9722"/>
            </a:avLst>
          </a:prstGeom>
          <a:solidFill>
            <a:srgbClr val="111214">
              <a:alpha val="98000"/>
            </a:srgbClr>
          </a:solidFill>
          <a:ln w="8890">
            <a:solidFill>
              <a:srgbClr val="332B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38" name="Text 29"/>
          <p:cNvSpPr/>
          <p:nvPr/>
        </p:nvSpPr>
        <p:spPr>
          <a:xfrm>
            <a:off x="941760" y="5468040"/>
            <a:ext cx="18284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00" b="1" i="0" u="none" strike="noStrike" kern="1200" cap="none" spc="91" normalizeH="0" baseline="0" noProof="0">
                <a:ln>
                  <a:noFill/>
                </a:ln>
                <a:solidFill>
                  <a:srgbClr val="FF7A00"/>
                </a:solidFill>
                <a:effectLst/>
                <a:uLnTx/>
                <a:uFillTx/>
                <a:latin typeface="Aptos"/>
                <a:ea typeface="Aptos"/>
                <a:cs typeface="+mn-cs"/>
              </a:rPr>
              <a:t>PORTFOLIO TAKEAWAY</a:t>
            </a:r>
            <a:endParaRPr kumimoji="0" lang="en-US" sz="800" b="0" i="0" u="none" strike="noStrike" kern="1200" cap="none" spc="0" normalizeH="0" baseline="0" noProof="0">
              <a:ln>
                <a:noFill/>
              </a:ln>
              <a:solidFill>
                <a:srgbClr val="FFFFFF"/>
              </a:solidFill>
              <a:effectLst/>
              <a:uLnTx/>
              <a:uFillTx/>
              <a:latin typeface="Arial"/>
              <a:ea typeface="+mn-ea"/>
              <a:cs typeface="+mn-cs"/>
            </a:endParaRPr>
          </a:p>
        </p:txBody>
      </p:sp>
      <p:sp>
        <p:nvSpPr>
          <p:cNvPr id="439" name="Text 30"/>
          <p:cNvSpPr/>
          <p:nvPr/>
        </p:nvSpPr>
        <p:spPr>
          <a:xfrm>
            <a:off x="2838960" y="5464851"/>
            <a:ext cx="7826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20" b="1" i="0" u="none" strike="noStrike" kern="1200" cap="none" spc="0" normalizeH="0" baseline="0" noProof="0" dirty="0">
                <a:ln>
                  <a:noFill/>
                </a:ln>
                <a:solidFill>
                  <a:srgbClr val="F7F5F0"/>
                </a:solidFill>
                <a:effectLst/>
                <a:uLnTx/>
                <a:uFillTx/>
                <a:latin typeface="Aptos"/>
                <a:ea typeface="Aptos"/>
                <a:cs typeface="+mn-cs"/>
              </a:rPr>
              <a:t>I used imperfect evidence to make a precise design bet then defined how I would prove or disprove it.</a:t>
            </a:r>
            <a:endParaRPr kumimoji="0" lang="en-US" sz="1120" b="0" i="0" u="none" strike="noStrike" kern="1200" cap="none" spc="0" normalizeH="0" baseline="0" noProof="0" dirty="0">
              <a:ln>
                <a:noFill/>
              </a:ln>
              <a:solidFill>
                <a:srgbClr val="FFFFFF"/>
              </a:solidFill>
              <a:effectLst/>
              <a:uLnTx/>
              <a:uFillTx/>
              <a:latin typeface="Arial"/>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60606"/>
        </a:solidFill>
        <a:effectLst/>
      </p:bgPr>
    </p:bg>
    <p:spTree>
      <p:nvGrpSpPr>
        <p:cNvPr id="1" name=""/>
        <p:cNvGrpSpPr/>
        <p:nvPr/>
      </p:nvGrpSpPr>
      <p:grpSpPr>
        <a:xfrm>
          <a:off x="0" y="0"/>
          <a:ext cx="0" cy="0"/>
          <a:chOff x="0" y="0"/>
          <a:chExt cx="0" cy="0"/>
        </a:xfrm>
      </p:grpSpPr>
      <p:pic>
        <p:nvPicPr>
          <p:cNvPr id="442" name="Image 0" descr="/mnt/data/shell_bg/orange_auto_bg.png"/>
          <p:cNvPicPr/>
          <p:nvPr/>
        </p:nvPicPr>
        <p:blipFill>
          <a:blip r:embed="rId3"/>
          <a:stretch/>
        </p:blipFill>
        <p:spPr>
          <a:xfrm>
            <a:off x="0" y="0"/>
            <a:ext cx="12191400" cy="6857640"/>
          </a:xfrm>
          <a:prstGeom prst="rect">
            <a:avLst/>
          </a:prstGeom>
          <a:noFill/>
          <a:ln w="0">
            <a:noFill/>
          </a:ln>
        </p:spPr>
      </p:pic>
      <p:sp>
        <p:nvSpPr>
          <p:cNvPr id="443" name="Shape 0"/>
          <p:cNvSpPr/>
          <p:nvPr/>
        </p:nvSpPr>
        <p:spPr>
          <a:xfrm>
            <a:off x="0" y="0"/>
            <a:ext cx="12191400" cy="164160"/>
          </a:xfrm>
          <a:prstGeom prst="rect">
            <a:avLst/>
          </a:prstGeom>
          <a:solidFill>
            <a:srgbClr val="050505"/>
          </a:solidFill>
          <a:ln w="12700">
            <a:solidFill>
              <a:srgbClr val="05050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46" name="Shape 3"/>
          <p:cNvSpPr/>
          <p:nvPr/>
        </p:nvSpPr>
        <p:spPr>
          <a:xfrm>
            <a:off x="9829800" y="338040"/>
            <a:ext cx="1188720" cy="360"/>
          </a:xfrm>
          <a:prstGeom prst="line">
            <a:avLst/>
          </a:prstGeom>
          <a:ln w="15240">
            <a:solidFill>
              <a:srgbClr val="8A2F0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47" name="Shape 4"/>
          <p:cNvSpPr/>
          <p:nvPr/>
        </p:nvSpPr>
        <p:spPr>
          <a:xfrm rot="720000">
            <a:off x="11118960" y="219240"/>
            <a:ext cx="63720" cy="42948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48" name="Shape 5"/>
          <p:cNvSpPr/>
          <p:nvPr/>
        </p:nvSpPr>
        <p:spPr>
          <a:xfrm rot="720000">
            <a:off x="11228760" y="219240"/>
            <a:ext cx="63720" cy="429480"/>
          </a:xfrm>
          <a:prstGeom prst="parallelogram">
            <a:avLst>
              <a:gd name="adj" fmla="val 25000"/>
            </a:avLst>
          </a:prstGeom>
          <a:solidFill>
            <a:srgbClr val="F15A00"/>
          </a:solidFill>
          <a:ln w="12700">
            <a:solidFill>
              <a:srgbClr val="F15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49" name="Shape 6"/>
          <p:cNvSpPr/>
          <p:nvPr/>
        </p:nvSpPr>
        <p:spPr>
          <a:xfrm rot="720000">
            <a:off x="11338560" y="219240"/>
            <a:ext cx="63720" cy="429480"/>
          </a:xfrm>
          <a:prstGeom prst="parallelogram">
            <a:avLst>
              <a:gd name="adj" fmla="val 25000"/>
            </a:avLst>
          </a:prstGeom>
          <a:solidFill>
            <a:srgbClr val="6B2600"/>
          </a:solidFill>
          <a:ln w="12700">
            <a:solidFill>
              <a:srgbClr val="6B26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50" name="Text 7"/>
          <p:cNvSpPr/>
          <p:nvPr/>
        </p:nvSpPr>
        <p:spPr>
          <a:xfrm>
            <a:off x="685800" y="2757060"/>
            <a:ext cx="2880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3400" b="1" i="0" u="none" strike="noStrike" kern="1200" cap="none" spc="0" normalizeH="0" baseline="0" noProof="0">
                <a:ln>
                  <a:noFill/>
                </a:ln>
                <a:solidFill>
                  <a:srgbClr val="F7F5F0"/>
                </a:solidFill>
                <a:effectLst/>
                <a:uLnTx/>
                <a:uFillTx/>
                <a:latin typeface="Aptos Display"/>
                <a:ea typeface="Aptos Display"/>
                <a:cs typeface="+mn-cs"/>
              </a:rPr>
              <a:t>THANK</a:t>
            </a:r>
            <a:endParaRPr kumimoji="0" lang="en-US" sz="3400" b="0" i="0" u="none" strike="noStrike" kern="1200" cap="none" spc="0" normalizeH="0" baseline="0" noProof="0">
              <a:ln>
                <a:noFill/>
              </a:ln>
              <a:solidFill>
                <a:srgbClr val="FFFFFF"/>
              </a:solidFill>
              <a:effectLst/>
              <a:uLnTx/>
              <a:uFillTx/>
              <a:latin typeface="Arial"/>
              <a:ea typeface="+mn-ea"/>
              <a:cs typeface="+mn-cs"/>
            </a:endParaRPr>
          </a:p>
        </p:txBody>
      </p:sp>
      <p:sp>
        <p:nvSpPr>
          <p:cNvPr id="451" name="Text 8"/>
          <p:cNvSpPr/>
          <p:nvPr/>
        </p:nvSpPr>
        <p:spPr>
          <a:xfrm>
            <a:off x="2057400" y="2757060"/>
            <a:ext cx="21942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3400" b="1" i="0" u="none" strike="noStrike" kern="1200" cap="none" spc="0" normalizeH="0" baseline="0" noProof="0" dirty="0">
                <a:ln>
                  <a:noFill/>
                </a:ln>
                <a:solidFill>
                  <a:srgbClr val="FF7A00"/>
                </a:solidFill>
                <a:effectLst/>
                <a:uLnTx/>
                <a:uFillTx/>
                <a:latin typeface="Aptos Display"/>
                <a:ea typeface="Aptos Display"/>
                <a:cs typeface="+mn-cs"/>
              </a:rPr>
              <a:t>YOU</a:t>
            </a:r>
            <a:endParaRPr kumimoji="0" lang="en-US" sz="3400" b="0" i="0" u="none" strike="noStrike" kern="1200" cap="none" spc="0" normalizeH="0" baseline="0" noProof="0" dirty="0">
              <a:ln>
                <a:noFill/>
              </a:ln>
              <a:solidFill>
                <a:srgbClr val="FFFFFF"/>
              </a:solidFill>
              <a:effectLst/>
              <a:uLnTx/>
              <a:uFillTx/>
              <a:latin typeface="Arial"/>
              <a:ea typeface="+mn-ea"/>
              <a:cs typeface="+mn-cs"/>
            </a:endParaRPr>
          </a:p>
        </p:txBody>
      </p:sp>
      <p:sp>
        <p:nvSpPr>
          <p:cNvPr id="452" name="Text 9"/>
          <p:cNvSpPr/>
          <p:nvPr/>
        </p:nvSpPr>
        <p:spPr>
          <a:xfrm>
            <a:off x="713160" y="3598020"/>
            <a:ext cx="53031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400" b="0" i="0" u="none" strike="noStrike" kern="1200" cap="none" spc="0" normalizeH="0" baseline="0" noProof="0">
                <a:ln>
                  <a:noFill/>
                </a:ln>
                <a:solidFill>
                  <a:srgbClr val="D7D2C9"/>
                </a:solidFill>
                <a:effectLst/>
                <a:uLnTx/>
                <a:uFillTx/>
                <a:latin typeface="Aptos"/>
                <a:ea typeface="Aptos"/>
                <a:cs typeface="+mn-cs"/>
              </a:rPr>
              <a:t>A rewards experience designed around the real rhythm of the forecourt.</a:t>
            </a: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453" name="Shape 10"/>
          <p:cNvSpPr/>
          <p:nvPr/>
        </p:nvSpPr>
        <p:spPr>
          <a:xfrm>
            <a:off x="713160" y="4494420"/>
            <a:ext cx="5010480" cy="511560"/>
          </a:xfrm>
          <a:prstGeom prst="parallelogram">
            <a:avLst>
              <a:gd name="adj" fmla="val 13828"/>
            </a:avLst>
          </a:prstGeom>
          <a:solidFill>
            <a:srgbClr val="2D1609"/>
          </a:solidFill>
          <a:ln w="10160">
            <a:solidFill>
              <a:srgbClr val="5F2B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54" name="Shape 11"/>
          <p:cNvSpPr/>
          <p:nvPr/>
        </p:nvSpPr>
        <p:spPr>
          <a:xfrm>
            <a:off x="631080" y="4494420"/>
            <a:ext cx="164160" cy="511560"/>
          </a:xfrm>
          <a:prstGeom prst="parallelogram">
            <a:avLst>
              <a:gd name="adj" fmla="val 25000"/>
            </a:avLst>
          </a:prstGeom>
          <a:solidFill>
            <a:srgbClr val="FF7A00"/>
          </a:solidFill>
          <a:ln w="127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55" name="Text 12"/>
          <p:cNvSpPr/>
          <p:nvPr/>
        </p:nvSpPr>
        <p:spPr>
          <a:xfrm>
            <a:off x="914400" y="4613220"/>
            <a:ext cx="4699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0" normalizeH="0" baseline="0" noProof="0">
                <a:ln>
                  <a:noFill/>
                </a:ln>
                <a:solidFill>
                  <a:srgbClr val="F7F5F0"/>
                </a:solidFill>
                <a:effectLst/>
                <a:uLnTx/>
                <a:uFillTx/>
                <a:latin typeface="Aptos"/>
                <a:ea typeface="Aptos"/>
                <a:cs typeface="+mn-cs"/>
              </a:rPr>
              <a:t>SEE VALUE · USE IT NOW · COME BACK</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456" name="Shape 13"/>
          <p:cNvSpPr/>
          <p:nvPr/>
        </p:nvSpPr>
        <p:spPr>
          <a:xfrm>
            <a:off x="8200850" y="2638988"/>
            <a:ext cx="3684099" cy="3375760"/>
          </a:xfrm>
          <a:prstGeom prst="roundRect">
            <a:avLst>
              <a:gd name="adj" fmla="val 2032"/>
            </a:avLst>
          </a:prstGeom>
          <a:solidFill>
            <a:srgbClr val="0D0E10">
              <a:alpha val="98000"/>
            </a:srgbClr>
          </a:solidFill>
          <a:ln w="8890">
            <a:solidFill>
              <a:srgbClr val="302A25"/>
            </a:solidFill>
            <a:round/>
          </a:ln>
          <a:effectLst>
            <a:outerShdw blurRad="20160" dist="12218" dir="2700000" algn="bl" rotWithShape="0">
              <a:srgbClr val="00000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57" name="Shape 14"/>
          <p:cNvSpPr/>
          <p:nvPr/>
        </p:nvSpPr>
        <p:spPr>
          <a:xfrm>
            <a:off x="8818593" y="3251376"/>
            <a:ext cx="2141347" cy="810061"/>
          </a:xfrm>
          <a:prstGeom prst="arc">
            <a:avLst>
              <a:gd name="adj1" fmla="val 16200000"/>
              <a:gd name="adj2" fmla="val 0"/>
            </a:avLst>
          </a:prstGeom>
          <a:noFill/>
          <a:ln w="88900">
            <a:solidFill>
              <a:srgbClr val="3B342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58" name="Shape 15"/>
          <p:cNvSpPr/>
          <p:nvPr/>
        </p:nvSpPr>
        <p:spPr>
          <a:xfrm>
            <a:off x="8765368" y="3230448"/>
            <a:ext cx="1541532" cy="583085"/>
          </a:xfrm>
          <a:prstGeom prst="arc">
            <a:avLst>
              <a:gd name="adj1" fmla="val 16200000"/>
              <a:gd name="adj2" fmla="val 0"/>
            </a:avLst>
          </a:prstGeom>
          <a:noFill/>
          <a:ln w="88900">
            <a:solidFill>
              <a:srgbClr val="FF7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59" name="Shape 16"/>
          <p:cNvSpPr/>
          <p:nvPr/>
        </p:nvSpPr>
        <p:spPr>
          <a:xfrm flipV="1">
            <a:off x="9841763" y="3522436"/>
            <a:ext cx="535337" cy="192944"/>
          </a:xfrm>
          <a:prstGeom prst="line">
            <a:avLst/>
          </a:prstGeom>
          <a:ln w="30480">
            <a:solidFill>
              <a:srgbClr val="FFB00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60" name="Text 17"/>
          <p:cNvSpPr/>
          <p:nvPr/>
        </p:nvSpPr>
        <p:spPr>
          <a:xfrm>
            <a:off x="8588255" y="5035194"/>
            <a:ext cx="2637005" cy="1230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800" b="1" i="0" u="none" strike="noStrike" kern="1200" cap="none" spc="99" normalizeH="0" baseline="0" noProof="0">
                <a:ln>
                  <a:noFill/>
                </a:ln>
                <a:solidFill>
                  <a:srgbClr val="FF7A00"/>
                </a:solidFill>
                <a:effectLst/>
                <a:uLnTx/>
                <a:uFillTx/>
                <a:latin typeface="Aptos"/>
                <a:ea typeface="Aptos"/>
                <a:cs typeface="+mn-cs"/>
              </a:rPr>
              <a:t>DESIGNED FOR</a:t>
            </a:r>
            <a:endParaRPr kumimoji="0" lang="en-US" sz="800" b="0" i="0" u="none" strike="noStrike" kern="1200" cap="none" spc="0" normalizeH="0" baseline="0" noProof="0">
              <a:ln>
                <a:noFill/>
              </a:ln>
              <a:solidFill>
                <a:srgbClr val="FFFFFF"/>
              </a:solidFill>
              <a:effectLst/>
              <a:uLnTx/>
              <a:uFillTx/>
              <a:latin typeface="Arial"/>
              <a:ea typeface="+mn-ea"/>
              <a:cs typeface="+mn-cs"/>
            </a:endParaRPr>
          </a:p>
        </p:txBody>
      </p:sp>
      <p:sp>
        <p:nvSpPr>
          <p:cNvPr id="461" name="Text 18"/>
          <p:cNvSpPr/>
          <p:nvPr/>
        </p:nvSpPr>
        <p:spPr>
          <a:xfrm>
            <a:off x="8511720" y="5408682"/>
            <a:ext cx="2804980" cy="30840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1900" b="1" i="0" u="none" strike="noStrike" kern="1200" cap="none" spc="0" normalizeH="0" baseline="0" noProof="0">
                <a:ln>
                  <a:noFill/>
                </a:ln>
                <a:solidFill>
                  <a:srgbClr val="F7F5F0"/>
                </a:solidFill>
                <a:effectLst/>
                <a:uLnTx/>
                <a:uFillTx/>
                <a:latin typeface="Aptos Display"/>
                <a:ea typeface="Aptos Display"/>
                <a:cs typeface="+mn-cs"/>
              </a:rPr>
              <a:t>THE NEXT STOP</a:t>
            </a:r>
            <a:endParaRPr kumimoji="0" lang="en-US" sz="1900" b="0" i="0" u="none" strike="noStrike" kern="1200" cap="none" spc="0" normalizeH="0" baseline="0" noProof="0">
              <a:ln>
                <a:noFill/>
              </a:ln>
              <a:solidFill>
                <a:srgbClr val="FFFFFF"/>
              </a:solidFill>
              <a:effectLst/>
              <a:uLnTx/>
              <a:uFillTx/>
              <a:latin typeface="Arial"/>
              <a:ea typeface="+mn-ea"/>
              <a:cs typeface="+mn-cs"/>
            </a:endParaRPr>
          </a:p>
        </p:txBody>
      </p:sp>
      <p:pic>
        <p:nvPicPr>
          <p:cNvPr id="3" name="Picture 2">
            <a:extLst>
              <a:ext uri="{FF2B5EF4-FFF2-40B4-BE49-F238E27FC236}">
                <a16:creationId xmlns:a16="http://schemas.microsoft.com/office/drawing/2014/main" id="{71966B8D-B60A-F13D-A5C7-3131AF31A3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8450" y="384533"/>
            <a:ext cx="9144000"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assets/dark_bg.jpeg"/>
          <p:cNvPicPr>
            <a:picLocks noChangeAspect="1"/>
          </p:cNvPicPr>
          <p:nvPr/>
        </p:nvPicPr>
        <p:blipFill>
          <a:blip r:embed="rId3"/>
          <a:stretch>
            <a:fillRect/>
          </a:stretch>
        </p:blipFill>
        <p:spPr>
          <a:xfrm>
            <a:off x="0" y="-584616"/>
            <a:ext cx="12188952" cy="7579776"/>
          </a:xfrm>
          <a:prstGeom prst="rect">
            <a:avLst/>
          </a:prstGeom>
        </p:spPr>
      </p:pic>
      <p:sp>
        <p:nvSpPr>
          <p:cNvPr id="5" name="Text 2"/>
          <p:cNvSpPr/>
          <p:nvPr/>
        </p:nvSpPr>
        <p:spPr>
          <a:xfrm>
            <a:off x="1283909" y="2580104"/>
            <a:ext cx="6400800" cy="1188720"/>
          </a:xfrm>
          <a:prstGeom prst="rect">
            <a:avLst/>
          </a:prstGeom>
          <a:noFill/>
          <a:ln/>
        </p:spPr>
        <p:txBody>
          <a:bodyPr wrap="square" rtlCol="0" anchor="ctr"/>
          <a:lstStyle/>
          <a:p>
            <a:pPr marL="0" indent="0">
              <a:buNone/>
            </a:pPr>
            <a:r>
              <a:rPr lang="en-US" sz="6400" b="1" dirty="0">
                <a:solidFill>
                  <a:schemeClr val="accent1">
                    <a:lumMod val="60000"/>
                    <a:lumOff val="40000"/>
                  </a:schemeClr>
                </a:solidFill>
                <a:latin typeface="Aptos" panose="020B0004020202020204" pitchFamily="34" charset="0"/>
                <a:ea typeface="Calibri" pitchFamily="34" charset="-122"/>
                <a:cs typeface="Calibri" pitchFamily="34" charset="-120"/>
              </a:rPr>
              <a:t>RISE</a:t>
            </a:r>
            <a:endParaRPr lang="en-US" sz="6400" dirty="0">
              <a:solidFill>
                <a:schemeClr val="accent1">
                  <a:lumMod val="60000"/>
                  <a:lumOff val="40000"/>
                </a:schemeClr>
              </a:solidFill>
              <a:latin typeface="Aptos" panose="020B0004020202020204" pitchFamily="34" charset="0"/>
            </a:endParaRPr>
          </a:p>
        </p:txBody>
      </p:sp>
      <p:sp>
        <p:nvSpPr>
          <p:cNvPr id="6" name="Text 3"/>
          <p:cNvSpPr/>
          <p:nvPr/>
        </p:nvSpPr>
        <p:spPr>
          <a:xfrm>
            <a:off x="640080" y="3613376"/>
            <a:ext cx="6400800" cy="502920"/>
          </a:xfrm>
          <a:prstGeom prst="rect">
            <a:avLst/>
          </a:prstGeom>
          <a:noFill/>
          <a:ln/>
        </p:spPr>
        <p:txBody>
          <a:bodyPr wrap="square" rtlCol="0" anchor="ctr"/>
          <a:lstStyle/>
          <a:p>
            <a:pPr marL="0" indent="0">
              <a:buNone/>
            </a:pPr>
            <a:r>
              <a:rPr lang="en-US" sz="2200" i="1" dirty="0">
                <a:solidFill>
                  <a:schemeClr val="bg1"/>
                </a:solidFill>
                <a:latin typeface="Aptos" panose="020B0004020202020204" pitchFamily="34" charset="0"/>
                <a:ea typeface="Calibri" pitchFamily="34" charset="-122"/>
                <a:cs typeface="Calibri" pitchFamily="34" charset="-120"/>
              </a:rPr>
              <a:t>Real Income, Steady Earnings</a:t>
            </a:r>
            <a:endParaRPr lang="en-US" sz="2200" dirty="0">
              <a:solidFill>
                <a:schemeClr val="bg1"/>
              </a:solidFill>
              <a:latin typeface="Aptos" panose="020B0004020202020204" pitchFamily="34" charset="0"/>
            </a:endParaRPr>
          </a:p>
        </p:txBody>
      </p:sp>
      <p:sp>
        <p:nvSpPr>
          <p:cNvPr id="7" name="Text 4"/>
          <p:cNvSpPr/>
          <p:nvPr/>
        </p:nvSpPr>
        <p:spPr>
          <a:xfrm>
            <a:off x="640080" y="4253456"/>
            <a:ext cx="5455920" cy="1061604"/>
          </a:xfrm>
          <a:prstGeom prst="rect">
            <a:avLst/>
          </a:prstGeom>
          <a:noFill/>
          <a:ln/>
        </p:spPr>
        <p:txBody>
          <a:bodyPr wrap="square" rtlCol="0" anchor="t"/>
          <a:lstStyle/>
          <a:p>
            <a:pPr marL="0" indent="0" algn="l">
              <a:lnSpc>
                <a:spcPct val="125000"/>
              </a:lnSpc>
              <a:buNone/>
            </a:pPr>
            <a:r>
              <a:rPr lang="en-US" sz="1300" dirty="0">
                <a:solidFill>
                  <a:srgbClr val="D7E1F2"/>
                </a:solidFill>
                <a:latin typeface="Aptos" panose="020B0004020202020204" pitchFamily="34" charset="0"/>
                <a:ea typeface="Calibri" pitchFamily="34" charset="-122"/>
                <a:cs typeface="Calibri" pitchFamily="34" charset="-120"/>
              </a:rPr>
              <a:t>Youth unemployment in South Africa has climbed for a decade  from 36.9% in 2015 to 47.4% by Q2 2026. This study explores what happens on the other side of that statistic: not the job search, but the first few months of being paid.</a:t>
            </a:r>
            <a:endParaRPr lang="en-US" sz="1300" dirty="0">
              <a:latin typeface="Aptos" panose="020B0004020202020204" pitchFamily="34" charset="0"/>
            </a:endParaRPr>
          </a:p>
        </p:txBody>
      </p:sp>
      <p:sp>
        <p:nvSpPr>
          <p:cNvPr id="8" name="Text 5"/>
          <p:cNvSpPr/>
          <p:nvPr/>
        </p:nvSpPr>
        <p:spPr>
          <a:xfrm>
            <a:off x="640080" y="5753972"/>
            <a:ext cx="2743200" cy="274320"/>
          </a:xfrm>
          <a:prstGeom prst="rect">
            <a:avLst/>
          </a:prstGeom>
          <a:noFill/>
          <a:ln/>
        </p:spPr>
        <p:txBody>
          <a:bodyPr wrap="square" rtlCol="0" anchor="ctr"/>
          <a:lstStyle/>
          <a:p>
            <a:pPr marL="0" indent="0">
              <a:buNone/>
            </a:pPr>
            <a:r>
              <a:rPr lang="en-US" sz="1000" b="1" kern="0" spc="100" dirty="0">
                <a:solidFill>
                  <a:srgbClr val="6FA6E8"/>
                </a:solidFill>
                <a:latin typeface="Calibri" pitchFamily="34" charset="0"/>
                <a:ea typeface="Calibri" pitchFamily="34" charset="-122"/>
                <a:cs typeface="Calibri" pitchFamily="34" charset="-120"/>
              </a:rPr>
              <a:t>MY ROLE</a:t>
            </a:r>
            <a:endParaRPr lang="en-US" sz="1000" dirty="0"/>
          </a:p>
        </p:txBody>
      </p:sp>
      <p:sp>
        <p:nvSpPr>
          <p:cNvPr id="9" name="Text 6"/>
          <p:cNvSpPr/>
          <p:nvPr/>
        </p:nvSpPr>
        <p:spPr>
          <a:xfrm>
            <a:off x="640080" y="6010004"/>
            <a:ext cx="3017520" cy="4572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Individual Contributor, UX </a:t>
            </a:r>
            <a:r>
              <a:rPr lang="en-US" sz="1250" dirty="0">
                <a:solidFill>
                  <a:srgbClr val="FFFFFF"/>
                </a:solidFill>
                <a:latin typeface="Aptos" panose="020B0004020202020204" pitchFamily="34" charset="0"/>
                <a:ea typeface="Calibri" pitchFamily="34" charset="-122"/>
                <a:cs typeface="Calibri" pitchFamily="34" charset="-120"/>
              </a:rPr>
              <a:t>Designer</a:t>
            </a:r>
            <a:endParaRPr lang="en-US" sz="1250" dirty="0">
              <a:latin typeface="Aptos" panose="020B0004020202020204" pitchFamily="34" charset="0"/>
            </a:endParaRPr>
          </a:p>
        </p:txBody>
      </p:sp>
      <p:sp>
        <p:nvSpPr>
          <p:cNvPr id="10" name="Text 7"/>
          <p:cNvSpPr/>
          <p:nvPr/>
        </p:nvSpPr>
        <p:spPr>
          <a:xfrm>
            <a:off x="3749040" y="5753972"/>
            <a:ext cx="2743200" cy="274320"/>
          </a:xfrm>
          <a:prstGeom prst="rect">
            <a:avLst/>
          </a:prstGeom>
          <a:noFill/>
          <a:ln/>
        </p:spPr>
        <p:txBody>
          <a:bodyPr wrap="square" rtlCol="0" anchor="ctr"/>
          <a:lstStyle/>
          <a:p>
            <a:pPr marL="0" indent="0">
              <a:buNone/>
            </a:pPr>
            <a:r>
              <a:rPr lang="en-US" sz="1000" b="1" kern="0" spc="100" dirty="0">
                <a:solidFill>
                  <a:srgbClr val="6FA6E8"/>
                </a:solidFill>
                <a:latin typeface="Calibri" pitchFamily="34" charset="0"/>
                <a:ea typeface="Calibri" pitchFamily="34" charset="-122"/>
                <a:cs typeface="Calibri" pitchFamily="34" charset="-120"/>
              </a:rPr>
              <a:t>STATUS</a:t>
            </a:r>
            <a:endParaRPr lang="en-US" sz="1000" dirty="0"/>
          </a:p>
        </p:txBody>
      </p:sp>
      <p:sp>
        <p:nvSpPr>
          <p:cNvPr id="11" name="Text 8"/>
          <p:cNvSpPr/>
          <p:nvPr/>
        </p:nvSpPr>
        <p:spPr>
          <a:xfrm>
            <a:off x="3749040" y="6010004"/>
            <a:ext cx="3108960" cy="4572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Design exploration, not built or shipped</a:t>
            </a:r>
            <a:endParaRPr lang="en-US" sz="1250" dirty="0"/>
          </a:p>
        </p:txBody>
      </p:sp>
      <p:sp>
        <p:nvSpPr>
          <p:cNvPr id="13" name="Text 9"/>
          <p:cNvSpPr/>
          <p:nvPr/>
        </p:nvSpPr>
        <p:spPr>
          <a:xfrm>
            <a:off x="11365992" y="6446520"/>
            <a:ext cx="548640" cy="274320"/>
          </a:xfrm>
          <a:prstGeom prst="rect">
            <a:avLst/>
          </a:prstGeom>
          <a:noFill/>
          <a:ln/>
        </p:spPr>
        <p:txBody>
          <a:bodyPr wrap="square" rtlCol="0" anchor="ctr"/>
          <a:lstStyle/>
          <a:p>
            <a:pPr marL="0" indent="0" algn="r">
              <a:buNone/>
            </a:pPr>
            <a:r>
              <a:rPr lang="en-US" sz="1000" dirty="0">
                <a:solidFill>
                  <a:srgbClr val="8FA3C7"/>
                </a:solidFill>
                <a:latin typeface="Calibri" pitchFamily="34" charset="0"/>
                <a:ea typeface="Calibri" pitchFamily="34" charset="-122"/>
                <a:cs typeface="Calibri" pitchFamily="34" charset="-120"/>
              </a:rPr>
              <a:t>01</a:t>
            </a:r>
            <a:endParaRPr lang="en-US" sz="1000" dirty="0"/>
          </a:p>
        </p:txBody>
      </p:sp>
      <p:sp>
        <p:nvSpPr>
          <p:cNvPr id="16" name="TextBox 15">
            <a:extLst>
              <a:ext uri="{FF2B5EF4-FFF2-40B4-BE49-F238E27FC236}">
                <a16:creationId xmlns:a16="http://schemas.microsoft.com/office/drawing/2014/main" id="{C38E39BE-7850-91EC-6A1D-3BC823B6BC17}"/>
              </a:ext>
            </a:extLst>
          </p:cNvPr>
          <p:cNvSpPr txBox="1"/>
          <p:nvPr/>
        </p:nvSpPr>
        <p:spPr>
          <a:xfrm>
            <a:off x="558384" y="251673"/>
            <a:ext cx="6198432" cy="830997"/>
          </a:xfrm>
          <a:prstGeom prst="rect">
            <a:avLst/>
          </a:prstGeom>
          <a:noFill/>
        </p:spPr>
        <p:txBody>
          <a:bodyPr wrap="square">
            <a:spAutoFit/>
          </a:bodyPr>
          <a:lstStyle/>
          <a:p>
            <a:r>
              <a:rPr lang="en-US" sz="4800" b="1" dirty="0">
                <a:solidFill>
                  <a:srgbClr val="FFFFFF"/>
                </a:solidFill>
                <a:latin typeface="Aptos" panose="020B0004020202020204" pitchFamily="34" charset="0"/>
                <a:ea typeface="Calibri" pitchFamily="34" charset="-122"/>
                <a:cs typeface="Calibri" pitchFamily="34" charset="-120"/>
              </a:rPr>
              <a:t>02</a:t>
            </a:r>
            <a:endParaRPr lang="en-ZA" sz="4800" dirty="0"/>
          </a:p>
        </p:txBody>
      </p:sp>
      <p:pic>
        <p:nvPicPr>
          <p:cNvPr id="20" name="Picture 19">
            <a:extLst>
              <a:ext uri="{FF2B5EF4-FFF2-40B4-BE49-F238E27FC236}">
                <a16:creationId xmlns:a16="http://schemas.microsoft.com/office/drawing/2014/main" id="{501E37BC-3592-E278-54B9-AA3682517456}"/>
              </a:ext>
            </a:extLst>
          </p:cNvPr>
          <p:cNvPicPr>
            <a:picLocks noChangeAspect="1"/>
          </p:cNvPicPr>
          <p:nvPr/>
        </p:nvPicPr>
        <p:blipFill>
          <a:blip r:embed="rId4">
            <a:duotone>
              <a:prstClr val="black"/>
              <a:schemeClr val="accent1">
                <a:tint val="45000"/>
                <a:satMod val="400000"/>
              </a:schemeClr>
            </a:duotone>
          </a:blip>
          <a:stretch>
            <a:fillRect/>
          </a:stretch>
        </p:blipFill>
        <p:spPr>
          <a:xfrm>
            <a:off x="714640" y="2847908"/>
            <a:ext cx="569269" cy="622974"/>
          </a:xfrm>
          <a:prstGeom prst="rect">
            <a:avLst/>
          </a:prstGeom>
        </p:spPr>
      </p:pic>
      <p:pic>
        <p:nvPicPr>
          <p:cNvPr id="4" name="Picture 3">
            <a:extLst>
              <a:ext uri="{FF2B5EF4-FFF2-40B4-BE49-F238E27FC236}">
                <a16:creationId xmlns:a16="http://schemas.microsoft.com/office/drawing/2014/main" id="{8DAA0E72-B93F-51B3-38F4-D936509D09A3}"/>
              </a:ext>
            </a:extLst>
          </p:cNvPr>
          <p:cNvPicPr>
            <a:picLocks noChangeAspect="1"/>
          </p:cNvPicPr>
          <p:nvPr/>
        </p:nvPicPr>
        <p:blipFill>
          <a:blip r:embed="rId5"/>
          <a:stretch>
            <a:fillRect/>
          </a:stretch>
        </p:blipFill>
        <p:spPr>
          <a:xfrm>
            <a:off x="4539996" y="251673"/>
            <a:ext cx="9144000"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assets/dark_bg.jpeg"/>
          <p:cNvPicPr>
            <a:picLocks noChangeAspect="1"/>
          </p:cNvPicPr>
          <p:nvPr/>
        </p:nvPicPr>
        <p:blipFill>
          <a:blip r:embed="rId3"/>
          <a:stretch>
            <a:fillRect/>
          </a:stretch>
        </p:blipFill>
        <p:spPr>
          <a:xfrm>
            <a:off x="0" y="0"/>
            <a:ext cx="12188952" cy="6858000"/>
          </a:xfrm>
          <a:prstGeom prst="rect">
            <a:avLst/>
          </a:prstGeom>
        </p:spPr>
      </p:pic>
      <p:sp>
        <p:nvSpPr>
          <p:cNvPr id="3" name="Shape 0"/>
          <p:cNvSpPr/>
          <p:nvPr/>
        </p:nvSpPr>
        <p:spPr>
          <a:xfrm>
            <a:off x="10839269" y="5486400"/>
            <a:ext cx="1920240" cy="1920240"/>
          </a:xfrm>
          <a:prstGeom prst="ellipse">
            <a:avLst/>
          </a:prstGeom>
          <a:ln w="38100">
            <a:solidFill>
              <a:srgbClr val="5FA8E0">
                <a:alpha val="40000"/>
              </a:srgbClr>
            </a:solidFill>
            <a:prstDash val="solid"/>
          </a:ln>
        </p:spPr>
        <p:txBody>
          <a:bodyPr/>
          <a:lstStyle/>
          <a:p>
            <a:endParaRPr lang="en-ZA"/>
          </a:p>
        </p:txBody>
      </p:sp>
      <p:sp>
        <p:nvSpPr>
          <p:cNvPr id="4" name="Text 1"/>
          <p:cNvSpPr/>
          <p:nvPr/>
        </p:nvSpPr>
        <p:spPr>
          <a:xfrm>
            <a:off x="640080" y="502920"/>
            <a:ext cx="1371600" cy="1371600"/>
          </a:xfrm>
          <a:prstGeom prst="rect">
            <a:avLst/>
          </a:prstGeom>
          <a:noFill/>
          <a:ln/>
        </p:spPr>
        <p:txBody>
          <a:bodyPr wrap="square" rtlCol="0" anchor="ctr"/>
          <a:lstStyle/>
          <a:p>
            <a:pPr marL="0" indent="0">
              <a:buNone/>
            </a:pPr>
            <a:r>
              <a:rPr lang="en-US" sz="9000" b="1" dirty="0">
                <a:solidFill>
                  <a:srgbClr val="3E6FC4"/>
                </a:solidFill>
                <a:latin typeface="Cambria" pitchFamily="34" charset="0"/>
                <a:ea typeface="Cambria" pitchFamily="34" charset="-122"/>
                <a:cs typeface="Cambria" pitchFamily="34" charset="-120"/>
              </a:rPr>
              <a:t>“</a:t>
            </a:r>
            <a:endParaRPr lang="en-US" sz="9000" dirty="0"/>
          </a:p>
        </p:txBody>
      </p:sp>
      <p:sp>
        <p:nvSpPr>
          <p:cNvPr id="5" name="Text 2"/>
          <p:cNvSpPr/>
          <p:nvPr/>
        </p:nvSpPr>
        <p:spPr>
          <a:xfrm>
            <a:off x="914400" y="2148840"/>
            <a:ext cx="9692640" cy="2011680"/>
          </a:xfrm>
          <a:prstGeom prst="rect">
            <a:avLst/>
          </a:prstGeom>
          <a:noFill/>
          <a:ln/>
        </p:spPr>
        <p:txBody>
          <a:bodyPr wrap="square" rtlCol="0" anchor="t"/>
          <a:lstStyle/>
          <a:p>
            <a:pPr marL="0" indent="0" algn="l">
              <a:lnSpc>
                <a:spcPct val="120000"/>
              </a:lnSpc>
              <a:buNone/>
            </a:pPr>
            <a:r>
              <a:rPr lang="en-US" sz="3400" i="1" dirty="0">
                <a:solidFill>
                  <a:srgbClr val="FFFFFF"/>
                </a:solidFill>
                <a:latin typeface="Cambria" pitchFamily="34" charset="0"/>
                <a:ea typeface="Cambria" pitchFamily="34" charset="-122"/>
                <a:cs typeface="Cambria" pitchFamily="34" charset="-120"/>
              </a:rPr>
              <a:t>I finally have a job. Why do I feel like I'm failing at it before I've even started spending?</a:t>
            </a:r>
            <a:endParaRPr lang="en-US" sz="3400" dirty="0"/>
          </a:p>
        </p:txBody>
      </p:sp>
      <p:sp>
        <p:nvSpPr>
          <p:cNvPr id="6" name="Shape 3"/>
          <p:cNvSpPr/>
          <p:nvPr/>
        </p:nvSpPr>
        <p:spPr>
          <a:xfrm>
            <a:off x="960120" y="4343400"/>
            <a:ext cx="640080" cy="0"/>
          </a:xfrm>
          <a:prstGeom prst="line">
            <a:avLst/>
          </a:prstGeom>
          <a:noFill/>
          <a:ln w="38100">
            <a:solidFill>
              <a:srgbClr val="285EF6"/>
            </a:solidFill>
            <a:prstDash val="solid"/>
          </a:ln>
        </p:spPr>
        <p:txBody>
          <a:bodyPr/>
          <a:lstStyle/>
          <a:p>
            <a:endParaRPr lang="en-ZA"/>
          </a:p>
        </p:txBody>
      </p:sp>
      <p:sp>
        <p:nvSpPr>
          <p:cNvPr id="7" name="Text 4"/>
          <p:cNvSpPr/>
          <p:nvPr/>
        </p:nvSpPr>
        <p:spPr>
          <a:xfrm>
            <a:off x="960120" y="4526280"/>
            <a:ext cx="7315200" cy="457200"/>
          </a:xfrm>
          <a:prstGeom prst="rect">
            <a:avLst/>
          </a:prstGeom>
          <a:noFill/>
          <a:ln/>
        </p:spPr>
        <p:txBody>
          <a:bodyPr wrap="square" rtlCol="0" anchor="ctr"/>
          <a:lstStyle/>
          <a:p>
            <a:pPr marL="0" indent="0">
              <a:buNone/>
            </a:pPr>
            <a:r>
              <a:rPr lang="en-US" sz="1500" dirty="0">
                <a:solidFill>
                  <a:srgbClr val="AFC8F0"/>
                </a:solidFill>
                <a:latin typeface="Calibri" pitchFamily="34" charset="0"/>
                <a:ea typeface="Calibri" pitchFamily="34" charset="-122"/>
                <a:cs typeface="Calibri" pitchFamily="34" charset="-120"/>
              </a:rPr>
              <a:t>Thabo, 23 - four months into his first job</a:t>
            </a:r>
            <a:endParaRPr lang="en-US" sz="1500" dirty="0"/>
          </a:p>
        </p:txBody>
      </p:sp>
      <p:sp>
        <p:nvSpPr>
          <p:cNvPr id="8" name="Text 5"/>
          <p:cNvSpPr/>
          <p:nvPr/>
        </p:nvSpPr>
        <p:spPr>
          <a:xfrm>
            <a:off x="11365992" y="6446520"/>
            <a:ext cx="548640" cy="274320"/>
          </a:xfrm>
          <a:prstGeom prst="rect">
            <a:avLst/>
          </a:prstGeom>
          <a:noFill/>
          <a:ln/>
        </p:spPr>
        <p:txBody>
          <a:bodyPr wrap="square" rtlCol="0" anchor="ctr"/>
          <a:lstStyle/>
          <a:p>
            <a:pPr marL="0" indent="0" algn="r">
              <a:buNone/>
            </a:pPr>
            <a:r>
              <a:rPr lang="en-US" sz="1000" dirty="0">
                <a:solidFill>
                  <a:srgbClr val="8FA3C7"/>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0F1F44"/>
          </a:solidFill>
          <a:ln/>
        </p:spPr>
        <p:txBody>
          <a:bodyPr/>
          <a:lstStyle/>
          <a:p>
            <a:endParaRPr lang="en-ZA"/>
          </a:p>
        </p:txBody>
      </p:sp>
      <p:sp>
        <p:nvSpPr>
          <p:cNvPr id="3" name="Text 1"/>
          <p:cNvSpPr/>
          <p:nvPr/>
        </p:nvSpPr>
        <p:spPr>
          <a:xfrm>
            <a:off x="640080" y="50292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170432" y="502920"/>
            <a:ext cx="7315200" cy="384048"/>
          </a:xfrm>
          <a:prstGeom prst="rect">
            <a:avLst/>
          </a:prstGeom>
          <a:noFill/>
          <a:ln/>
        </p:spPr>
        <p:txBody>
          <a:bodyPr wrap="square" rtlCol="0" anchor="ctr"/>
          <a:lstStyle/>
          <a:p>
            <a:pPr marL="0" indent="0" algn="l">
              <a:buNone/>
            </a:pPr>
            <a:r>
              <a:rPr lang="en-US" sz="1200" b="1" kern="0" spc="100" dirty="0">
                <a:solidFill>
                  <a:srgbClr val="285EF6"/>
                </a:solidFill>
                <a:latin typeface="Calibri" pitchFamily="34" charset="0"/>
                <a:ea typeface="Calibri" pitchFamily="34" charset="-122"/>
                <a:cs typeface="Calibri" pitchFamily="34" charset="-120"/>
              </a:rPr>
              <a:t>PRODUCT DISCOVERY &amp; CONTEXT ALIGNMENT</a:t>
            </a:r>
            <a:endParaRPr lang="en-US" sz="1200" dirty="0"/>
          </a:p>
        </p:txBody>
      </p:sp>
      <p:sp>
        <p:nvSpPr>
          <p:cNvPr id="5" name="Text 3"/>
          <p:cNvSpPr/>
          <p:nvPr/>
        </p:nvSpPr>
        <p:spPr>
          <a:xfrm>
            <a:off x="640080" y="1051560"/>
            <a:ext cx="10515600" cy="731520"/>
          </a:xfrm>
          <a:prstGeom prst="rect">
            <a:avLst/>
          </a:prstGeom>
          <a:noFill/>
          <a:ln/>
        </p:spPr>
        <p:txBody>
          <a:bodyPr wrap="square" rtlCol="0" anchor="t"/>
          <a:lstStyle/>
          <a:p>
            <a:pPr marL="0" indent="0" algn="l">
              <a:buNone/>
            </a:pPr>
            <a:r>
              <a:rPr lang="en-US" sz="3000" b="1" dirty="0">
                <a:solidFill>
                  <a:srgbClr val="111111"/>
                </a:solidFill>
                <a:latin typeface="Calibri" pitchFamily="34" charset="0"/>
                <a:ea typeface="Calibri" pitchFamily="34" charset="-122"/>
                <a:cs typeface="Calibri" pitchFamily="34" charset="-120"/>
              </a:rPr>
              <a:t>The problem and the opportunity</a:t>
            </a:r>
            <a:endParaRPr lang="en-US" sz="3000" dirty="0"/>
          </a:p>
        </p:txBody>
      </p:sp>
      <p:sp>
        <p:nvSpPr>
          <p:cNvPr id="6" name="Shape 4"/>
          <p:cNvSpPr/>
          <p:nvPr/>
        </p:nvSpPr>
        <p:spPr>
          <a:xfrm>
            <a:off x="685800" y="2148840"/>
            <a:ext cx="0" cy="2926080"/>
          </a:xfrm>
          <a:prstGeom prst="line">
            <a:avLst/>
          </a:prstGeom>
          <a:noFill/>
          <a:ln w="38100">
            <a:solidFill>
              <a:srgbClr val="285EF6"/>
            </a:solidFill>
            <a:prstDash val="solid"/>
          </a:ln>
        </p:spPr>
        <p:txBody>
          <a:bodyPr/>
          <a:lstStyle/>
          <a:p>
            <a:endParaRPr lang="en-ZA"/>
          </a:p>
        </p:txBody>
      </p:sp>
      <p:sp>
        <p:nvSpPr>
          <p:cNvPr id="7" name="Text 5"/>
          <p:cNvSpPr/>
          <p:nvPr/>
        </p:nvSpPr>
        <p:spPr>
          <a:xfrm>
            <a:off x="960120" y="2103120"/>
            <a:ext cx="9875520" cy="3108960"/>
          </a:xfrm>
          <a:prstGeom prst="rect">
            <a:avLst/>
          </a:prstGeom>
          <a:noFill/>
          <a:ln/>
        </p:spPr>
        <p:txBody>
          <a:bodyPr wrap="square" rtlCol="0" anchor="t"/>
          <a:lstStyle/>
          <a:p>
            <a:r>
              <a:t>Nobody puts the real cost of finding work in the job advert, the taxi fare to an interview two zones away, data for a video call, a CV printed at the internet café because the library queue was too long. Thabo applied to 38 jobs, had three interviews and one almost-offer that turned out to be a scam, before landing his role.</a:t>
            </a:r>
          </a:p>
          <a:p/>
          <a:p>
            <a:r>
              <a:t>That history is exactly why the first payslip carries so much weight, and why existing accounts miss it. Getting the job doesn't end the pressure, it just changes shape: young people manage the biggest financial transition of their lives with the least support from the institutions built to help and often conclude, quietly, that banks were never really for them.</a:t>
            </a:r>
          </a:p>
          <a:p/>
          <a:p>
            <a:r>
              <a:t>As we observe existing youth accounts, they do not respond with a plan for uncertainty, a place for family obligation, or a way to ask a “stupid” question without shame.</a:t>
            </a:r>
          </a:p>
        </p:txBody>
      </p:sp>
      <p:sp>
        <p:nvSpPr>
          <p:cNvPr id="8" name="Text 6"/>
          <p:cNvSpPr/>
          <p:nvPr/>
        </p:nvSpPr>
        <p:spPr>
          <a:xfrm>
            <a:off x="11365992" y="6446520"/>
            <a:ext cx="548640" cy="274320"/>
          </a:xfrm>
          <a:prstGeom prst="rect">
            <a:avLst/>
          </a:prstGeom>
          <a:noFill/>
          <a:ln/>
        </p:spPr>
        <p:txBody>
          <a:bodyPr wrap="square" rtlCol="0" anchor="ctr"/>
          <a:lstStyle/>
          <a:p>
            <a:pPr marL="0" indent="0" algn="r">
              <a:buNone/>
            </a:pPr>
            <a:r>
              <a:rPr lang="en-US" sz="1000" dirty="0">
                <a:solidFill>
                  <a:srgbClr val="8A8F9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0F1F44"/>
          </a:solidFill>
          <a:ln/>
        </p:spPr>
        <p:txBody>
          <a:bodyPr/>
          <a:lstStyle/>
          <a:p>
            <a:endParaRPr lang="en-ZA"/>
          </a:p>
        </p:txBody>
      </p:sp>
      <p:sp>
        <p:nvSpPr>
          <p:cNvPr id="3" name="Text 1"/>
          <p:cNvSpPr/>
          <p:nvPr/>
        </p:nvSpPr>
        <p:spPr>
          <a:xfrm>
            <a:off x="640080" y="50292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170432" y="502920"/>
            <a:ext cx="7315200" cy="384048"/>
          </a:xfrm>
          <a:prstGeom prst="rect">
            <a:avLst/>
          </a:prstGeom>
          <a:noFill/>
          <a:ln/>
        </p:spPr>
        <p:txBody>
          <a:bodyPr wrap="square" rtlCol="0" anchor="ctr"/>
          <a:lstStyle/>
          <a:p>
            <a:pPr marL="0" indent="0" algn="l">
              <a:buNone/>
            </a:pPr>
            <a:r>
              <a:rPr lang="en-US" sz="1200" b="1" kern="0" spc="100" dirty="0">
                <a:solidFill>
                  <a:srgbClr val="285EF6"/>
                </a:solidFill>
                <a:latin typeface="Calibri" pitchFamily="34" charset="0"/>
                <a:ea typeface="Calibri" pitchFamily="34" charset="-122"/>
                <a:cs typeface="Calibri" pitchFamily="34" charset="-120"/>
              </a:rPr>
              <a:t>PRODUCT DISCOVERY &amp; CONTEXT ALIGNMENT</a:t>
            </a:r>
            <a:endParaRPr lang="en-US" sz="1200" dirty="0"/>
          </a:p>
        </p:txBody>
      </p:sp>
      <p:sp>
        <p:nvSpPr>
          <p:cNvPr id="5" name="Text 3"/>
          <p:cNvSpPr/>
          <p:nvPr/>
        </p:nvSpPr>
        <p:spPr>
          <a:xfrm>
            <a:off x="640080" y="1051560"/>
            <a:ext cx="10515600" cy="731520"/>
          </a:xfrm>
          <a:prstGeom prst="rect">
            <a:avLst/>
          </a:prstGeom>
          <a:noFill/>
          <a:ln/>
        </p:spPr>
        <p:txBody>
          <a:bodyPr wrap="square" rtlCol="0" anchor="t"/>
          <a:lstStyle/>
          <a:p>
            <a:pPr marL="0" indent="0" algn="l">
              <a:buNone/>
            </a:pPr>
            <a:r>
              <a:rPr lang="en-US" sz="3000" b="1" dirty="0">
                <a:solidFill>
                  <a:srgbClr val="111111"/>
                </a:solidFill>
                <a:latin typeface="Calibri" pitchFamily="34" charset="0"/>
                <a:ea typeface="Calibri" pitchFamily="34" charset="-122"/>
                <a:cs typeface="Calibri" pitchFamily="34" charset="-120"/>
              </a:rPr>
              <a:t>Research method</a:t>
            </a:r>
            <a:endParaRPr lang="en-US" sz="3000" dirty="0"/>
          </a:p>
        </p:txBody>
      </p:sp>
      <p:sp>
        <p:nvSpPr>
          <p:cNvPr id="6" name="Text 4"/>
          <p:cNvSpPr/>
          <p:nvPr/>
        </p:nvSpPr>
        <p:spPr>
          <a:xfrm>
            <a:off x="640080" y="1828800"/>
            <a:ext cx="10881360" cy="777240"/>
          </a:xfrm>
          <a:prstGeom prst="rect">
            <a:avLst/>
          </a:prstGeom>
          <a:noFill/>
          <a:ln/>
        </p:spPr>
        <p:txBody>
          <a:bodyPr wrap="square" rtlCol="0" anchor="t"/>
          <a:lstStyle/>
          <a:p>
            <a:pPr marL="0" indent="0">
              <a:lnSpc>
                <a:spcPct val="120000"/>
              </a:lnSpc>
              <a:buNone/>
            </a:pPr>
            <a:r>
              <a:rPr lang="en-US" sz="1350" dirty="0">
                <a:solidFill>
                  <a:srgbClr val="5A5A5A"/>
                </a:solidFill>
                <a:latin typeface="Calibri" pitchFamily="34" charset="0"/>
                <a:ea typeface="Calibri" pitchFamily="34" charset="-122"/>
                <a:cs typeface="Calibri" pitchFamily="34" charset="-120"/>
              </a:rPr>
              <a:t>I went looking for statistics that could test three different explanations for the same behaviour, rather than one that simply confirmed a hunch. If young people were genuinely just “bad with money,” you'd expect one of these to be weak and the others fine. Instead, all three came back low.</a:t>
            </a:r>
            <a:endParaRPr lang="en-US" sz="1350" dirty="0"/>
          </a:p>
        </p:txBody>
      </p:sp>
      <p:sp>
        <p:nvSpPr>
          <p:cNvPr id="7" name="Shape 5"/>
          <p:cNvSpPr/>
          <p:nvPr/>
        </p:nvSpPr>
        <p:spPr>
          <a:xfrm>
            <a:off x="640080" y="2880360"/>
            <a:ext cx="329184" cy="329184"/>
          </a:xfrm>
          <a:prstGeom prst="ellipse">
            <a:avLst/>
          </a:prstGeom>
          <a:solidFill>
            <a:srgbClr val="EC592D"/>
          </a:solidFill>
          <a:ln/>
        </p:spPr>
        <p:txBody>
          <a:bodyPr/>
          <a:lstStyle/>
          <a:p>
            <a:endParaRPr lang="en-ZA"/>
          </a:p>
        </p:txBody>
      </p:sp>
      <p:sp>
        <p:nvSpPr>
          <p:cNvPr id="8" name="Text 6"/>
          <p:cNvSpPr/>
          <p:nvPr/>
        </p:nvSpPr>
        <p:spPr>
          <a:xfrm>
            <a:off x="640080" y="2880360"/>
            <a:ext cx="329184" cy="32918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097280" y="2862072"/>
            <a:ext cx="3063240" cy="365760"/>
          </a:xfrm>
          <a:prstGeom prst="rect">
            <a:avLst/>
          </a:prstGeom>
          <a:noFill/>
          <a:ln/>
        </p:spPr>
        <p:txBody>
          <a:bodyPr wrap="square"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The Emotional State</a:t>
            </a:r>
            <a:endParaRPr lang="en-US" sz="1400" dirty="0"/>
          </a:p>
        </p:txBody>
      </p:sp>
      <p:sp>
        <p:nvSpPr>
          <p:cNvPr id="10" name="Text 8"/>
          <p:cNvSpPr/>
          <p:nvPr/>
        </p:nvSpPr>
        <p:spPr>
          <a:xfrm>
            <a:off x="640080" y="3337560"/>
            <a:ext cx="3520440" cy="777240"/>
          </a:xfrm>
          <a:prstGeom prst="rect">
            <a:avLst/>
          </a:prstGeom>
          <a:noFill/>
          <a:ln/>
        </p:spPr>
        <p:txBody>
          <a:bodyPr wrap="square" rtlCol="0" anchor="ctr"/>
          <a:lstStyle/>
          <a:p>
            <a:pPr marL="0" indent="0">
              <a:buNone/>
            </a:pPr>
            <a:r>
              <a:rPr lang="en-US" sz="4000" b="1" dirty="0">
                <a:solidFill>
                  <a:srgbClr val="EC592D"/>
                </a:solidFill>
                <a:latin typeface="Cambria" pitchFamily="34" charset="0"/>
                <a:ea typeface="Cambria" pitchFamily="34" charset="-122"/>
                <a:cs typeface="Cambria" pitchFamily="34" charset="-120"/>
              </a:rPr>
              <a:t>75%</a:t>
            </a:r>
            <a:endParaRPr lang="en-US" sz="4000" dirty="0"/>
          </a:p>
        </p:txBody>
      </p:sp>
      <p:sp>
        <p:nvSpPr>
          <p:cNvPr id="11" name="Text 9"/>
          <p:cNvSpPr/>
          <p:nvPr/>
        </p:nvSpPr>
        <p:spPr>
          <a:xfrm>
            <a:off x="640080" y="4206240"/>
            <a:ext cx="3520440" cy="868680"/>
          </a:xfrm>
          <a:prstGeom prst="rect">
            <a:avLst/>
          </a:prstGeom>
          <a:noFill/>
          <a:ln/>
        </p:spPr>
        <p:txBody>
          <a:bodyPr wrap="square" rtlCol="0" anchor="t"/>
          <a:lstStyle/>
          <a:p>
            <a:pPr marL="0" indent="0">
              <a:lnSpc>
                <a:spcPct val="115000"/>
              </a:lnSpc>
              <a:buNone/>
            </a:pPr>
            <a:r>
              <a:rPr lang="en-US" sz="1250" dirty="0">
                <a:solidFill>
                  <a:srgbClr val="2A2A2A"/>
                </a:solidFill>
                <a:latin typeface="Calibri" pitchFamily="34" charset="0"/>
                <a:ea typeface="Calibri" pitchFamily="34" charset="-122"/>
                <a:cs typeface="Calibri" pitchFamily="34" charset="-120"/>
              </a:rPr>
              <a:t>of South Africans under 35 report financial anxiety or stress, up 18% year-on-year</a:t>
            </a:r>
            <a:endParaRPr lang="en-US" sz="1250" dirty="0"/>
          </a:p>
        </p:txBody>
      </p:sp>
      <p:sp>
        <p:nvSpPr>
          <p:cNvPr id="12" name="Text 10"/>
          <p:cNvSpPr/>
          <p:nvPr/>
        </p:nvSpPr>
        <p:spPr>
          <a:xfrm>
            <a:off x="640080" y="5074920"/>
            <a:ext cx="3520440" cy="457200"/>
          </a:xfrm>
          <a:prstGeom prst="rect">
            <a:avLst/>
          </a:prstGeom>
          <a:noFill/>
          <a:ln/>
        </p:spPr>
        <p:txBody>
          <a:bodyPr wrap="square" rtlCol="0" anchor="t"/>
          <a:lstStyle/>
          <a:p>
            <a:pPr marL="0" indent="0">
              <a:buNone/>
            </a:pPr>
            <a:r>
              <a:rPr lang="en-US" sz="1050" i="1" dirty="0">
                <a:solidFill>
                  <a:srgbClr val="8A8F98"/>
                </a:solidFill>
                <a:latin typeface="Calibri" pitchFamily="34" charset="0"/>
                <a:ea typeface="Calibri" pitchFamily="34" charset="-122"/>
                <a:cs typeface="Calibri" pitchFamily="34" charset="-120"/>
              </a:rPr>
              <a:t>(Debt Rescue Money Stress Tracker, 2026)</a:t>
            </a:r>
            <a:endParaRPr lang="en-US" sz="1050" dirty="0"/>
          </a:p>
        </p:txBody>
      </p:sp>
      <p:sp>
        <p:nvSpPr>
          <p:cNvPr id="13" name="Shape 11"/>
          <p:cNvSpPr/>
          <p:nvPr/>
        </p:nvSpPr>
        <p:spPr>
          <a:xfrm>
            <a:off x="4389120" y="2880360"/>
            <a:ext cx="329184" cy="329184"/>
          </a:xfrm>
          <a:prstGeom prst="ellipse">
            <a:avLst/>
          </a:prstGeom>
          <a:solidFill>
            <a:srgbClr val="EC592D"/>
          </a:solidFill>
          <a:ln/>
        </p:spPr>
        <p:txBody>
          <a:bodyPr/>
          <a:lstStyle/>
          <a:p>
            <a:endParaRPr lang="en-ZA"/>
          </a:p>
        </p:txBody>
      </p:sp>
      <p:sp>
        <p:nvSpPr>
          <p:cNvPr id="14" name="Text 12"/>
          <p:cNvSpPr/>
          <p:nvPr/>
        </p:nvSpPr>
        <p:spPr>
          <a:xfrm>
            <a:off x="4389120" y="2880360"/>
            <a:ext cx="329184" cy="32918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4846320" y="2862072"/>
            <a:ext cx="3063240" cy="365760"/>
          </a:xfrm>
          <a:prstGeom prst="rect">
            <a:avLst/>
          </a:prstGeom>
          <a:noFill/>
          <a:ln/>
        </p:spPr>
        <p:txBody>
          <a:bodyPr wrap="square"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The Skills Gap</a:t>
            </a:r>
            <a:endParaRPr lang="en-US" sz="1400" dirty="0"/>
          </a:p>
        </p:txBody>
      </p:sp>
      <p:sp>
        <p:nvSpPr>
          <p:cNvPr id="16" name="Text 14"/>
          <p:cNvSpPr/>
          <p:nvPr/>
        </p:nvSpPr>
        <p:spPr>
          <a:xfrm>
            <a:off x="4389120" y="3337560"/>
            <a:ext cx="3520440" cy="777240"/>
          </a:xfrm>
          <a:prstGeom prst="rect">
            <a:avLst/>
          </a:prstGeom>
          <a:noFill/>
          <a:ln/>
        </p:spPr>
        <p:txBody>
          <a:bodyPr wrap="square" rtlCol="0" anchor="ctr"/>
          <a:lstStyle/>
          <a:p>
            <a:pPr marL="0" indent="0">
              <a:buNone/>
            </a:pPr>
            <a:r>
              <a:rPr lang="en-US" sz="4000" b="1" dirty="0">
                <a:solidFill>
                  <a:srgbClr val="EC592D"/>
                </a:solidFill>
                <a:latin typeface="Cambria" pitchFamily="34" charset="0"/>
                <a:ea typeface="Cambria" pitchFamily="34" charset="-122"/>
                <a:cs typeface="Cambria" pitchFamily="34" charset="-120"/>
              </a:rPr>
              <a:t>39%</a:t>
            </a:r>
            <a:endParaRPr lang="en-US" sz="4000" dirty="0"/>
          </a:p>
        </p:txBody>
      </p:sp>
      <p:sp>
        <p:nvSpPr>
          <p:cNvPr id="17" name="Text 15"/>
          <p:cNvSpPr/>
          <p:nvPr/>
        </p:nvSpPr>
        <p:spPr>
          <a:xfrm>
            <a:off x="4389120" y="4206240"/>
            <a:ext cx="3520440" cy="868680"/>
          </a:xfrm>
          <a:prstGeom prst="rect">
            <a:avLst/>
          </a:prstGeom>
          <a:noFill/>
          <a:ln/>
        </p:spPr>
        <p:txBody>
          <a:bodyPr wrap="square" rtlCol="0" anchor="t"/>
          <a:lstStyle/>
          <a:p>
            <a:pPr marL="0" indent="0">
              <a:lnSpc>
                <a:spcPct val="115000"/>
              </a:lnSpc>
              <a:buNone/>
            </a:pPr>
            <a:r>
              <a:rPr lang="en-US" sz="1250" dirty="0">
                <a:solidFill>
                  <a:srgbClr val="2A2A2A"/>
                </a:solidFill>
                <a:latin typeface="Calibri" pitchFamily="34" charset="0"/>
                <a:ea typeface="Calibri" pitchFamily="34" charset="-122"/>
                <a:cs typeface="Calibri" pitchFamily="34" charset="-120"/>
              </a:rPr>
              <a:t>feel confident in their own digital financial skills</a:t>
            </a:r>
            <a:endParaRPr lang="en-US" sz="1250" dirty="0"/>
          </a:p>
        </p:txBody>
      </p:sp>
      <p:sp>
        <p:nvSpPr>
          <p:cNvPr id="18" name="Text 16"/>
          <p:cNvSpPr/>
          <p:nvPr/>
        </p:nvSpPr>
        <p:spPr>
          <a:xfrm>
            <a:off x="4389120" y="5074920"/>
            <a:ext cx="3520440" cy="457200"/>
          </a:xfrm>
          <a:prstGeom prst="rect">
            <a:avLst/>
          </a:prstGeom>
          <a:noFill/>
          <a:ln/>
        </p:spPr>
        <p:txBody>
          <a:bodyPr wrap="square" rtlCol="0" anchor="t"/>
          <a:lstStyle/>
          <a:p>
            <a:pPr marL="0" indent="0">
              <a:buNone/>
            </a:pPr>
            <a:r>
              <a:rPr lang="en-US" sz="1050" i="1" dirty="0">
                <a:solidFill>
                  <a:srgbClr val="8A8F98"/>
                </a:solidFill>
                <a:latin typeface="Calibri" pitchFamily="34" charset="0"/>
                <a:ea typeface="Calibri" pitchFamily="34" charset="-122"/>
                <a:cs typeface="Calibri" pitchFamily="34" charset="-120"/>
              </a:rPr>
              <a:t>(SA Social Media Landscape report)</a:t>
            </a:r>
            <a:endParaRPr lang="en-US" sz="1050" dirty="0"/>
          </a:p>
        </p:txBody>
      </p:sp>
      <p:sp>
        <p:nvSpPr>
          <p:cNvPr id="19" name="Shape 17"/>
          <p:cNvSpPr/>
          <p:nvPr/>
        </p:nvSpPr>
        <p:spPr>
          <a:xfrm>
            <a:off x="8138160" y="2880360"/>
            <a:ext cx="329184" cy="329184"/>
          </a:xfrm>
          <a:prstGeom prst="ellipse">
            <a:avLst/>
          </a:prstGeom>
          <a:solidFill>
            <a:srgbClr val="EC592D"/>
          </a:solidFill>
          <a:ln/>
        </p:spPr>
        <p:txBody>
          <a:bodyPr/>
          <a:lstStyle/>
          <a:p>
            <a:endParaRPr lang="en-ZA"/>
          </a:p>
        </p:txBody>
      </p:sp>
      <p:sp>
        <p:nvSpPr>
          <p:cNvPr id="20" name="Text 18"/>
          <p:cNvSpPr/>
          <p:nvPr/>
        </p:nvSpPr>
        <p:spPr>
          <a:xfrm>
            <a:off x="8138160" y="2880360"/>
            <a:ext cx="329184" cy="32918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8595360" y="2862072"/>
            <a:ext cx="3063240" cy="365760"/>
          </a:xfrm>
          <a:prstGeom prst="rect">
            <a:avLst/>
          </a:prstGeom>
          <a:noFill/>
          <a:ln/>
        </p:spPr>
        <p:txBody>
          <a:bodyPr wrap="square"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The Outlook</a:t>
            </a:r>
            <a:endParaRPr lang="en-US" sz="1400" dirty="0"/>
          </a:p>
        </p:txBody>
      </p:sp>
      <p:sp>
        <p:nvSpPr>
          <p:cNvPr id="22" name="Text 20"/>
          <p:cNvSpPr/>
          <p:nvPr/>
        </p:nvSpPr>
        <p:spPr>
          <a:xfrm>
            <a:off x="8138160" y="3337560"/>
            <a:ext cx="3520440" cy="777240"/>
          </a:xfrm>
          <a:prstGeom prst="rect">
            <a:avLst/>
          </a:prstGeom>
          <a:noFill/>
          <a:ln/>
        </p:spPr>
        <p:txBody>
          <a:bodyPr wrap="square" rtlCol="0" anchor="ctr"/>
          <a:lstStyle/>
          <a:p>
            <a:pPr marL="0" indent="0">
              <a:buNone/>
            </a:pPr>
            <a:r>
              <a:rPr lang="en-US" sz="4000" b="1" dirty="0">
                <a:solidFill>
                  <a:srgbClr val="EC592D"/>
                </a:solidFill>
                <a:latin typeface="Cambria" pitchFamily="34" charset="0"/>
                <a:ea typeface="Cambria" pitchFamily="34" charset="-122"/>
                <a:cs typeface="Cambria" pitchFamily="34" charset="-120"/>
              </a:rPr>
              <a:t>+50%</a:t>
            </a:r>
            <a:endParaRPr lang="en-US" sz="4000" dirty="0"/>
          </a:p>
        </p:txBody>
      </p:sp>
      <p:sp>
        <p:nvSpPr>
          <p:cNvPr id="23" name="Text 21"/>
          <p:cNvSpPr/>
          <p:nvPr/>
        </p:nvSpPr>
        <p:spPr>
          <a:xfrm>
            <a:off x="8138160" y="4206240"/>
            <a:ext cx="3520440" cy="868680"/>
          </a:xfrm>
          <a:prstGeom prst="rect">
            <a:avLst/>
          </a:prstGeom>
          <a:noFill/>
          <a:ln/>
        </p:spPr>
        <p:txBody>
          <a:bodyPr wrap="square" rtlCol="0" anchor="t"/>
          <a:lstStyle/>
          <a:p>
            <a:pPr marL="0" indent="0">
              <a:lnSpc>
                <a:spcPct val="115000"/>
              </a:lnSpc>
              <a:buNone/>
            </a:pPr>
            <a:r>
              <a:rPr lang="en-US" sz="1250" dirty="0">
                <a:solidFill>
                  <a:srgbClr val="2A2A2A"/>
                </a:solidFill>
                <a:latin typeface="Calibri" pitchFamily="34" charset="0"/>
                <a:ea typeface="Calibri" pitchFamily="34" charset="-122"/>
                <a:cs typeface="Calibri" pitchFamily="34" charset="-120"/>
              </a:rPr>
              <a:t>say they don't know how to build a stable financial future</a:t>
            </a:r>
            <a:endParaRPr lang="en-US" sz="1250" dirty="0"/>
          </a:p>
        </p:txBody>
      </p:sp>
      <p:sp>
        <p:nvSpPr>
          <p:cNvPr id="24" name="Text 22"/>
          <p:cNvSpPr/>
          <p:nvPr/>
        </p:nvSpPr>
        <p:spPr>
          <a:xfrm>
            <a:off x="8138160" y="5074920"/>
            <a:ext cx="3520440" cy="457200"/>
          </a:xfrm>
          <a:prstGeom prst="rect">
            <a:avLst/>
          </a:prstGeom>
          <a:noFill/>
          <a:ln/>
        </p:spPr>
        <p:txBody>
          <a:bodyPr wrap="square" rtlCol="0" anchor="t"/>
          <a:lstStyle/>
          <a:p>
            <a:pPr marL="0" indent="0">
              <a:buNone/>
            </a:pPr>
            <a:r>
              <a:rPr lang="en-US" sz="1050" i="1" dirty="0">
                <a:solidFill>
                  <a:srgbClr val="8A8F98"/>
                </a:solidFill>
                <a:latin typeface="Calibri" pitchFamily="34" charset="0"/>
                <a:ea typeface="Calibri" pitchFamily="34" charset="-122"/>
                <a:cs typeface="Calibri" pitchFamily="34" charset="-120"/>
              </a:rPr>
              <a:t>(Old Mutual Youth Generational Wealth Survey)</a:t>
            </a:r>
            <a:endParaRPr lang="en-US" sz="1050" dirty="0"/>
          </a:p>
        </p:txBody>
      </p:sp>
      <p:sp>
        <p:nvSpPr>
          <p:cNvPr id="25" name="Shape 23"/>
          <p:cNvSpPr/>
          <p:nvPr/>
        </p:nvSpPr>
        <p:spPr>
          <a:xfrm>
            <a:off x="640080" y="5701510"/>
            <a:ext cx="10881360" cy="685800"/>
          </a:xfrm>
          <a:prstGeom prst="roundRect">
            <a:avLst/>
          </a:prstGeom>
          <a:solidFill>
            <a:schemeClr val="bg1"/>
          </a:solidFill>
          <a:ln>
            <a:solidFill>
              <a:srgbClr val="EC592D"/>
            </a:solidFill>
          </a:ln>
        </p:spPr>
        <p:txBody>
          <a:bodyPr/>
          <a:lstStyle/>
          <a:p>
            <a:endParaRPr lang="en-ZA"/>
          </a:p>
        </p:txBody>
      </p:sp>
      <p:sp>
        <p:nvSpPr>
          <p:cNvPr id="26" name="Text 24"/>
          <p:cNvSpPr/>
          <p:nvPr/>
        </p:nvSpPr>
        <p:spPr>
          <a:xfrm>
            <a:off x="868680" y="5701510"/>
            <a:ext cx="10424160" cy="685800"/>
          </a:xfrm>
          <a:prstGeom prst="rect">
            <a:avLst/>
          </a:prstGeom>
          <a:noFill/>
          <a:ln/>
        </p:spPr>
        <p:txBody>
          <a:bodyPr wrap="square"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Three different angles on the same population, all pointing the same direction, this is what turned “maybe it's a mindset problem” into “this is structural.”</a:t>
            </a:r>
            <a:endParaRPr lang="en-US" sz="1250" dirty="0"/>
          </a:p>
        </p:txBody>
      </p:sp>
      <p:sp>
        <p:nvSpPr>
          <p:cNvPr id="27" name="Text 25"/>
          <p:cNvSpPr/>
          <p:nvPr/>
        </p:nvSpPr>
        <p:spPr>
          <a:xfrm>
            <a:off x="11365992" y="6446520"/>
            <a:ext cx="548640" cy="274320"/>
          </a:xfrm>
          <a:prstGeom prst="rect">
            <a:avLst/>
          </a:prstGeom>
          <a:noFill/>
          <a:ln/>
        </p:spPr>
        <p:txBody>
          <a:bodyPr wrap="square" rtlCol="0" anchor="ctr"/>
          <a:lstStyle/>
          <a:p>
            <a:pPr marL="0" indent="0" algn="r">
              <a:buNone/>
            </a:pPr>
            <a:r>
              <a:rPr lang="en-US" sz="1000" dirty="0">
                <a:solidFill>
                  <a:srgbClr val="8A8F9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7101E"/>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91440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4" name="Shape 2"/>
          <p:cNvSpPr/>
          <p:nvPr/>
        </p:nvSpPr>
        <p:spPr>
          <a:xfrm>
            <a:off x="182880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Shape 3"/>
          <p:cNvSpPr/>
          <p:nvPr/>
        </p:nvSpPr>
        <p:spPr>
          <a:xfrm>
            <a:off x="274320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Shape 4"/>
          <p:cNvSpPr/>
          <p:nvPr/>
        </p:nvSpPr>
        <p:spPr>
          <a:xfrm>
            <a:off x="365760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457200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Shape 6"/>
          <p:cNvSpPr/>
          <p:nvPr/>
        </p:nvSpPr>
        <p:spPr>
          <a:xfrm>
            <a:off x="548640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9" name="Shape 7"/>
          <p:cNvSpPr/>
          <p:nvPr/>
        </p:nvSpPr>
        <p:spPr>
          <a:xfrm>
            <a:off x="640080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Shape 8"/>
          <p:cNvSpPr/>
          <p:nvPr/>
        </p:nvSpPr>
        <p:spPr>
          <a:xfrm>
            <a:off x="731520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822960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Shape 10"/>
          <p:cNvSpPr/>
          <p:nvPr/>
        </p:nvSpPr>
        <p:spPr>
          <a:xfrm>
            <a:off x="914400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Shape 11"/>
          <p:cNvSpPr/>
          <p:nvPr/>
        </p:nvSpPr>
        <p:spPr>
          <a:xfrm>
            <a:off x="1005840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1097280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11887200" y="0"/>
            <a:ext cx="0" cy="685800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Shape 14"/>
          <p:cNvSpPr/>
          <p:nvPr/>
        </p:nvSpPr>
        <p:spPr>
          <a:xfrm>
            <a:off x="0" y="0"/>
            <a:ext cx="12191695" cy="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Shape 15"/>
          <p:cNvSpPr/>
          <p:nvPr/>
        </p:nvSpPr>
        <p:spPr>
          <a:xfrm>
            <a:off x="0" y="960120"/>
            <a:ext cx="12191695" cy="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18" name="Shape 16"/>
          <p:cNvSpPr/>
          <p:nvPr/>
        </p:nvSpPr>
        <p:spPr>
          <a:xfrm>
            <a:off x="0" y="1920240"/>
            <a:ext cx="12191695" cy="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19" name="Shape 17"/>
          <p:cNvSpPr/>
          <p:nvPr/>
        </p:nvSpPr>
        <p:spPr>
          <a:xfrm>
            <a:off x="0" y="2880360"/>
            <a:ext cx="12191695" cy="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Shape 18"/>
          <p:cNvSpPr/>
          <p:nvPr/>
        </p:nvSpPr>
        <p:spPr>
          <a:xfrm>
            <a:off x="0" y="3840480"/>
            <a:ext cx="12191695" cy="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Shape 19"/>
          <p:cNvSpPr/>
          <p:nvPr/>
        </p:nvSpPr>
        <p:spPr>
          <a:xfrm>
            <a:off x="0" y="4800600"/>
            <a:ext cx="12191695" cy="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22" name="Shape 20"/>
          <p:cNvSpPr/>
          <p:nvPr/>
        </p:nvSpPr>
        <p:spPr>
          <a:xfrm>
            <a:off x="0" y="5760720"/>
            <a:ext cx="12191695" cy="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Shape 21"/>
          <p:cNvSpPr/>
          <p:nvPr/>
        </p:nvSpPr>
        <p:spPr>
          <a:xfrm>
            <a:off x="0" y="6720840"/>
            <a:ext cx="12191695" cy="0"/>
          </a:xfrm>
          <a:prstGeom prst="line">
            <a:avLst/>
          </a:prstGeom>
          <a:noFill/>
          <a:ln w="12700">
            <a:solidFill>
              <a:srgbClr val="17304C">
                <a:alpha val="66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24" name="Text 22"/>
          <p:cNvSpPr/>
          <p:nvPr/>
        </p:nvSpPr>
        <p:spPr>
          <a:xfrm>
            <a:off x="594360" y="411480"/>
            <a:ext cx="1572768" cy="292608"/>
          </a:xfrm>
          <a:prstGeom prst="rect">
            <a:avLst/>
          </a:prstGeom>
          <a:solidFill>
            <a:srgbClr val="3D73FF"/>
          </a:solidFill>
          <a:ln>
            <a:solidFill>
              <a:srgbClr val="3D73FF"/>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03 · SYNTHESIS</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Text 23"/>
          <p:cNvSpPr/>
          <p:nvPr/>
        </p:nvSpPr>
        <p:spPr>
          <a:xfrm>
            <a:off x="11658600" y="6565392"/>
            <a:ext cx="228600" cy="1097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50" b="0" i="0" u="none" strike="noStrike" kern="1200" cap="none" spc="0" normalizeH="0" baseline="0" noProof="0" dirty="0">
                <a:ln>
                  <a:noFill/>
                </a:ln>
                <a:solidFill>
                  <a:srgbClr val="B8C7E6"/>
                </a:solidFill>
                <a:effectLst/>
                <a:uLnTx/>
                <a:uFillTx/>
                <a:latin typeface="Aptos"/>
                <a:ea typeface="+mn-ea"/>
                <a:cs typeface="+mn-cs"/>
              </a:rPr>
              <a:t>05</a:t>
            </a:r>
            <a:endParaRPr kumimoji="0" lang="en-US" sz="55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Text 24"/>
          <p:cNvSpPr/>
          <p:nvPr/>
        </p:nvSpPr>
        <p:spPr>
          <a:xfrm>
            <a:off x="594360" y="859536"/>
            <a:ext cx="10789920" cy="347472"/>
          </a:xfrm>
          <a:prstGeom prst="rect">
            <a:avLst/>
          </a:prstGeom>
          <a:noFill/>
          <a:ln/>
        </p:spPr>
        <p:txBody>
          <a:bodyPr wrap="square" lIns="0" tIns="0" rIns="0" bIns="0"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3F7FF"/>
                </a:solidFill>
                <a:effectLst/>
                <a:uLnTx/>
                <a:uFillTx/>
                <a:latin typeface="Aptos"/>
                <a:ea typeface="+mn-ea"/>
                <a:cs typeface="+mn-cs"/>
              </a:rPr>
              <a:t>A persona that keeps the real-world pressure visible</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Text 25"/>
          <p:cNvSpPr/>
          <p:nvPr/>
        </p:nvSpPr>
        <p:spPr>
          <a:xfrm>
            <a:off x="603504" y="1271016"/>
            <a:ext cx="475488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24D8FF"/>
                </a:solidFill>
                <a:effectLst/>
                <a:uLnTx/>
                <a:uFillTx/>
                <a:latin typeface="Aptos"/>
                <a:ea typeface="+mn-ea"/>
                <a:cs typeface="+mn-cs"/>
              </a:rPr>
              <a:t>THABO MAHLANGU · “THE CAUTIOUS PROVIDER”</a:t>
            </a:r>
            <a:endParaRPr kumimoji="0" lang="en-US" sz="90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Shape 26"/>
          <p:cNvSpPr/>
          <p:nvPr/>
        </p:nvSpPr>
        <p:spPr>
          <a:xfrm>
            <a:off x="594360" y="1627632"/>
            <a:ext cx="2743200" cy="4736592"/>
          </a:xfrm>
          <a:prstGeom prst="roundRect">
            <a:avLst>
              <a:gd name="adj" fmla="val 3667"/>
            </a:avLst>
          </a:prstGeom>
          <a:solidFill>
            <a:srgbClr val="10233A"/>
          </a:solidFill>
          <a:ln w="12700">
            <a:solidFill>
              <a:srgbClr val="2644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pic>
        <p:nvPicPr>
          <p:cNvPr id="29" name="Image 0" descr="/mnt/data/thabo_crop.png"/>
          <p:cNvPicPr>
            <a:picLocks noChangeAspect="1"/>
          </p:cNvPicPr>
          <p:nvPr/>
        </p:nvPicPr>
        <p:blipFill>
          <a:blip r:embed="rId3"/>
          <a:srcRect t="2933" b="2933"/>
          <a:stretch/>
        </p:blipFill>
        <p:spPr>
          <a:xfrm>
            <a:off x="822960" y="1783080"/>
            <a:ext cx="1444752" cy="1755648"/>
          </a:xfrm>
          <a:prstGeom prst="rect">
            <a:avLst/>
          </a:prstGeom>
        </p:spPr>
      </p:pic>
      <p:sp>
        <p:nvSpPr>
          <p:cNvPr id="30" name="Text 27"/>
          <p:cNvSpPr/>
          <p:nvPr/>
        </p:nvSpPr>
        <p:spPr>
          <a:xfrm>
            <a:off x="822960" y="3657600"/>
            <a:ext cx="2121408"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ptos"/>
                <a:ea typeface="+mn-ea"/>
                <a:cs typeface="+mn-cs"/>
              </a:rPr>
              <a:t>THABO MAHLANGU</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Text 28"/>
          <p:cNvSpPr/>
          <p:nvPr/>
        </p:nvSpPr>
        <p:spPr>
          <a:xfrm>
            <a:off x="822960" y="3959352"/>
            <a:ext cx="2057400" cy="18288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DE8F8"/>
                </a:solidFill>
                <a:effectLst/>
                <a:uLnTx/>
                <a:uFillTx/>
                <a:latin typeface="Aptos"/>
                <a:ea typeface="+mn-ea"/>
                <a:cs typeface="+mn-cs"/>
              </a:rPr>
              <a:t>23 · Johannesburg · first job · R6,800/month</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Text 29"/>
          <p:cNvSpPr/>
          <p:nvPr/>
        </p:nvSpPr>
        <p:spPr>
          <a:xfrm>
            <a:off x="822960" y="4334256"/>
            <a:ext cx="1234440" cy="219456"/>
          </a:xfrm>
          <a:prstGeom prst="rect">
            <a:avLst/>
          </a:prstGeom>
          <a:solidFill>
            <a:srgbClr val="26445F"/>
          </a:solidFill>
          <a:ln>
            <a:solidFill>
              <a:srgbClr val="26445F"/>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20" b="1" i="0" u="none" strike="noStrike" kern="1200" cap="none" spc="0" normalizeH="0" baseline="0" noProof="0" dirty="0">
                <a:ln>
                  <a:noFill/>
                </a:ln>
                <a:solidFill>
                  <a:srgbClr val="FFFFFF"/>
                </a:solidFill>
                <a:effectLst/>
                <a:uLnTx/>
                <a:uFillTx/>
                <a:latin typeface="Aptos"/>
                <a:ea typeface="+mn-ea"/>
                <a:cs typeface="+mn-cs"/>
              </a:rPr>
              <a:t>COMPOSITE PERSONA</a:t>
            </a:r>
            <a:endParaRPr kumimoji="0" lang="en-US" sz="520" b="0" i="0" u="none" strike="noStrike" kern="1200" cap="none" spc="0" normalizeH="0" baseline="0" noProof="0" dirty="0">
              <a:ln>
                <a:noFill/>
              </a:ln>
              <a:solidFill>
                <a:prstClr val="black"/>
              </a:solidFill>
              <a:effectLst/>
              <a:uLnTx/>
              <a:uFillTx/>
              <a:latin typeface="Aptos"/>
              <a:ea typeface="+mn-ea"/>
              <a:cs typeface="+mn-cs"/>
            </a:endParaRPr>
          </a:p>
        </p:txBody>
      </p:sp>
      <p:sp>
        <p:nvSpPr>
          <p:cNvPr id="33" name="Text 30"/>
          <p:cNvSpPr/>
          <p:nvPr/>
        </p:nvSpPr>
        <p:spPr>
          <a:xfrm>
            <a:off x="822960" y="4718304"/>
            <a:ext cx="2057400" cy="658368"/>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9EB2CC"/>
                </a:solidFill>
                <a:effectLst/>
                <a:uLnTx/>
                <a:uFillTx/>
                <a:latin typeface="Aptos"/>
                <a:ea typeface="+mn-ea"/>
                <a:cs typeface="+mn-cs"/>
              </a:rPr>
              <a:t>Recently entered formal employment and is learning to balance independence with responsibility at home. His income represents progress, but every decision is filtered through one question:</a:t>
            </a:r>
            <a:endParaRPr kumimoji="0" lang="en-US" sz="900" b="0" i="0" u="none" strike="noStrike" kern="1200" cap="none" spc="0" normalizeH="0" baseline="0" noProof="0" dirty="0">
              <a:ln>
                <a:noFill/>
              </a:ln>
              <a:solidFill>
                <a:prstClr val="black"/>
              </a:solidFill>
              <a:effectLst/>
              <a:uLnTx/>
              <a:uFillTx/>
              <a:latin typeface="Aptos"/>
              <a:ea typeface="+mn-ea"/>
              <a:cs typeface="+mn-cs"/>
            </a:endParaRPr>
          </a:p>
        </p:txBody>
      </p:sp>
      <p:sp>
        <p:nvSpPr>
          <p:cNvPr id="34" name="Text 31"/>
          <p:cNvSpPr/>
          <p:nvPr/>
        </p:nvSpPr>
        <p:spPr>
          <a:xfrm>
            <a:off x="822960" y="5586984"/>
            <a:ext cx="2011680" cy="34747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“If I spend this now, will I still be okay later?”</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35" name="Text 32"/>
          <p:cNvSpPr/>
          <p:nvPr/>
        </p:nvSpPr>
        <p:spPr>
          <a:xfrm>
            <a:off x="822959" y="6035040"/>
            <a:ext cx="2249425" cy="212852"/>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24D8FF"/>
                </a:solidFill>
                <a:effectLst/>
                <a:uLnTx/>
                <a:uFillTx/>
                <a:latin typeface="Aptos"/>
                <a:ea typeface="+mn-ea"/>
                <a:cs typeface="+mn-cs"/>
              </a:rPr>
              <a:t>Core need: financial breathing room, keeping his buffer above zero.</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Shape 33"/>
          <p:cNvSpPr/>
          <p:nvPr/>
        </p:nvSpPr>
        <p:spPr>
          <a:xfrm>
            <a:off x="3584448" y="1627632"/>
            <a:ext cx="1965960" cy="2084832"/>
          </a:xfrm>
          <a:prstGeom prst="roundRect">
            <a:avLst>
              <a:gd name="adj" fmla="val 5116"/>
            </a:avLst>
          </a:prstGeom>
          <a:solidFill>
            <a:srgbClr val="10233A"/>
          </a:solidFill>
          <a:ln w="12700">
            <a:solidFill>
              <a:srgbClr val="2644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37" name="Text 34"/>
          <p:cNvSpPr/>
          <p:nvPr/>
        </p:nvSpPr>
        <p:spPr>
          <a:xfrm>
            <a:off x="3749040" y="1810512"/>
            <a:ext cx="1325880" cy="219456"/>
          </a:xfrm>
          <a:prstGeom prst="rect">
            <a:avLst/>
          </a:prstGeom>
          <a:solidFill>
            <a:srgbClr val="36C97A"/>
          </a:solidFill>
          <a:ln>
            <a:solidFill>
              <a:srgbClr val="36C97A"/>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20" b="1" i="0" u="none" strike="noStrike" kern="1200" cap="none" spc="0" normalizeH="0" baseline="0" noProof="0" dirty="0">
                <a:ln>
                  <a:noFill/>
                </a:ln>
                <a:solidFill>
                  <a:srgbClr val="FFFFFF"/>
                </a:solidFill>
                <a:effectLst/>
                <a:uLnTx/>
                <a:uFillTx/>
                <a:latin typeface="Aptos"/>
                <a:ea typeface="+mn-ea"/>
                <a:cs typeface="+mn-cs"/>
              </a:rPr>
              <a:t>BEHAVIOURS</a:t>
            </a:r>
            <a:endParaRPr kumimoji="0" lang="en-US" sz="520" b="0" i="0" u="none" strike="noStrike" kern="1200" cap="none" spc="0" normalizeH="0" baseline="0" noProof="0" dirty="0">
              <a:ln>
                <a:noFill/>
              </a:ln>
              <a:solidFill>
                <a:prstClr val="black"/>
              </a:solidFill>
              <a:effectLst/>
              <a:uLnTx/>
              <a:uFillTx/>
              <a:latin typeface="Aptos"/>
              <a:ea typeface="+mn-ea"/>
              <a:cs typeface="+mn-cs"/>
            </a:endParaRPr>
          </a:p>
        </p:txBody>
      </p:sp>
      <p:sp>
        <p:nvSpPr>
          <p:cNvPr id="38" name="Shape 35"/>
          <p:cNvSpPr/>
          <p:nvPr/>
        </p:nvSpPr>
        <p:spPr>
          <a:xfrm>
            <a:off x="3785616" y="2231136"/>
            <a:ext cx="50292" cy="50292"/>
          </a:xfrm>
          <a:prstGeom prst="ellipse">
            <a:avLst/>
          </a:prstGeom>
          <a:solidFill>
            <a:srgbClr val="36C97A"/>
          </a:solidFill>
          <a:ln w="12700">
            <a:solidFill>
              <a:srgbClr val="36C9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39" name="Text 36"/>
          <p:cNvSpPr/>
          <p:nvPr/>
        </p:nvSpPr>
        <p:spPr>
          <a:xfrm>
            <a:off x="3941064" y="2185416"/>
            <a:ext cx="1554480"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Checks balance after payday, debit orders and larger purchases.</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40" name="Shape 37"/>
          <p:cNvSpPr/>
          <p:nvPr/>
        </p:nvSpPr>
        <p:spPr>
          <a:xfrm>
            <a:off x="3785616" y="2688336"/>
            <a:ext cx="50292" cy="50292"/>
          </a:xfrm>
          <a:prstGeom prst="ellipse">
            <a:avLst/>
          </a:prstGeom>
          <a:solidFill>
            <a:srgbClr val="36C97A"/>
          </a:solidFill>
          <a:ln w="12700">
            <a:solidFill>
              <a:srgbClr val="36C9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41" name="Text 38"/>
          <p:cNvSpPr/>
          <p:nvPr/>
        </p:nvSpPr>
        <p:spPr>
          <a:xfrm>
            <a:off x="3941064" y="2642616"/>
            <a:ext cx="1554480"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Mentally splits money into transport, home, food and “do not touch” money.</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42" name="Shape 39"/>
          <p:cNvSpPr/>
          <p:nvPr/>
        </p:nvSpPr>
        <p:spPr>
          <a:xfrm>
            <a:off x="3785616" y="3145536"/>
            <a:ext cx="50292" cy="50292"/>
          </a:xfrm>
          <a:prstGeom prst="ellipse">
            <a:avLst/>
          </a:prstGeom>
          <a:solidFill>
            <a:srgbClr val="36C97A"/>
          </a:solidFill>
          <a:ln w="12700">
            <a:solidFill>
              <a:srgbClr val="36C9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43" name="Text 40"/>
          <p:cNvSpPr/>
          <p:nvPr/>
        </p:nvSpPr>
        <p:spPr>
          <a:xfrm>
            <a:off x="3941064" y="3099816"/>
            <a:ext cx="1554480"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Uses banking apps confidently but avoids unclear money products.</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44" name="Shape 41"/>
          <p:cNvSpPr/>
          <p:nvPr/>
        </p:nvSpPr>
        <p:spPr>
          <a:xfrm>
            <a:off x="5742432" y="1627632"/>
            <a:ext cx="1965960" cy="2084832"/>
          </a:xfrm>
          <a:prstGeom prst="roundRect">
            <a:avLst>
              <a:gd name="adj" fmla="val 5116"/>
            </a:avLst>
          </a:prstGeom>
          <a:solidFill>
            <a:srgbClr val="10233A"/>
          </a:solidFill>
          <a:ln w="12700">
            <a:solidFill>
              <a:srgbClr val="2644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45" name="Text 42"/>
          <p:cNvSpPr/>
          <p:nvPr/>
        </p:nvSpPr>
        <p:spPr>
          <a:xfrm>
            <a:off x="5907024" y="1810512"/>
            <a:ext cx="1325880" cy="219456"/>
          </a:xfrm>
          <a:prstGeom prst="rect">
            <a:avLst/>
          </a:prstGeom>
          <a:solidFill>
            <a:srgbClr val="FF6B35"/>
          </a:solidFill>
          <a:ln>
            <a:solidFill>
              <a:srgbClr val="FF6B35"/>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20" b="1" i="0" u="none" strike="noStrike" kern="1200" cap="none" spc="0" normalizeH="0" baseline="0" noProof="0" dirty="0">
                <a:ln>
                  <a:noFill/>
                </a:ln>
                <a:solidFill>
                  <a:srgbClr val="FFFFFF"/>
                </a:solidFill>
                <a:effectLst/>
                <a:uLnTx/>
                <a:uFillTx/>
                <a:latin typeface="Aptos"/>
                <a:ea typeface="+mn-ea"/>
                <a:cs typeface="+mn-cs"/>
              </a:rPr>
              <a:t>DECISION-MAKING</a:t>
            </a:r>
            <a:endParaRPr kumimoji="0" lang="en-US" sz="520" b="0" i="0" u="none" strike="noStrike" kern="1200" cap="none" spc="0" normalizeH="0" baseline="0" noProof="0" dirty="0">
              <a:ln>
                <a:noFill/>
              </a:ln>
              <a:solidFill>
                <a:prstClr val="black"/>
              </a:solidFill>
              <a:effectLst/>
              <a:uLnTx/>
              <a:uFillTx/>
              <a:latin typeface="Aptos"/>
              <a:ea typeface="+mn-ea"/>
              <a:cs typeface="+mn-cs"/>
            </a:endParaRPr>
          </a:p>
        </p:txBody>
      </p:sp>
      <p:sp>
        <p:nvSpPr>
          <p:cNvPr id="46" name="Shape 43"/>
          <p:cNvSpPr/>
          <p:nvPr/>
        </p:nvSpPr>
        <p:spPr>
          <a:xfrm>
            <a:off x="5943600" y="2231136"/>
            <a:ext cx="50292" cy="50292"/>
          </a:xfrm>
          <a:prstGeom prst="ellipse">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47" name="Text 44"/>
          <p:cNvSpPr/>
          <p:nvPr/>
        </p:nvSpPr>
        <p:spPr>
          <a:xfrm>
            <a:off x="6099048" y="2185416"/>
            <a:ext cx="1554480"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Asks: “What will I have left after this?”</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48" name="Shape 45"/>
          <p:cNvSpPr/>
          <p:nvPr/>
        </p:nvSpPr>
        <p:spPr>
          <a:xfrm>
            <a:off x="5943600" y="2688336"/>
            <a:ext cx="50292" cy="50292"/>
          </a:xfrm>
          <a:prstGeom prst="ellipse">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49" name="Text 46"/>
          <p:cNvSpPr/>
          <p:nvPr/>
        </p:nvSpPr>
        <p:spPr>
          <a:xfrm>
            <a:off x="6099048" y="2642616"/>
            <a:ext cx="1554480"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Chooses reversible money moves over locked commitments.</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50" name="Shape 47"/>
          <p:cNvSpPr/>
          <p:nvPr/>
        </p:nvSpPr>
        <p:spPr>
          <a:xfrm>
            <a:off x="5943600" y="3145536"/>
            <a:ext cx="50292" cy="50292"/>
          </a:xfrm>
          <a:prstGeom prst="ellipse">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51" name="Text 48"/>
          <p:cNvSpPr/>
          <p:nvPr/>
        </p:nvSpPr>
        <p:spPr>
          <a:xfrm>
            <a:off x="6099048" y="3099816"/>
            <a:ext cx="1554480"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Needs costs, timing and consequences visible before acting.</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52" name="Shape 49"/>
          <p:cNvSpPr/>
          <p:nvPr/>
        </p:nvSpPr>
        <p:spPr>
          <a:xfrm>
            <a:off x="7900416" y="1627632"/>
            <a:ext cx="1965960" cy="2084832"/>
          </a:xfrm>
          <a:prstGeom prst="roundRect">
            <a:avLst>
              <a:gd name="adj" fmla="val 5116"/>
            </a:avLst>
          </a:prstGeom>
          <a:solidFill>
            <a:srgbClr val="10233A"/>
          </a:solidFill>
          <a:ln w="12700">
            <a:solidFill>
              <a:srgbClr val="2644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53" name="Text 50"/>
          <p:cNvSpPr/>
          <p:nvPr/>
        </p:nvSpPr>
        <p:spPr>
          <a:xfrm>
            <a:off x="8065008" y="1810512"/>
            <a:ext cx="1325880" cy="219456"/>
          </a:xfrm>
          <a:prstGeom prst="rect">
            <a:avLst/>
          </a:prstGeom>
          <a:solidFill>
            <a:srgbClr val="3D73FF"/>
          </a:solidFill>
          <a:ln>
            <a:solidFill>
              <a:srgbClr val="3D73FF"/>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20" b="1" i="0" u="none" strike="noStrike" kern="1200" cap="none" spc="0" normalizeH="0" baseline="0" noProof="0" dirty="0">
                <a:ln>
                  <a:noFill/>
                </a:ln>
                <a:solidFill>
                  <a:srgbClr val="FFFFFF"/>
                </a:solidFill>
                <a:effectLst/>
                <a:uLnTx/>
                <a:uFillTx/>
                <a:latin typeface="Aptos"/>
                <a:ea typeface="+mn-ea"/>
                <a:cs typeface="+mn-cs"/>
              </a:rPr>
              <a:t>FRUSTRATIONS</a:t>
            </a:r>
            <a:endParaRPr kumimoji="0" lang="en-US" sz="520" b="0" i="0" u="none" strike="noStrike" kern="1200" cap="none" spc="0" normalizeH="0" baseline="0" noProof="0" dirty="0">
              <a:ln>
                <a:noFill/>
              </a:ln>
              <a:solidFill>
                <a:prstClr val="black"/>
              </a:solidFill>
              <a:effectLst/>
              <a:uLnTx/>
              <a:uFillTx/>
              <a:latin typeface="Aptos"/>
              <a:ea typeface="+mn-ea"/>
              <a:cs typeface="+mn-cs"/>
            </a:endParaRPr>
          </a:p>
        </p:txBody>
      </p:sp>
      <p:sp>
        <p:nvSpPr>
          <p:cNvPr id="54" name="Shape 51"/>
          <p:cNvSpPr/>
          <p:nvPr/>
        </p:nvSpPr>
        <p:spPr>
          <a:xfrm>
            <a:off x="8101584" y="2231136"/>
            <a:ext cx="50292" cy="50292"/>
          </a:xfrm>
          <a:prstGeom prst="ellipse">
            <a:avLst/>
          </a:prstGeom>
          <a:solidFill>
            <a:srgbClr val="3D73FF"/>
          </a:solidFill>
          <a:ln w="12700">
            <a:solidFill>
              <a:srgbClr val="3D7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55" name="Text 52"/>
          <p:cNvSpPr/>
          <p:nvPr/>
        </p:nvSpPr>
        <p:spPr>
          <a:xfrm>
            <a:off x="8257032" y="2185416"/>
            <a:ext cx="1554480"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Bank shows what happened, not what happens next.</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56" name="Shape 53"/>
          <p:cNvSpPr/>
          <p:nvPr/>
        </p:nvSpPr>
        <p:spPr>
          <a:xfrm>
            <a:off x="8101584" y="2688336"/>
            <a:ext cx="50292" cy="50292"/>
          </a:xfrm>
          <a:prstGeom prst="ellipse">
            <a:avLst/>
          </a:prstGeom>
          <a:solidFill>
            <a:srgbClr val="3D73FF"/>
          </a:solidFill>
          <a:ln w="12700">
            <a:solidFill>
              <a:srgbClr val="3D7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57" name="Text 54"/>
          <p:cNvSpPr/>
          <p:nvPr/>
        </p:nvSpPr>
        <p:spPr>
          <a:xfrm>
            <a:off x="8257032" y="2642616"/>
            <a:ext cx="1554480"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Jargon makes him feel judged or behind.</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58" name="Shape 55"/>
          <p:cNvSpPr/>
          <p:nvPr/>
        </p:nvSpPr>
        <p:spPr>
          <a:xfrm>
            <a:off x="8101584" y="3145536"/>
            <a:ext cx="50292" cy="50292"/>
          </a:xfrm>
          <a:prstGeom prst="ellipse">
            <a:avLst/>
          </a:prstGeom>
          <a:solidFill>
            <a:srgbClr val="3D73FF"/>
          </a:solidFill>
          <a:ln w="12700">
            <a:solidFill>
              <a:srgbClr val="3D7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59" name="Text 56"/>
          <p:cNvSpPr/>
          <p:nvPr/>
        </p:nvSpPr>
        <p:spPr>
          <a:xfrm>
            <a:off x="8257032" y="3099816"/>
            <a:ext cx="1554480"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Unexpected deductions break his sense of control.</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60" name="Shape 57"/>
          <p:cNvSpPr/>
          <p:nvPr/>
        </p:nvSpPr>
        <p:spPr>
          <a:xfrm>
            <a:off x="10058400" y="1627632"/>
            <a:ext cx="1572768" cy="2084832"/>
          </a:xfrm>
          <a:prstGeom prst="roundRect">
            <a:avLst>
              <a:gd name="adj" fmla="val 6395"/>
            </a:avLst>
          </a:prstGeom>
          <a:solidFill>
            <a:srgbClr val="10233A"/>
          </a:solidFill>
          <a:ln w="12700">
            <a:solidFill>
              <a:srgbClr val="2644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61" name="Text 58"/>
          <p:cNvSpPr/>
          <p:nvPr/>
        </p:nvSpPr>
        <p:spPr>
          <a:xfrm>
            <a:off x="10222992" y="1810512"/>
            <a:ext cx="1243584" cy="219456"/>
          </a:xfrm>
          <a:prstGeom prst="rect">
            <a:avLst/>
          </a:prstGeom>
          <a:solidFill>
            <a:srgbClr val="24D8FF"/>
          </a:solidFill>
          <a:ln>
            <a:solidFill>
              <a:srgbClr val="24D8FF"/>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20" b="1" i="0" u="none" strike="noStrike" kern="1200" cap="none" spc="0" normalizeH="0" baseline="0" noProof="0" dirty="0">
                <a:ln>
                  <a:noFill/>
                </a:ln>
                <a:solidFill>
                  <a:srgbClr val="FFFFFF"/>
                </a:solidFill>
                <a:effectLst/>
                <a:uLnTx/>
                <a:uFillTx/>
                <a:latin typeface="Aptos"/>
                <a:ea typeface="+mn-ea"/>
                <a:cs typeface="+mn-cs"/>
              </a:rPr>
              <a:t>MOTIVATIONS</a:t>
            </a:r>
            <a:endParaRPr kumimoji="0" lang="en-US" sz="520" b="0" i="0" u="none" strike="noStrike" kern="1200" cap="none" spc="0" normalizeH="0" baseline="0" noProof="0" dirty="0">
              <a:ln>
                <a:noFill/>
              </a:ln>
              <a:solidFill>
                <a:prstClr val="black"/>
              </a:solidFill>
              <a:effectLst/>
              <a:uLnTx/>
              <a:uFillTx/>
              <a:latin typeface="Aptos"/>
              <a:ea typeface="+mn-ea"/>
              <a:cs typeface="+mn-cs"/>
            </a:endParaRPr>
          </a:p>
        </p:txBody>
      </p:sp>
      <p:sp>
        <p:nvSpPr>
          <p:cNvPr id="62" name="Shape 59"/>
          <p:cNvSpPr/>
          <p:nvPr/>
        </p:nvSpPr>
        <p:spPr>
          <a:xfrm>
            <a:off x="10259568" y="2231136"/>
            <a:ext cx="50292" cy="50292"/>
          </a:xfrm>
          <a:prstGeom prst="ellipse">
            <a:avLst/>
          </a:prstGeom>
          <a:solidFill>
            <a:srgbClr val="24D8FF"/>
          </a:solidFill>
          <a:ln w="12700">
            <a:solidFill>
              <a:srgbClr val="24D8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63" name="Text 60"/>
          <p:cNvSpPr/>
          <p:nvPr/>
        </p:nvSpPr>
        <p:spPr>
          <a:xfrm>
            <a:off x="10415016" y="2185416"/>
            <a:ext cx="1161288"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Support home without losing progress.</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64" name="Shape 61"/>
          <p:cNvSpPr/>
          <p:nvPr/>
        </p:nvSpPr>
        <p:spPr>
          <a:xfrm>
            <a:off x="10259568" y="2688336"/>
            <a:ext cx="50292" cy="50292"/>
          </a:xfrm>
          <a:prstGeom prst="ellipse">
            <a:avLst/>
          </a:prstGeom>
          <a:solidFill>
            <a:srgbClr val="24D8FF"/>
          </a:solidFill>
          <a:ln w="12700">
            <a:solidFill>
              <a:srgbClr val="24D8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65" name="Text 62"/>
          <p:cNvSpPr/>
          <p:nvPr/>
        </p:nvSpPr>
        <p:spPr>
          <a:xfrm>
            <a:off x="10415016" y="2642616"/>
            <a:ext cx="1161288"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Build credit without debt anxiety.</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66" name="Shape 63"/>
          <p:cNvSpPr/>
          <p:nvPr/>
        </p:nvSpPr>
        <p:spPr>
          <a:xfrm>
            <a:off x="10259568" y="3145536"/>
            <a:ext cx="50292" cy="50292"/>
          </a:xfrm>
          <a:prstGeom prst="ellipse">
            <a:avLst/>
          </a:prstGeom>
          <a:solidFill>
            <a:srgbClr val="24D8FF"/>
          </a:solidFill>
          <a:ln w="12700">
            <a:solidFill>
              <a:srgbClr val="24D8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67" name="Text 64"/>
          <p:cNvSpPr/>
          <p:nvPr/>
        </p:nvSpPr>
        <p:spPr>
          <a:xfrm>
            <a:off x="10415016" y="3099816"/>
            <a:ext cx="1161288"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End the month with money remaining.</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68" name="Shape 65"/>
          <p:cNvSpPr/>
          <p:nvPr/>
        </p:nvSpPr>
        <p:spPr>
          <a:xfrm>
            <a:off x="3584448" y="4005072"/>
            <a:ext cx="2212848" cy="1783080"/>
          </a:xfrm>
          <a:prstGeom prst="roundRect">
            <a:avLst>
              <a:gd name="adj" fmla="val 5641"/>
            </a:avLst>
          </a:prstGeom>
          <a:solidFill>
            <a:srgbClr val="10233A"/>
          </a:solidFill>
          <a:ln w="12700">
            <a:solidFill>
              <a:srgbClr val="2644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69" name="Text 66"/>
          <p:cNvSpPr/>
          <p:nvPr/>
        </p:nvSpPr>
        <p:spPr>
          <a:xfrm>
            <a:off x="3749040" y="4187952"/>
            <a:ext cx="1325880" cy="219456"/>
          </a:xfrm>
          <a:prstGeom prst="rect">
            <a:avLst/>
          </a:prstGeom>
          <a:solidFill>
            <a:srgbClr val="845EF7"/>
          </a:solidFill>
          <a:ln>
            <a:solidFill>
              <a:srgbClr val="845EF7"/>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20" b="1" i="0" u="none" strike="noStrike" kern="1200" cap="none" spc="0" normalizeH="0" baseline="0" noProof="0" dirty="0">
                <a:ln>
                  <a:noFill/>
                </a:ln>
                <a:solidFill>
                  <a:srgbClr val="FFFFFF"/>
                </a:solidFill>
                <a:effectLst/>
                <a:uLnTx/>
                <a:uFillTx/>
                <a:latin typeface="Aptos"/>
                <a:ea typeface="+mn-ea"/>
                <a:cs typeface="+mn-cs"/>
              </a:rPr>
              <a:t>TRIGGERS</a:t>
            </a:r>
            <a:endParaRPr kumimoji="0" lang="en-US" sz="520" b="0" i="0" u="none" strike="noStrike" kern="1200" cap="none" spc="0" normalizeH="0" baseline="0" noProof="0" dirty="0">
              <a:ln>
                <a:noFill/>
              </a:ln>
              <a:solidFill>
                <a:prstClr val="black"/>
              </a:solidFill>
              <a:effectLst/>
              <a:uLnTx/>
              <a:uFillTx/>
              <a:latin typeface="Aptos"/>
              <a:ea typeface="+mn-ea"/>
              <a:cs typeface="+mn-cs"/>
            </a:endParaRPr>
          </a:p>
        </p:txBody>
      </p:sp>
      <p:sp>
        <p:nvSpPr>
          <p:cNvPr id="70" name="Shape 67"/>
          <p:cNvSpPr/>
          <p:nvPr/>
        </p:nvSpPr>
        <p:spPr>
          <a:xfrm>
            <a:off x="3785616" y="4608576"/>
            <a:ext cx="50292" cy="50292"/>
          </a:xfrm>
          <a:prstGeom prst="ellipse">
            <a:avLst/>
          </a:prstGeom>
          <a:solidFill>
            <a:srgbClr val="845EF7"/>
          </a:solidFill>
          <a:ln w="12700">
            <a:solidFill>
              <a:srgbClr val="845E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71" name="Text 68"/>
          <p:cNvSpPr/>
          <p:nvPr/>
        </p:nvSpPr>
        <p:spPr>
          <a:xfrm>
            <a:off x="3941064" y="4562856"/>
            <a:ext cx="1801368"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Payday: allocates obligations before wants.</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72" name="Shape 69"/>
          <p:cNvSpPr/>
          <p:nvPr/>
        </p:nvSpPr>
        <p:spPr>
          <a:xfrm>
            <a:off x="3785616" y="5065776"/>
            <a:ext cx="50292" cy="50292"/>
          </a:xfrm>
          <a:prstGeom prst="ellipse">
            <a:avLst/>
          </a:prstGeom>
          <a:solidFill>
            <a:srgbClr val="845EF7"/>
          </a:solidFill>
          <a:ln w="12700">
            <a:solidFill>
              <a:srgbClr val="845E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73" name="Text 70"/>
          <p:cNvSpPr/>
          <p:nvPr/>
        </p:nvSpPr>
        <p:spPr>
          <a:xfrm>
            <a:off x="3941064" y="5020056"/>
            <a:ext cx="1801368"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Family request: recalculates what is safe.</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74" name="Shape 71"/>
          <p:cNvSpPr/>
          <p:nvPr/>
        </p:nvSpPr>
        <p:spPr>
          <a:xfrm>
            <a:off x="3785616" y="5522976"/>
            <a:ext cx="50292" cy="50292"/>
          </a:xfrm>
          <a:prstGeom prst="ellipse">
            <a:avLst/>
          </a:prstGeom>
          <a:solidFill>
            <a:srgbClr val="845EF7"/>
          </a:solidFill>
          <a:ln w="12700">
            <a:solidFill>
              <a:srgbClr val="845E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75" name="Text 72"/>
          <p:cNvSpPr/>
          <p:nvPr/>
        </p:nvSpPr>
        <p:spPr>
          <a:xfrm>
            <a:off x="3941064" y="5477256"/>
            <a:ext cx="1801368"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Buffer drops: immediately reduces spending.</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76" name="Shape 73"/>
          <p:cNvSpPr/>
          <p:nvPr/>
        </p:nvSpPr>
        <p:spPr>
          <a:xfrm>
            <a:off x="6035040" y="4005072"/>
            <a:ext cx="2468880" cy="1783080"/>
          </a:xfrm>
          <a:prstGeom prst="roundRect">
            <a:avLst>
              <a:gd name="adj" fmla="val 5641"/>
            </a:avLst>
          </a:prstGeom>
          <a:solidFill>
            <a:srgbClr val="10233A"/>
          </a:solidFill>
          <a:ln w="12700">
            <a:solidFill>
              <a:srgbClr val="2644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77" name="Text 74"/>
          <p:cNvSpPr/>
          <p:nvPr/>
        </p:nvSpPr>
        <p:spPr>
          <a:xfrm>
            <a:off x="6199632" y="4187952"/>
            <a:ext cx="1325880" cy="219456"/>
          </a:xfrm>
          <a:prstGeom prst="rect">
            <a:avLst/>
          </a:prstGeom>
          <a:solidFill>
            <a:srgbClr val="36C97A"/>
          </a:solidFill>
          <a:ln>
            <a:solidFill>
              <a:srgbClr val="36C97A"/>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20" b="1" i="0" u="none" strike="noStrike" kern="1200" cap="none" spc="0" normalizeH="0" baseline="0" noProof="0" dirty="0">
                <a:ln>
                  <a:noFill/>
                </a:ln>
                <a:solidFill>
                  <a:srgbClr val="FFFFFF"/>
                </a:solidFill>
                <a:effectLst/>
                <a:uLnTx/>
                <a:uFillTx/>
                <a:latin typeface="Aptos"/>
                <a:ea typeface="+mn-ea"/>
                <a:cs typeface="+mn-cs"/>
              </a:rPr>
              <a:t>MENTAL MODEL</a:t>
            </a:r>
            <a:endParaRPr kumimoji="0" lang="en-US" sz="520" b="0" i="0" u="none" strike="noStrike" kern="1200" cap="none" spc="0" normalizeH="0" baseline="0" noProof="0" dirty="0">
              <a:ln>
                <a:noFill/>
              </a:ln>
              <a:solidFill>
                <a:prstClr val="black"/>
              </a:solidFill>
              <a:effectLst/>
              <a:uLnTx/>
              <a:uFillTx/>
              <a:latin typeface="Aptos"/>
              <a:ea typeface="+mn-ea"/>
              <a:cs typeface="+mn-cs"/>
            </a:endParaRPr>
          </a:p>
        </p:txBody>
      </p:sp>
      <p:sp>
        <p:nvSpPr>
          <p:cNvPr id="78" name="Shape 75"/>
          <p:cNvSpPr/>
          <p:nvPr/>
        </p:nvSpPr>
        <p:spPr>
          <a:xfrm>
            <a:off x="6236208" y="4608576"/>
            <a:ext cx="50292" cy="50292"/>
          </a:xfrm>
          <a:prstGeom prst="ellipse">
            <a:avLst/>
          </a:prstGeom>
          <a:solidFill>
            <a:srgbClr val="36C97A"/>
          </a:solidFill>
          <a:ln w="12700">
            <a:solidFill>
              <a:srgbClr val="36C9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79" name="Text 76"/>
          <p:cNvSpPr/>
          <p:nvPr/>
        </p:nvSpPr>
        <p:spPr>
          <a:xfrm>
            <a:off x="6391656" y="4562856"/>
            <a:ext cx="2057400"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Money in → obligations → safe to use → must remain.</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80" name="Shape 77"/>
          <p:cNvSpPr/>
          <p:nvPr/>
        </p:nvSpPr>
        <p:spPr>
          <a:xfrm>
            <a:off x="6236208" y="5065776"/>
            <a:ext cx="50292" cy="50292"/>
          </a:xfrm>
          <a:prstGeom prst="ellipse">
            <a:avLst/>
          </a:prstGeom>
          <a:solidFill>
            <a:srgbClr val="36C97A"/>
          </a:solidFill>
          <a:ln w="12700">
            <a:solidFill>
              <a:srgbClr val="36C9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81" name="Text 78"/>
          <p:cNvSpPr/>
          <p:nvPr/>
        </p:nvSpPr>
        <p:spPr>
          <a:xfrm>
            <a:off x="6391656" y="5020056"/>
            <a:ext cx="2057400"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A traditional balance does not answer his real question.</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82" name="Shape 79"/>
          <p:cNvSpPr/>
          <p:nvPr/>
        </p:nvSpPr>
        <p:spPr>
          <a:xfrm>
            <a:off x="6236208" y="5522976"/>
            <a:ext cx="50292" cy="50292"/>
          </a:xfrm>
          <a:prstGeom prst="ellipse">
            <a:avLst/>
          </a:prstGeom>
          <a:solidFill>
            <a:srgbClr val="36C97A"/>
          </a:solidFill>
          <a:ln w="12700">
            <a:solidFill>
              <a:srgbClr val="36C9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83" name="Text 80"/>
          <p:cNvSpPr/>
          <p:nvPr/>
        </p:nvSpPr>
        <p:spPr>
          <a:xfrm>
            <a:off x="6391656" y="5477256"/>
            <a:ext cx="2057400"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Confidence comes from projection, not just visibility.</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84" name="Shape 81"/>
          <p:cNvSpPr/>
          <p:nvPr/>
        </p:nvSpPr>
        <p:spPr>
          <a:xfrm>
            <a:off x="8741664" y="4005072"/>
            <a:ext cx="2889504" cy="1783080"/>
          </a:xfrm>
          <a:prstGeom prst="roundRect">
            <a:avLst>
              <a:gd name="adj" fmla="val 5641"/>
            </a:avLst>
          </a:prstGeom>
          <a:solidFill>
            <a:srgbClr val="10233A"/>
          </a:solidFill>
          <a:ln w="12700">
            <a:solidFill>
              <a:srgbClr val="2644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85" name="Text 82"/>
          <p:cNvSpPr/>
          <p:nvPr/>
        </p:nvSpPr>
        <p:spPr>
          <a:xfrm>
            <a:off x="8906256" y="4187952"/>
            <a:ext cx="1325880" cy="219456"/>
          </a:xfrm>
          <a:prstGeom prst="rect">
            <a:avLst/>
          </a:prstGeom>
          <a:solidFill>
            <a:srgbClr val="FF6B35"/>
          </a:solidFill>
          <a:ln>
            <a:solidFill>
              <a:srgbClr val="FF6B35"/>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20" b="1" i="0" u="none" strike="noStrike" kern="1200" cap="none" spc="0" normalizeH="0" baseline="0" noProof="0" dirty="0">
                <a:ln>
                  <a:noFill/>
                </a:ln>
                <a:solidFill>
                  <a:srgbClr val="FFFFFF"/>
                </a:solidFill>
                <a:effectLst/>
                <a:uLnTx/>
                <a:uFillTx/>
                <a:latin typeface="Aptos"/>
                <a:ea typeface="+mn-ea"/>
                <a:cs typeface="+mn-cs"/>
              </a:rPr>
              <a:t>PRODUCT IMPLICATION</a:t>
            </a:r>
            <a:endParaRPr kumimoji="0" lang="en-US" sz="520" b="0" i="0" u="none" strike="noStrike" kern="1200" cap="none" spc="0" normalizeH="0" baseline="0" noProof="0" dirty="0">
              <a:ln>
                <a:noFill/>
              </a:ln>
              <a:solidFill>
                <a:prstClr val="black"/>
              </a:solidFill>
              <a:effectLst/>
              <a:uLnTx/>
              <a:uFillTx/>
              <a:latin typeface="Aptos"/>
              <a:ea typeface="+mn-ea"/>
              <a:cs typeface="+mn-cs"/>
            </a:endParaRPr>
          </a:p>
        </p:txBody>
      </p:sp>
      <p:sp>
        <p:nvSpPr>
          <p:cNvPr id="86" name="Shape 83"/>
          <p:cNvSpPr/>
          <p:nvPr/>
        </p:nvSpPr>
        <p:spPr>
          <a:xfrm>
            <a:off x="8942832" y="4608576"/>
            <a:ext cx="50292" cy="50292"/>
          </a:xfrm>
          <a:prstGeom prst="ellipse">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87" name="Text 84"/>
          <p:cNvSpPr/>
          <p:nvPr/>
        </p:nvSpPr>
        <p:spPr>
          <a:xfrm>
            <a:off x="9098280" y="4562856"/>
            <a:ext cx="2478024"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Shift from balance visibility to financial confidence.</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88" name="Shape 85"/>
          <p:cNvSpPr/>
          <p:nvPr/>
        </p:nvSpPr>
        <p:spPr>
          <a:xfrm>
            <a:off x="8942832" y="5065776"/>
            <a:ext cx="50292" cy="50292"/>
          </a:xfrm>
          <a:prstGeom prst="ellipse">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89" name="Text 86"/>
          <p:cNvSpPr/>
          <p:nvPr/>
        </p:nvSpPr>
        <p:spPr>
          <a:xfrm>
            <a:off x="9098280" y="5020056"/>
            <a:ext cx="2478024"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Prioritise safe-to-spend, upcoming deductions, buffer warnings and clear confirmations.</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90" name="Shape 87"/>
          <p:cNvSpPr/>
          <p:nvPr/>
        </p:nvSpPr>
        <p:spPr>
          <a:xfrm>
            <a:off x="8942832" y="5522976"/>
            <a:ext cx="50292" cy="50292"/>
          </a:xfrm>
          <a:prstGeom prst="ellipse">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a:ea typeface="+mn-ea"/>
              <a:cs typeface="+mn-cs"/>
            </a:endParaRPr>
          </a:p>
        </p:txBody>
      </p:sp>
      <p:sp>
        <p:nvSpPr>
          <p:cNvPr id="91" name="Text 88"/>
          <p:cNvSpPr/>
          <p:nvPr/>
        </p:nvSpPr>
        <p:spPr>
          <a:xfrm>
            <a:off x="9098280" y="5477256"/>
            <a:ext cx="2478024" cy="26517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DDE8F8"/>
                </a:solidFill>
                <a:effectLst/>
                <a:uLnTx/>
                <a:uFillTx/>
                <a:latin typeface="Aptos"/>
                <a:ea typeface="+mn-ea"/>
                <a:cs typeface="+mn-cs"/>
              </a:rPr>
              <a:t>Design for pressure moments, not only account management.</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92" name="Text 89"/>
          <p:cNvSpPr/>
          <p:nvPr/>
        </p:nvSpPr>
        <p:spPr>
          <a:xfrm>
            <a:off x="3611880" y="6037580"/>
            <a:ext cx="1280160"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24D8FF"/>
                </a:solidFill>
                <a:effectLst/>
                <a:uLnTx/>
                <a:uFillTx/>
                <a:latin typeface="Aptos"/>
                <a:ea typeface="+mn-ea"/>
                <a:cs typeface="+mn-cs"/>
              </a:rPr>
              <a:t>SYNTHESIS MOVE</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93" name="Text 90"/>
          <p:cNvSpPr/>
          <p:nvPr/>
        </p:nvSpPr>
        <p:spPr>
          <a:xfrm>
            <a:off x="3611880" y="6247892"/>
            <a:ext cx="8001000" cy="219456"/>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ptos"/>
                <a:ea typeface="+mn-ea"/>
                <a:cs typeface="+mn-cs"/>
              </a:rPr>
              <a:t>Thabo is not asking for a more feature-rich banking app. He needs a banking experience that protects his financial breathing room and helps him know he will still be okay.</a:t>
            </a:r>
            <a:endParaRPr kumimoji="0" lang="en-US" sz="90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t"/>
          <a:lstStyle/>
          <a:p>
            <a:r>
              <a:rPr lang="en-US" sz="3200" b="1" dirty="0">
                <a:latin typeface="Aptos"/>
              </a:rPr>
              <a:t>The recurring loop revealed the intervention point</a:t>
            </a:r>
          </a:p>
          <a:p>
            <a:pPr marL="0" indent="0" algn="l">
              <a:buNone/>
            </a:pPr>
            <a:endParaRPr lang="en-US" sz="3000" dirty="0"/>
          </a:p>
        </p:txBody>
      </p:sp>
      <p:sp>
        <p:nvSpPr>
          <p:cNvPr id="3" name="Shape 1"/>
          <p:cNvSpPr/>
          <p:nvPr/>
        </p:nvSpPr>
        <p:spPr>
          <a:xfrm>
            <a:off x="640080" y="1280160"/>
            <a:ext cx="4434840" cy="512064"/>
          </a:xfrm>
          <a:prstGeom prst="roundRect">
            <a:avLst>
              <a:gd name="adj" fmla="val 14286"/>
            </a:avLst>
          </a:prstGeom>
          <a:solidFill>
            <a:srgbClr val="0F1F44"/>
          </a:solidFill>
          <a:ln w="12700">
            <a:solidFill>
              <a:srgbClr val="2A3E6E"/>
            </a:solidFill>
            <a:prstDash val="solid"/>
          </a:ln>
        </p:spPr>
        <p:txBody>
          <a:bodyPr/>
          <a:lstStyle/>
          <a:p>
            <a:endParaRPr lang="en-ZA"/>
          </a:p>
        </p:txBody>
      </p:sp>
      <p:sp>
        <p:nvSpPr>
          <p:cNvPr id="4" name="Shape 2"/>
          <p:cNvSpPr/>
          <p:nvPr/>
        </p:nvSpPr>
        <p:spPr>
          <a:xfrm>
            <a:off x="777240" y="1408176"/>
            <a:ext cx="256032" cy="256032"/>
          </a:xfrm>
          <a:prstGeom prst="ellipse">
            <a:avLst/>
          </a:prstGeom>
          <a:ln w="15875">
            <a:solidFill>
              <a:srgbClr val="7FA6E8"/>
            </a:solidFill>
            <a:prstDash val="solid"/>
          </a:ln>
        </p:spPr>
        <p:txBody>
          <a:bodyPr/>
          <a:lstStyle/>
          <a:p>
            <a:endParaRPr lang="en-ZA"/>
          </a:p>
        </p:txBody>
      </p:sp>
      <p:sp>
        <p:nvSpPr>
          <p:cNvPr id="5" name="Text 3"/>
          <p:cNvSpPr/>
          <p:nvPr/>
        </p:nvSpPr>
        <p:spPr>
          <a:xfrm>
            <a:off x="777240" y="1408176"/>
            <a:ext cx="256032" cy="256032"/>
          </a:xfrm>
          <a:prstGeom prst="rect">
            <a:avLst/>
          </a:prstGeom>
          <a:noFill/>
          <a:ln/>
        </p:spPr>
        <p:txBody>
          <a:bodyPr wrap="square" rtlCol="0" anchor="ctr"/>
          <a:lstStyle/>
          <a:p>
            <a:pPr marL="0" indent="0" algn="ctr">
              <a:buNone/>
            </a:pPr>
            <a:r>
              <a:rPr lang="en-US" sz="1000" dirty="0">
                <a:solidFill>
                  <a:srgbClr val="7FA6E8"/>
                </a:solidFill>
                <a:latin typeface="Calibri" pitchFamily="34" charset="0"/>
                <a:ea typeface="Calibri" pitchFamily="34" charset="-122"/>
                <a:cs typeface="Calibri" pitchFamily="34" charset="-120"/>
              </a:rPr>
              <a:t>1</a:t>
            </a:r>
            <a:endParaRPr lang="en-US" sz="1000" dirty="0"/>
          </a:p>
        </p:txBody>
      </p:sp>
      <p:sp>
        <p:nvSpPr>
          <p:cNvPr id="6" name="Text 4"/>
          <p:cNvSpPr/>
          <p:nvPr/>
        </p:nvSpPr>
        <p:spPr>
          <a:xfrm>
            <a:off x="1188720" y="1280160"/>
            <a:ext cx="3794760" cy="512064"/>
          </a:xfrm>
          <a:prstGeom prst="rect">
            <a:avLst/>
          </a:prstGeom>
          <a:noFill/>
          <a:ln/>
        </p:spPr>
        <p:txBody>
          <a:bodyPr wrap="square" rtlCol="0" anchor="ctr"/>
          <a:lstStyle/>
          <a:p>
            <a:pPr marL="0" indent="0" algn="l">
              <a:buNone/>
            </a:pPr>
            <a:r>
              <a:rPr lang="en-US" sz="1150" dirty="0">
                <a:solidFill>
                  <a:srgbClr val="FFFFFF"/>
                </a:solidFill>
                <a:latin typeface="Calibri" pitchFamily="34" charset="0"/>
                <a:ea typeface="Calibri" pitchFamily="34" charset="-122"/>
                <a:cs typeface="Calibri" pitchFamily="34" charset="-120"/>
              </a:rPr>
              <a:t>Payday arrives</a:t>
            </a:r>
            <a:endParaRPr lang="en-US" sz="1150" dirty="0"/>
          </a:p>
        </p:txBody>
      </p:sp>
      <p:sp>
        <p:nvSpPr>
          <p:cNvPr id="7" name="Shape 5"/>
          <p:cNvSpPr/>
          <p:nvPr/>
        </p:nvSpPr>
        <p:spPr>
          <a:xfrm>
            <a:off x="640080" y="1883664"/>
            <a:ext cx="4434840" cy="512064"/>
          </a:xfrm>
          <a:prstGeom prst="roundRect">
            <a:avLst>
              <a:gd name="adj" fmla="val 14286"/>
            </a:avLst>
          </a:prstGeom>
          <a:solidFill>
            <a:srgbClr val="0F1F44"/>
          </a:solidFill>
          <a:ln w="12700">
            <a:solidFill>
              <a:srgbClr val="2A3E6E"/>
            </a:solidFill>
            <a:prstDash val="solid"/>
          </a:ln>
        </p:spPr>
        <p:txBody>
          <a:bodyPr/>
          <a:lstStyle/>
          <a:p>
            <a:endParaRPr lang="en-ZA"/>
          </a:p>
        </p:txBody>
      </p:sp>
      <p:sp>
        <p:nvSpPr>
          <p:cNvPr id="8" name="Shape 6"/>
          <p:cNvSpPr/>
          <p:nvPr/>
        </p:nvSpPr>
        <p:spPr>
          <a:xfrm>
            <a:off x="777240" y="2011680"/>
            <a:ext cx="256032" cy="256032"/>
          </a:xfrm>
          <a:prstGeom prst="ellipse">
            <a:avLst/>
          </a:prstGeom>
          <a:ln w="15875">
            <a:solidFill>
              <a:srgbClr val="7FA6E8"/>
            </a:solidFill>
            <a:prstDash val="solid"/>
          </a:ln>
        </p:spPr>
        <p:txBody>
          <a:bodyPr/>
          <a:lstStyle/>
          <a:p>
            <a:endParaRPr lang="en-ZA"/>
          </a:p>
        </p:txBody>
      </p:sp>
      <p:sp>
        <p:nvSpPr>
          <p:cNvPr id="9" name="Text 7"/>
          <p:cNvSpPr/>
          <p:nvPr/>
        </p:nvSpPr>
        <p:spPr>
          <a:xfrm>
            <a:off x="777240" y="2011680"/>
            <a:ext cx="256032" cy="256032"/>
          </a:xfrm>
          <a:prstGeom prst="rect">
            <a:avLst/>
          </a:prstGeom>
          <a:noFill/>
          <a:ln/>
        </p:spPr>
        <p:txBody>
          <a:bodyPr wrap="square" rtlCol="0" anchor="ctr"/>
          <a:lstStyle/>
          <a:p>
            <a:pPr marL="0" indent="0" algn="ctr">
              <a:buNone/>
            </a:pPr>
            <a:r>
              <a:rPr lang="en-US" sz="1000" dirty="0">
                <a:solidFill>
                  <a:srgbClr val="7FA6E8"/>
                </a:solidFill>
                <a:latin typeface="Calibri" pitchFamily="34" charset="0"/>
                <a:ea typeface="Calibri" pitchFamily="34" charset="-122"/>
                <a:cs typeface="Calibri" pitchFamily="34" charset="-120"/>
              </a:rPr>
              <a:t>2</a:t>
            </a:r>
            <a:endParaRPr lang="en-US" sz="1000" dirty="0"/>
          </a:p>
        </p:txBody>
      </p:sp>
      <p:sp>
        <p:nvSpPr>
          <p:cNvPr id="10" name="Text 8"/>
          <p:cNvSpPr/>
          <p:nvPr/>
        </p:nvSpPr>
        <p:spPr>
          <a:xfrm>
            <a:off x="1188720" y="1883664"/>
            <a:ext cx="3794760" cy="512064"/>
          </a:xfrm>
          <a:prstGeom prst="rect">
            <a:avLst/>
          </a:prstGeom>
          <a:noFill/>
          <a:ln/>
        </p:spPr>
        <p:txBody>
          <a:bodyPr wrap="square" rtlCol="0" anchor="ctr"/>
          <a:lstStyle/>
          <a:p>
            <a:pPr marL="0" indent="0" algn="l">
              <a:buNone/>
            </a:pPr>
            <a:r>
              <a:rPr lang="en-US" sz="1150" dirty="0">
                <a:solidFill>
                  <a:srgbClr val="FFFFFF"/>
                </a:solidFill>
                <a:latin typeface="Calibri" pitchFamily="34" charset="0"/>
                <a:ea typeface="Calibri" pitchFamily="34" charset="-122"/>
                <a:cs typeface="Calibri" pitchFamily="34" charset="-120"/>
              </a:rPr>
              <a:t>Family remittance claims a fixed share, immediately</a:t>
            </a:r>
            <a:endParaRPr lang="en-US" sz="1150" dirty="0"/>
          </a:p>
        </p:txBody>
      </p:sp>
      <p:sp>
        <p:nvSpPr>
          <p:cNvPr id="11" name="Shape 9"/>
          <p:cNvSpPr/>
          <p:nvPr/>
        </p:nvSpPr>
        <p:spPr>
          <a:xfrm>
            <a:off x="640080" y="2487168"/>
            <a:ext cx="4434840" cy="512064"/>
          </a:xfrm>
          <a:prstGeom prst="roundRect">
            <a:avLst>
              <a:gd name="adj" fmla="val 14286"/>
            </a:avLst>
          </a:prstGeom>
          <a:solidFill>
            <a:srgbClr val="0F1F44"/>
          </a:solidFill>
          <a:ln w="12700">
            <a:solidFill>
              <a:srgbClr val="2A3E6E"/>
            </a:solidFill>
            <a:prstDash val="solid"/>
          </a:ln>
        </p:spPr>
        <p:txBody>
          <a:bodyPr/>
          <a:lstStyle/>
          <a:p>
            <a:endParaRPr lang="en-ZA"/>
          </a:p>
        </p:txBody>
      </p:sp>
      <p:sp>
        <p:nvSpPr>
          <p:cNvPr id="12" name="Shape 10"/>
          <p:cNvSpPr/>
          <p:nvPr/>
        </p:nvSpPr>
        <p:spPr>
          <a:xfrm>
            <a:off x="777240" y="2615184"/>
            <a:ext cx="256032" cy="256032"/>
          </a:xfrm>
          <a:prstGeom prst="ellipse">
            <a:avLst/>
          </a:prstGeom>
          <a:ln w="15875">
            <a:solidFill>
              <a:srgbClr val="7FA6E8"/>
            </a:solidFill>
            <a:prstDash val="solid"/>
          </a:ln>
        </p:spPr>
        <p:txBody>
          <a:bodyPr/>
          <a:lstStyle/>
          <a:p>
            <a:endParaRPr lang="en-ZA"/>
          </a:p>
        </p:txBody>
      </p:sp>
      <p:sp>
        <p:nvSpPr>
          <p:cNvPr id="13" name="Text 11"/>
          <p:cNvSpPr/>
          <p:nvPr/>
        </p:nvSpPr>
        <p:spPr>
          <a:xfrm>
            <a:off x="777240" y="2615184"/>
            <a:ext cx="256032" cy="256032"/>
          </a:xfrm>
          <a:prstGeom prst="rect">
            <a:avLst/>
          </a:prstGeom>
          <a:noFill/>
          <a:ln/>
        </p:spPr>
        <p:txBody>
          <a:bodyPr wrap="square" rtlCol="0" anchor="ctr"/>
          <a:lstStyle/>
          <a:p>
            <a:pPr marL="0" indent="0" algn="ctr">
              <a:buNone/>
            </a:pPr>
            <a:r>
              <a:rPr lang="en-US" sz="1000" dirty="0">
                <a:solidFill>
                  <a:srgbClr val="7FA6E8"/>
                </a:solidFill>
                <a:latin typeface="Calibri" pitchFamily="34" charset="0"/>
                <a:ea typeface="Calibri" pitchFamily="34" charset="-122"/>
                <a:cs typeface="Calibri" pitchFamily="34" charset="-120"/>
              </a:rPr>
              <a:t>3</a:t>
            </a:r>
            <a:endParaRPr lang="en-US" sz="1000" dirty="0"/>
          </a:p>
        </p:txBody>
      </p:sp>
      <p:sp>
        <p:nvSpPr>
          <p:cNvPr id="14" name="Text 12"/>
          <p:cNvSpPr/>
          <p:nvPr/>
        </p:nvSpPr>
        <p:spPr>
          <a:xfrm>
            <a:off x="1188720" y="2487168"/>
            <a:ext cx="3794760" cy="512064"/>
          </a:xfrm>
          <a:prstGeom prst="rect">
            <a:avLst/>
          </a:prstGeom>
          <a:noFill/>
          <a:ln/>
        </p:spPr>
        <p:txBody>
          <a:bodyPr wrap="square" rtlCol="0" anchor="ctr"/>
          <a:lstStyle/>
          <a:p>
            <a:pPr marL="0" indent="0" algn="l">
              <a:buNone/>
            </a:pPr>
            <a:r>
              <a:rPr lang="en-US" sz="1150" dirty="0">
                <a:solidFill>
                  <a:srgbClr val="FFFFFF"/>
                </a:solidFill>
                <a:latin typeface="Calibri" pitchFamily="34" charset="0"/>
                <a:ea typeface="Calibri" pitchFamily="34" charset="-122"/>
                <a:cs typeface="Calibri" pitchFamily="34" charset="-120"/>
              </a:rPr>
              <a:t>Little or no buffer remains</a:t>
            </a:r>
            <a:endParaRPr lang="en-US" sz="1150" dirty="0"/>
          </a:p>
        </p:txBody>
      </p:sp>
      <p:sp>
        <p:nvSpPr>
          <p:cNvPr id="15" name="Shape 13"/>
          <p:cNvSpPr/>
          <p:nvPr/>
        </p:nvSpPr>
        <p:spPr>
          <a:xfrm>
            <a:off x="640080" y="3090672"/>
            <a:ext cx="4434840" cy="512064"/>
          </a:xfrm>
          <a:prstGeom prst="roundRect">
            <a:avLst>
              <a:gd name="adj" fmla="val 14286"/>
            </a:avLst>
          </a:prstGeom>
          <a:solidFill>
            <a:srgbClr val="3A2410"/>
          </a:solidFill>
          <a:ln w="19050">
            <a:solidFill>
              <a:srgbClr val="EC592D"/>
            </a:solidFill>
            <a:prstDash val="solid"/>
          </a:ln>
        </p:spPr>
        <p:txBody>
          <a:bodyPr/>
          <a:lstStyle/>
          <a:p>
            <a:endParaRPr lang="en-ZA"/>
          </a:p>
        </p:txBody>
      </p:sp>
      <p:sp>
        <p:nvSpPr>
          <p:cNvPr id="16" name="Shape 14"/>
          <p:cNvSpPr/>
          <p:nvPr/>
        </p:nvSpPr>
        <p:spPr>
          <a:xfrm>
            <a:off x="777240" y="3218688"/>
            <a:ext cx="256032" cy="256032"/>
          </a:xfrm>
          <a:prstGeom prst="ellipse">
            <a:avLst/>
          </a:prstGeom>
          <a:ln w="15875">
            <a:solidFill>
              <a:srgbClr val="EC592D"/>
            </a:solidFill>
            <a:prstDash val="solid"/>
          </a:ln>
        </p:spPr>
        <p:txBody>
          <a:bodyPr/>
          <a:lstStyle/>
          <a:p>
            <a:endParaRPr lang="en-ZA"/>
          </a:p>
        </p:txBody>
      </p:sp>
      <p:sp>
        <p:nvSpPr>
          <p:cNvPr id="17" name="Text 15"/>
          <p:cNvSpPr/>
          <p:nvPr/>
        </p:nvSpPr>
        <p:spPr>
          <a:xfrm>
            <a:off x="777240" y="3218688"/>
            <a:ext cx="256032" cy="256032"/>
          </a:xfrm>
          <a:prstGeom prst="rect">
            <a:avLst/>
          </a:prstGeom>
          <a:noFill/>
          <a:ln/>
        </p:spPr>
        <p:txBody>
          <a:bodyPr wrap="square" rtlCol="0" anchor="ctr"/>
          <a:lstStyle/>
          <a:p>
            <a:pPr marL="0" indent="0" algn="ctr">
              <a:buNone/>
            </a:pPr>
            <a:r>
              <a:rPr lang="en-US" sz="1000" dirty="0">
                <a:solidFill>
                  <a:srgbClr val="EC592D"/>
                </a:solidFill>
                <a:latin typeface="Calibri" pitchFamily="34" charset="0"/>
                <a:ea typeface="Calibri" pitchFamily="34" charset="-122"/>
                <a:cs typeface="Calibri" pitchFamily="34" charset="-120"/>
              </a:rPr>
              <a:t>4</a:t>
            </a:r>
            <a:endParaRPr lang="en-US" sz="1000" dirty="0"/>
          </a:p>
        </p:txBody>
      </p:sp>
      <p:sp>
        <p:nvSpPr>
          <p:cNvPr id="18" name="Text 16"/>
          <p:cNvSpPr/>
          <p:nvPr/>
        </p:nvSpPr>
        <p:spPr>
          <a:xfrm>
            <a:off x="1188720" y="3090672"/>
            <a:ext cx="3794760" cy="512064"/>
          </a:xfrm>
          <a:prstGeom prst="rect">
            <a:avLst/>
          </a:prstGeom>
          <a:noFill/>
          <a:ln/>
        </p:spPr>
        <p:txBody>
          <a:bodyPr wrap="square" rtlCol="0" anchor="ctr"/>
          <a:lstStyle/>
          <a:p>
            <a:pPr marL="0" indent="0" algn="l">
              <a:buNone/>
            </a:pPr>
            <a:r>
              <a:rPr lang="en-US" sz="1150" dirty="0">
                <a:solidFill>
                  <a:srgbClr val="FFFFFF"/>
                </a:solidFill>
                <a:latin typeface="Calibri" pitchFamily="34" charset="0"/>
                <a:ea typeface="Calibri" pitchFamily="34" charset="-122"/>
                <a:cs typeface="Calibri" pitchFamily="34" charset="-120"/>
              </a:rPr>
              <a:t>Shame blocks help-seeking</a:t>
            </a:r>
            <a:endParaRPr lang="en-US" sz="1150" dirty="0"/>
          </a:p>
        </p:txBody>
      </p:sp>
      <p:sp>
        <p:nvSpPr>
          <p:cNvPr id="19" name="Shape 17"/>
          <p:cNvSpPr/>
          <p:nvPr/>
        </p:nvSpPr>
        <p:spPr>
          <a:xfrm>
            <a:off x="640080" y="3694176"/>
            <a:ext cx="4434840" cy="512064"/>
          </a:xfrm>
          <a:prstGeom prst="roundRect">
            <a:avLst>
              <a:gd name="adj" fmla="val 14286"/>
            </a:avLst>
          </a:prstGeom>
          <a:solidFill>
            <a:srgbClr val="0F1F44"/>
          </a:solidFill>
          <a:ln w="12700">
            <a:solidFill>
              <a:srgbClr val="2A3E6E"/>
            </a:solidFill>
            <a:prstDash val="solid"/>
          </a:ln>
        </p:spPr>
        <p:txBody>
          <a:bodyPr/>
          <a:lstStyle/>
          <a:p>
            <a:endParaRPr lang="en-ZA"/>
          </a:p>
        </p:txBody>
      </p:sp>
      <p:sp>
        <p:nvSpPr>
          <p:cNvPr id="20" name="Shape 18"/>
          <p:cNvSpPr/>
          <p:nvPr/>
        </p:nvSpPr>
        <p:spPr>
          <a:xfrm>
            <a:off x="777240" y="3822192"/>
            <a:ext cx="256032" cy="256032"/>
          </a:xfrm>
          <a:prstGeom prst="ellipse">
            <a:avLst/>
          </a:prstGeom>
          <a:ln w="15875">
            <a:solidFill>
              <a:srgbClr val="7FA6E8"/>
            </a:solidFill>
            <a:prstDash val="solid"/>
          </a:ln>
        </p:spPr>
        <p:txBody>
          <a:bodyPr/>
          <a:lstStyle/>
          <a:p>
            <a:endParaRPr lang="en-ZA"/>
          </a:p>
        </p:txBody>
      </p:sp>
      <p:sp>
        <p:nvSpPr>
          <p:cNvPr id="21" name="Text 19"/>
          <p:cNvSpPr/>
          <p:nvPr/>
        </p:nvSpPr>
        <p:spPr>
          <a:xfrm>
            <a:off x="777240" y="3822192"/>
            <a:ext cx="256032" cy="256032"/>
          </a:xfrm>
          <a:prstGeom prst="rect">
            <a:avLst/>
          </a:prstGeom>
          <a:noFill/>
          <a:ln/>
        </p:spPr>
        <p:txBody>
          <a:bodyPr wrap="square" rtlCol="0" anchor="ctr"/>
          <a:lstStyle/>
          <a:p>
            <a:pPr marL="0" indent="0" algn="ctr">
              <a:buNone/>
            </a:pPr>
            <a:r>
              <a:rPr lang="en-US" sz="1000" dirty="0">
                <a:solidFill>
                  <a:srgbClr val="7FA6E8"/>
                </a:solidFill>
                <a:latin typeface="Calibri" pitchFamily="34" charset="0"/>
                <a:ea typeface="Calibri" pitchFamily="34" charset="-122"/>
                <a:cs typeface="Calibri" pitchFamily="34" charset="-120"/>
              </a:rPr>
              <a:t>5</a:t>
            </a:r>
            <a:endParaRPr lang="en-US" sz="1000" dirty="0"/>
          </a:p>
        </p:txBody>
      </p:sp>
      <p:sp>
        <p:nvSpPr>
          <p:cNvPr id="22" name="Text 20"/>
          <p:cNvSpPr/>
          <p:nvPr/>
        </p:nvSpPr>
        <p:spPr>
          <a:xfrm>
            <a:off x="1188720" y="3694176"/>
            <a:ext cx="3794760" cy="512064"/>
          </a:xfrm>
          <a:prstGeom prst="rect">
            <a:avLst/>
          </a:prstGeom>
          <a:noFill/>
          <a:ln/>
        </p:spPr>
        <p:txBody>
          <a:bodyPr wrap="square" rtlCol="0" anchor="ctr"/>
          <a:lstStyle/>
          <a:p>
            <a:pPr marL="0" indent="0" algn="l">
              <a:buNone/>
            </a:pPr>
            <a:r>
              <a:rPr lang="en-US" sz="1150" dirty="0">
                <a:solidFill>
                  <a:srgbClr val="FFFFFF"/>
                </a:solidFill>
                <a:latin typeface="Calibri" pitchFamily="34" charset="0"/>
                <a:ea typeface="Calibri" pitchFamily="34" charset="-122"/>
                <a:cs typeface="Calibri" pitchFamily="34" charset="-120"/>
              </a:rPr>
              <a:t>No habit or safety net forms</a:t>
            </a:r>
            <a:endParaRPr lang="en-US" sz="1150" dirty="0"/>
          </a:p>
        </p:txBody>
      </p:sp>
      <p:sp>
        <p:nvSpPr>
          <p:cNvPr id="23" name="Text 21"/>
          <p:cNvSpPr/>
          <p:nvPr/>
        </p:nvSpPr>
        <p:spPr>
          <a:xfrm>
            <a:off x="5349240" y="1280160"/>
            <a:ext cx="6172200" cy="1719072"/>
          </a:xfrm>
          <a:prstGeom prst="rect">
            <a:avLst/>
          </a:prstGeom>
          <a:noFill/>
          <a:ln/>
        </p:spPr>
        <p:txBody>
          <a:bodyPr wrap="square" rtlCol="0" anchor="t"/>
          <a:lstStyle/>
          <a:p>
            <a:pPr marL="0" indent="0">
              <a:lnSpc>
                <a:spcPct val="125000"/>
              </a:lnSpc>
              <a:buNone/>
            </a:pPr>
            <a:r>
              <a:rPr lang="en-US" sz="1250" dirty="0">
                <a:solidFill>
                  <a:srgbClr val="2A2A2A"/>
                </a:solidFill>
                <a:latin typeface="Calibri" pitchFamily="34" charset="0"/>
                <a:ea typeface="Calibri" pitchFamily="34" charset="-122"/>
                <a:cs typeface="Calibri" pitchFamily="34" charset="-120"/>
              </a:rPr>
              <a:t>A standard user journey would show Thabo receiving pay, opening an app, and adjusting a budget, a straight line with a beginning and an end. I didn't use that framing, because a straight line can't explain why the same problem comes back every month. Mapping it as a loop instead surfaces the thing a linear journey hides: the same starting conditions produce the same ending conditions unless something inside the loop changes. Naming the loop is what makes it possible to pick a deliberate point to interrupt.</a:t>
            </a:r>
            <a:endParaRPr lang="en-US" sz="1250" dirty="0"/>
          </a:p>
        </p:txBody>
      </p:sp>
      <p:sp>
        <p:nvSpPr>
          <p:cNvPr id="24" name="Shape 22"/>
          <p:cNvSpPr/>
          <p:nvPr/>
        </p:nvSpPr>
        <p:spPr>
          <a:xfrm>
            <a:off x="685800" y="4617720"/>
            <a:ext cx="0" cy="1691640"/>
          </a:xfrm>
          <a:prstGeom prst="line">
            <a:avLst/>
          </a:prstGeom>
          <a:noFill/>
          <a:ln w="38100">
            <a:solidFill>
              <a:srgbClr val="285EF6"/>
            </a:solidFill>
            <a:prstDash val="solid"/>
          </a:ln>
        </p:spPr>
        <p:txBody>
          <a:bodyPr/>
          <a:lstStyle/>
          <a:p>
            <a:endParaRPr lang="en-ZA"/>
          </a:p>
        </p:txBody>
      </p:sp>
      <p:sp>
        <p:nvSpPr>
          <p:cNvPr id="25" name="Text 23"/>
          <p:cNvSpPr/>
          <p:nvPr/>
        </p:nvSpPr>
        <p:spPr>
          <a:xfrm>
            <a:off x="914400" y="4526280"/>
            <a:ext cx="5486400" cy="365760"/>
          </a:xfrm>
          <a:prstGeom prst="rect">
            <a:avLst/>
          </a:prstGeom>
          <a:noFill/>
          <a:ln/>
        </p:spPr>
        <p:txBody>
          <a:bodyPr wrap="square" rtlCol="0" anchor="ctr"/>
          <a:lstStyle/>
          <a:p>
            <a:pPr marL="0" indent="0">
              <a:buNone/>
            </a:pPr>
            <a:r>
              <a:rPr lang="en-US" sz="1500" b="1" dirty="0">
                <a:solidFill>
                  <a:srgbClr val="111111"/>
                </a:solidFill>
                <a:latin typeface="Calibri" pitchFamily="34" charset="0"/>
                <a:ea typeface="Calibri" pitchFamily="34" charset="-122"/>
                <a:cs typeface="Calibri" pitchFamily="34" charset="-120"/>
              </a:rPr>
              <a:t>Where RISE intervenes</a:t>
            </a:r>
            <a:endParaRPr lang="en-US" sz="1500" dirty="0"/>
          </a:p>
        </p:txBody>
      </p:sp>
      <p:sp>
        <p:nvSpPr>
          <p:cNvPr id="26" name="Text 24"/>
          <p:cNvSpPr/>
          <p:nvPr/>
        </p:nvSpPr>
        <p:spPr>
          <a:xfrm>
            <a:off x="914400" y="4892040"/>
            <a:ext cx="6126480" cy="1600200"/>
          </a:xfrm>
          <a:prstGeom prst="rect">
            <a:avLst/>
          </a:prstGeom>
          <a:noFill/>
          <a:ln/>
        </p:spPr>
        <p:txBody>
          <a:bodyPr wrap="square" rtlCol="0" anchor="t"/>
          <a:lstStyle/>
          <a:p>
            <a:pPr marL="0" indent="0">
              <a:lnSpc>
                <a:spcPct val="120000"/>
              </a:lnSpc>
              <a:buNone/>
            </a:pPr>
            <a:r>
              <a:rPr lang="en-US" sz="1150" dirty="0">
                <a:solidFill>
                  <a:srgbClr val="5A5A5A"/>
                </a:solidFill>
                <a:latin typeface="Calibri" pitchFamily="34" charset="0"/>
                <a:ea typeface="Calibri" pitchFamily="34" charset="-122"/>
                <a:cs typeface="Calibri" pitchFamily="34" charset="-120"/>
              </a:rPr>
              <a:t>Of the five points in the loop, only one is inside a product's control: the gap between buffer depletion and shame blocking help-seeking (3→4). RISE can't change what family expects or when payroll runs, but it can make checking in on money feel private and judgment-free enough that shame doesn't get the final word.</a:t>
            </a:r>
            <a:endParaRPr lang="en-US" sz="1150" dirty="0"/>
          </a:p>
        </p:txBody>
      </p:sp>
      <p:sp>
        <p:nvSpPr>
          <p:cNvPr id="28" name="Text 25"/>
          <p:cNvSpPr/>
          <p:nvPr/>
        </p:nvSpPr>
        <p:spPr>
          <a:xfrm>
            <a:off x="11395972" y="6446520"/>
            <a:ext cx="548640" cy="274320"/>
          </a:xfrm>
          <a:prstGeom prst="rect">
            <a:avLst/>
          </a:prstGeom>
          <a:noFill/>
          <a:ln/>
        </p:spPr>
        <p:txBody>
          <a:bodyPr wrap="square" rtlCol="0" anchor="ctr"/>
          <a:lstStyle/>
          <a:p>
            <a:pPr marL="0" indent="0" algn="r">
              <a:buNone/>
            </a:pPr>
            <a:r>
              <a:rPr lang="en-US" sz="1000" dirty="0">
                <a:solidFill>
                  <a:srgbClr val="8A8F9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0F1F44"/>
          </a:solidFill>
          <a:ln/>
        </p:spPr>
        <p:txBody>
          <a:bodyPr/>
          <a:lstStyle/>
          <a:p>
            <a:endParaRPr lang="en-ZA"/>
          </a:p>
        </p:txBody>
      </p:sp>
      <p:sp>
        <p:nvSpPr>
          <p:cNvPr id="3" name="Text 1"/>
          <p:cNvSpPr/>
          <p:nvPr/>
        </p:nvSpPr>
        <p:spPr>
          <a:xfrm>
            <a:off x="640080" y="50292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170432" y="502920"/>
            <a:ext cx="7315200" cy="384048"/>
          </a:xfrm>
          <a:prstGeom prst="rect">
            <a:avLst/>
          </a:prstGeom>
          <a:noFill/>
          <a:ln/>
        </p:spPr>
        <p:txBody>
          <a:bodyPr wrap="square" rtlCol="0" anchor="ctr"/>
          <a:lstStyle/>
          <a:p>
            <a:pPr marL="0" indent="0" algn="l">
              <a:buNone/>
            </a:pPr>
            <a:r>
              <a:rPr lang="en-US" sz="1200" b="1" kern="0" spc="100" dirty="0">
                <a:solidFill>
                  <a:srgbClr val="285EF6"/>
                </a:solidFill>
                <a:latin typeface="Calibri" pitchFamily="34" charset="0"/>
                <a:ea typeface="Calibri" pitchFamily="34" charset="-122"/>
                <a:cs typeface="Calibri" pitchFamily="34" charset="-120"/>
              </a:rPr>
              <a:t>SUCCESS MATRIX</a:t>
            </a:r>
            <a:endParaRPr lang="en-US" sz="1200" dirty="0"/>
          </a:p>
        </p:txBody>
      </p:sp>
      <p:sp>
        <p:nvSpPr>
          <p:cNvPr id="5" name="Text 3"/>
          <p:cNvSpPr/>
          <p:nvPr/>
        </p:nvSpPr>
        <p:spPr>
          <a:xfrm>
            <a:off x="640080" y="1051560"/>
            <a:ext cx="10515600" cy="731520"/>
          </a:xfrm>
          <a:prstGeom prst="rect">
            <a:avLst/>
          </a:prstGeom>
          <a:noFill/>
          <a:ln/>
        </p:spPr>
        <p:txBody>
          <a:bodyPr wrap="square" rtlCol="0" anchor="t"/>
          <a:lstStyle/>
          <a:p>
            <a:pPr marL="0" indent="0" algn="l">
              <a:buNone/>
            </a:pPr>
            <a:r>
              <a:rPr lang="en-US" sz="3000" b="1" dirty="0">
                <a:solidFill>
                  <a:srgbClr val="111111"/>
                </a:solidFill>
                <a:latin typeface="Calibri" pitchFamily="34" charset="0"/>
                <a:ea typeface="Calibri" pitchFamily="34" charset="-122"/>
                <a:cs typeface="Calibri" pitchFamily="34" charset="-120"/>
              </a:rPr>
              <a:t>How I would measure success</a:t>
            </a:r>
            <a:endParaRPr lang="en-US" sz="3000" dirty="0"/>
          </a:p>
        </p:txBody>
      </p:sp>
      <p:sp>
        <p:nvSpPr>
          <p:cNvPr id="6" name="Shape 4"/>
          <p:cNvSpPr/>
          <p:nvPr/>
        </p:nvSpPr>
        <p:spPr>
          <a:xfrm>
            <a:off x="640080" y="2057400"/>
            <a:ext cx="365760" cy="365760"/>
          </a:xfrm>
          <a:prstGeom prst="ellipse">
            <a:avLst/>
          </a:prstGeom>
          <a:solidFill>
            <a:srgbClr val="EC592D"/>
          </a:solidFill>
          <a:ln/>
        </p:spPr>
        <p:txBody>
          <a:bodyPr/>
          <a:lstStyle/>
          <a:p>
            <a:endParaRPr lang="en-ZA"/>
          </a:p>
        </p:txBody>
      </p:sp>
      <p:sp>
        <p:nvSpPr>
          <p:cNvPr id="7" name="Text 5"/>
          <p:cNvSpPr/>
          <p:nvPr/>
        </p:nvSpPr>
        <p:spPr>
          <a:xfrm>
            <a:off x="640080" y="2057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188720" y="2011680"/>
            <a:ext cx="3657600" cy="365760"/>
          </a:xfrm>
          <a:prstGeom prst="rect">
            <a:avLst/>
          </a:prstGeom>
          <a:noFill/>
          <a:ln/>
        </p:spPr>
        <p:txBody>
          <a:bodyPr wrap="square" rtlCol="0" anchor="ctr"/>
          <a:lstStyle/>
          <a:p>
            <a:pPr marL="0" indent="0">
              <a:buNone/>
            </a:pPr>
            <a:r>
              <a:rPr lang="en-US" sz="1500" b="1" dirty="0">
                <a:solidFill>
                  <a:srgbClr val="111111"/>
                </a:solidFill>
                <a:latin typeface="Calibri" pitchFamily="34" charset="0"/>
                <a:ea typeface="Calibri" pitchFamily="34" charset="-122"/>
                <a:cs typeface="Calibri" pitchFamily="34" charset="-120"/>
              </a:rPr>
              <a:t>Sign-up rate</a:t>
            </a:r>
            <a:endParaRPr lang="en-US" sz="1500" dirty="0"/>
          </a:p>
        </p:txBody>
      </p:sp>
      <p:sp>
        <p:nvSpPr>
          <p:cNvPr id="9" name="Text 7"/>
          <p:cNvSpPr/>
          <p:nvPr/>
        </p:nvSpPr>
        <p:spPr>
          <a:xfrm>
            <a:off x="1188720" y="2350008"/>
            <a:ext cx="3657600" cy="365760"/>
          </a:xfrm>
          <a:prstGeom prst="rect">
            <a:avLst/>
          </a:prstGeom>
          <a:noFill/>
          <a:ln/>
        </p:spPr>
        <p:txBody>
          <a:bodyPr wrap="square" rtlCol="0" anchor="ctr"/>
          <a:lstStyle/>
          <a:p>
            <a:pPr marL="0" indent="0">
              <a:buNone/>
            </a:pPr>
            <a:r>
              <a:rPr lang="en-US" sz="1200" dirty="0">
                <a:solidFill>
                  <a:srgbClr val="5A5A5A"/>
                </a:solidFill>
                <a:latin typeface="Calibri" pitchFamily="34" charset="0"/>
                <a:ea typeface="Calibri" pitchFamily="34" charset="-122"/>
                <a:cs typeface="Calibri" pitchFamily="34" charset="-120"/>
              </a:rPr>
              <a:t>How many first-job earners create an account</a:t>
            </a:r>
            <a:endParaRPr lang="en-US" sz="1200" dirty="0"/>
          </a:p>
        </p:txBody>
      </p:sp>
      <p:sp>
        <p:nvSpPr>
          <p:cNvPr id="10" name="Shape 8"/>
          <p:cNvSpPr/>
          <p:nvPr/>
        </p:nvSpPr>
        <p:spPr>
          <a:xfrm>
            <a:off x="5074920" y="2075688"/>
            <a:ext cx="1417320" cy="384048"/>
          </a:xfrm>
          <a:prstGeom prst="roundRect">
            <a:avLst>
              <a:gd name="adj" fmla="val 14286"/>
            </a:avLst>
          </a:prstGeom>
          <a:ln w="15875">
            <a:solidFill>
              <a:srgbClr val="C0392B"/>
            </a:solidFill>
            <a:prstDash val="solid"/>
          </a:ln>
        </p:spPr>
        <p:txBody>
          <a:bodyPr/>
          <a:lstStyle/>
          <a:p>
            <a:endParaRPr lang="en-ZA"/>
          </a:p>
        </p:txBody>
      </p:sp>
      <p:sp>
        <p:nvSpPr>
          <p:cNvPr id="11" name="Text 9"/>
          <p:cNvSpPr/>
          <p:nvPr/>
        </p:nvSpPr>
        <p:spPr>
          <a:xfrm>
            <a:off x="5074920" y="2075688"/>
            <a:ext cx="1417320" cy="384048"/>
          </a:xfrm>
          <a:prstGeom prst="rect">
            <a:avLst/>
          </a:prstGeom>
          <a:noFill/>
          <a:ln/>
        </p:spPr>
        <p:txBody>
          <a:bodyPr wrap="square" rtlCol="0" anchor="ctr"/>
          <a:lstStyle/>
          <a:p>
            <a:pPr marL="0" indent="0" algn="ctr">
              <a:buNone/>
            </a:pPr>
            <a:r>
              <a:rPr lang="en-US" sz="1150" b="1" dirty="0">
                <a:solidFill>
                  <a:srgbClr val="C0392B"/>
                </a:solidFill>
                <a:latin typeface="Calibri" pitchFamily="34" charset="0"/>
                <a:ea typeface="Calibri" pitchFamily="34" charset="-122"/>
                <a:cs typeface="Calibri" pitchFamily="34" charset="-120"/>
              </a:rPr>
              <a:t>Rejected</a:t>
            </a:r>
            <a:endParaRPr lang="en-US" sz="1150" dirty="0"/>
          </a:p>
        </p:txBody>
      </p:sp>
      <p:sp>
        <p:nvSpPr>
          <p:cNvPr id="12" name="Text 10"/>
          <p:cNvSpPr/>
          <p:nvPr/>
        </p:nvSpPr>
        <p:spPr>
          <a:xfrm>
            <a:off x="6720840" y="2039112"/>
            <a:ext cx="4846320" cy="685800"/>
          </a:xfrm>
          <a:prstGeom prst="rect">
            <a:avLst/>
          </a:prstGeom>
          <a:noFill/>
          <a:ln/>
        </p:spPr>
        <p:txBody>
          <a:bodyPr wrap="square" rtlCol="0" anchor="t"/>
          <a:lstStyle/>
          <a:p>
            <a:pPr marL="0" indent="0">
              <a:lnSpc>
                <a:spcPct val="115000"/>
              </a:lnSpc>
              <a:buNone/>
            </a:pPr>
            <a:r>
              <a:rPr lang="en-US" sz="1150" b="1" dirty="0">
                <a:solidFill>
                  <a:srgbClr val="C0392B"/>
                </a:solidFill>
                <a:latin typeface="Calibri" pitchFamily="34" charset="0"/>
                <a:ea typeface="Calibri" pitchFamily="34" charset="-122"/>
                <a:cs typeface="Calibri" pitchFamily="34" charset="-120"/>
              </a:rPr>
              <a:t>Easy to inflate with a marketing push; tells you nothing about whether the moment was handled differently.</a:t>
            </a:r>
            <a:endParaRPr lang="en-US" sz="1150" dirty="0"/>
          </a:p>
        </p:txBody>
      </p:sp>
      <p:sp>
        <p:nvSpPr>
          <p:cNvPr id="13" name="Shape 11"/>
          <p:cNvSpPr/>
          <p:nvPr/>
        </p:nvSpPr>
        <p:spPr>
          <a:xfrm>
            <a:off x="640080" y="3291840"/>
            <a:ext cx="365760" cy="365760"/>
          </a:xfrm>
          <a:prstGeom prst="ellipse">
            <a:avLst/>
          </a:prstGeom>
          <a:solidFill>
            <a:srgbClr val="EC592D"/>
          </a:solidFill>
          <a:ln/>
        </p:spPr>
        <p:txBody>
          <a:bodyPr/>
          <a:lstStyle/>
          <a:p>
            <a:endParaRPr lang="en-ZA"/>
          </a:p>
        </p:txBody>
      </p:sp>
      <p:sp>
        <p:nvSpPr>
          <p:cNvPr id="14" name="Text 12"/>
          <p:cNvSpPr/>
          <p:nvPr/>
        </p:nvSpPr>
        <p:spPr>
          <a:xfrm>
            <a:off x="640080" y="329184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188720" y="3246120"/>
            <a:ext cx="3657600" cy="365760"/>
          </a:xfrm>
          <a:prstGeom prst="rect">
            <a:avLst/>
          </a:prstGeom>
          <a:noFill/>
          <a:ln/>
        </p:spPr>
        <p:txBody>
          <a:bodyPr wrap="square" rtlCol="0" anchor="ctr"/>
          <a:lstStyle/>
          <a:p>
            <a:pPr marL="0" indent="0">
              <a:buNone/>
            </a:pPr>
            <a:r>
              <a:rPr lang="en-US" sz="1500" b="1" dirty="0">
                <a:solidFill>
                  <a:srgbClr val="111111"/>
                </a:solidFill>
                <a:latin typeface="Calibri" pitchFamily="34" charset="0"/>
                <a:ea typeface="Calibri" pitchFamily="34" charset="-122"/>
                <a:cs typeface="Calibri" pitchFamily="34" charset="-120"/>
              </a:rPr>
              <a:t>App opens on payday</a:t>
            </a:r>
            <a:endParaRPr lang="en-US" sz="1500" dirty="0"/>
          </a:p>
        </p:txBody>
      </p:sp>
      <p:sp>
        <p:nvSpPr>
          <p:cNvPr id="16" name="Text 14"/>
          <p:cNvSpPr/>
          <p:nvPr/>
        </p:nvSpPr>
        <p:spPr>
          <a:xfrm>
            <a:off x="1188720" y="3584448"/>
            <a:ext cx="3657600" cy="365760"/>
          </a:xfrm>
          <a:prstGeom prst="rect">
            <a:avLst/>
          </a:prstGeom>
          <a:noFill/>
          <a:ln/>
        </p:spPr>
        <p:txBody>
          <a:bodyPr wrap="square" rtlCol="0" anchor="ctr"/>
          <a:lstStyle/>
          <a:p>
            <a:pPr marL="0" indent="0">
              <a:buNone/>
            </a:pPr>
            <a:r>
              <a:rPr lang="en-US" sz="1200" dirty="0">
                <a:solidFill>
                  <a:srgbClr val="5A5A5A"/>
                </a:solidFill>
                <a:latin typeface="Calibri" pitchFamily="34" charset="0"/>
                <a:ea typeface="Calibri" pitchFamily="34" charset="-122"/>
                <a:cs typeface="Calibri" pitchFamily="34" charset="-120"/>
              </a:rPr>
              <a:t>Whether the calm notification gets attention</a:t>
            </a:r>
            <a:endParaRPr lang="en-US" sz="1200" dirty="0"/>
          </a:p>
        </p:txBody>
      </p:sp>
      <p:sp>
        <p:nvSpPr>
          <p:cNvPr id="17" name="Shape 15"/>
          <p:cNvSpPr/>
          <p:nvPr/>
        </p:nvSpPr>
        <p:spPr>
          <a:xfrm>
            <a:off x="5074920" y="3310128"/>
            <a:ext cx="1417320" cy="384048"/>
          </a:xfrm>
          <a:prstGeom prst="roundRect">
            <a:avLst>
              <a:gd name="adj" fmla="val 14286"/>
            </a:avLst>
          </a:prstGeom>
          <a:ln w="15875">
            <a:solidFill>
              <a:srgbClr val="C77800"/>
            </a:solidFill>
            <a:prstDash val="solid"/>
          </a:ln>
        </p:spPr>
        <p:txBody>
          <a:bodyPr/>
          <a:lstStyle/>
          <a:p>
            <a:endParaRPr lang="en-ZA"/>
          </a:p>
        </p:txBody>
      </p:sp>
      <p:sp>
        <p:nvSpPr>
          <p:cNvPr id="18" name="Text 16"/>
          <p:cNvSpPr/>
          <p:nvPr/>
        </p:nvSpPr>
        <p:spPr>
          <a:xfrm>
            <a:off x="5074920" y="3310128"/>
            <a:ext cx="1417320" cy="384048"/>
          </a:xfrm>
          <a:prstGeom prst="rect">
            <a:avLst/>
          </a:prstGeom>
          <a:noFill/>
          <a:ln/>
        </p:spPr>
        <p:txBody>
          <a:bodyPr wrap="square" rtlCol="0" anchor="ctr"/>
          <a:lstStyle/>
          <a:p>
            <a:pPr marL="0" indent="0" algn="ctr">
              <a:buNone/>
            </a:pPr>
            <a:r>
              <a:rPr lang="en-US" sz="1150" b="1" dirty="0">
                <a:solidFill>
                  <a:srgbClr val="C77800"/>
                </a:solidFill>
                <a:latin typeface="Calibri" pitchFamily="34" charset="0"/>
                <a:ea typeface="Calibri" pitchFamily="34" charset="-122"/>
                <a:cs typeface="Calibri" pitchFamily="34" charset="-120"/>
              </a:rPr>
              <a:t>Secondary</a:t>
            </a:r>
            <a:endParaRPr lang="en-US" sz="1150" dirty="0"/>
          </a:p>
        </p:txBody>
      </p:sp>
      <p:sp>
        <p:nvSpPr>
          <p:cNvPr id="19" name="Text 17"/>
          <p:cNvSpPr/>
          <p:nvPr/>
        </p:nvSpPr>
        <p:spPr>
          <a:xfrm>
            <a:off x="6720840" y="3273552"/>
            <a:ext cx="4846320" cy="685800"/>
          </a:xfrm>
          <a:prstGeom prst="rect">
            <a:avLst/>
          </a:prstGeom>
          <a:noFill/>
          <a:ln/>
        </p:spPr>
        <p:txBody>
          <a:bodyPr wrap="square" rtlCol="0" anchor="t"/>
          <a:lstStyle/>
          <a:p>
            <a:pPr marL="0" indent="0">
              <a:lnSpc>
                <a:spcPct val="115000"/>
              </a:lnSpc>
              <a:buNone/>
            </a:pPr>
            <a:r>
              <a:rPr lang="en-US" sz="1150" b="1" dirty="0">
                <a:solidFill>
                  <a:srgbClr val="C77800"/>
                </a:solidFill>
                <a:latin typeface="Calibri" pitchFamily="34" charset="0"/>
                <a:ea typeface="Calibri" pitchFamily="34" charset="-122"/>
                <a:cs typeface="Calibri" pitchFamily="34" charset="-120"/>
              </a:rPr>
              <a:t>Shows a habit forming around the moment, but not whether anyone is actually better off because of it.</a:t>
            </a:r>
            <a:endParaRPr lang="en-US" sz="1150" dirty="0"/>
          </a:p>
        </p:txBody>
      </p:sp>
      <p:sp>
        <p:nvSpPr>
          <p:cNvPr id="20" name="Shape 18"/>
          <p:cNvSpPr/>
          <p:nvPr/>
        </p:nvSpPr>
        <p:spPr>
          <a:xfrm>
            <a:off x="640080" y="4526280"/>
            <a:ext cx="365760" cy="365760"/>
          </a:xfrm>
          <a:prstGeom prst="ellipse">
            <a:avLst/>
          </a:prstGeom>
          <a:solidFill>
            <a:srgbClr val="EC592D"/>
          </a:solidFill>
          <a:ln/>
        </p:spPr>
        <p:txBody>
          <a:bodyPr/>
          <a:lstStyle/>
          <a:p>
            <a:endParaRPr lang="en-ZA"/>
          </a:p>
        </p:txBody>
      </p:sp>
      <p:sp>
        <p:nvSpPr>
          <p:cNvPr id="21" name="Text 19"/>
          <p:cNvSpPr/>
          <p:nvPr/>
        </p:nvSpPr>
        <p:spPr>
          <a:xfrm>
            <a:off x="640080" y="452628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1188720" y="4480560"/>
            <a:ext cx="3657600" cy="365760"/>
          </a:xfrm>
          <a:prstGeom prst="rect">
            <a:avLst/>
          </a:prstGeom>
          <a:noFill/>
          <a:ln/>
        </p:spPr>
        <p:txBody>
          <a:bodyPr wrap="square" rtlCol="0" anchor="ctr"/>
          <a:lstStyle/>
          <a:p>
            <a:pPr marL="0" indent="0">
              <a:buNone/>
            </a:pPr>
            <a:r>
              <a:rPr lang="en-US" sz="1500" b="1" dirty="0">
                <a:solidFill>
                  <a:srgbClr val="111111"/>
                </a:solidFill>
                <a:latin typeface="Calibri" pitchFamily="34" charset="0"/>
                <a:ea typeface="Calibri" pitchFamily="34" charset="-122"/>
                <a:cs typeface="Calibri" pitchFamily="34" charset="-120"/>
              </a:rPr>
              <a:t>Buffer balance &gt; 0</a:t>
            </a:r>
            <a:endParaRPr lang="en-US" sz="1500" dirty="0"/>
          </a:p>
        </p:txBody>
      </p:sp>
      <p:sp>
        <p:nvSpPr>
          <p:cNvPr id="23" name="Text 21"/>
          <p:cNvSpPr/>
          <p:nvPr/>
        </p:nvSpPr>
        <p:spPr>
          <a:xfrm>
            <a:off x="1188720" y="4818888"/>
            <a:ext cx="3657600" cy="365760"/>
          </a:xfrm>
          <a:prstGeom prst="rect">
            <a:avLst/>
          </a:prstGeom>
          <a:noFill/>
          <a:ln/>
        </p:spPr>
        <p:txBody>
          <a:bodyPr wrap="square" rtlCol="0" anchor="ctr"/>
          <a:lstStyle/>
          <a:p>
            <a:pPr marL="0" indent="0">
              <a:buNone/>
            </a:pPr>
            <a:r>
              <a:rPr lang="en-US" sz="1200" dirty="0">
                <a:solidFill>
                  <a:srgbClr val="5A5A5A"/>
                </a:solidFill>
                <a:latin typeface="Calibri" pitchFamily="34" charset="0"/>
                <a:ea typeface="Calibri" pitchFamily="34" charset="-122"/>
                <a:cs typeface="Calibri" pitchFamily="34" charset="-120"/>
              </a:rPr>
              <a:t>Whether a safety net survived the month</a:t>
            </a:r>
            <a:endParaRPr lang="en-US" sz="1200" dirty="0"/>
          </a:p>
        </p:txBody>
      </p:sp>
      <p:sp>
        <p:nvSpPr>
          <p:cNvPr id="24" name="Shape 22"/>
          <p:cNvSpPr/>
          <p:nvPr/>
        </p:nvSpPr>
        <p:spPr>
          <a:xfrm>
            <a:off x="5074920" y="4544568"/>
            <a:ext cx="1417320" cy="384048"/>
          </a:xfrm>
          <a:prstGeom prst="roundRect">
            <a:avLst>
              <a:gd name="adj" fmla="val 14286"/>
            </a:avLst>
          </a:prstGeom>
          <a:ln w="15875">
            <a:solidFill>
              <a:srgbClr val="1C8A3C"/>
            </a:solidFill>
            <a:prstDash val="solid"/>
          </a:ln>
        </p:spPr>
        <p:txBody>
          <a:bodyPr/>
          <a:lstStyle/>
          <a:p>
            <a:endParaRPr lang="en-ZA"/>
          </a:p>
        </p:txBody>
      </p:sp>
      <p:sp>
        <p:nvSpPr>
          <p:cNvPr id="25" name="Text 23"/>
          <p:cNvSpPr/>
          <p:nvPr/>
        </p:nvSpPr>
        <p:spPr>
          <a:xfrm>
            <a:off x="5074920" y="4544568"/>
            <a:ext cx="1417320" cy="384048"/>
          </a:xfrm>
          <a:prstGeom prst="rect">
            <a:avLst/>
          </a:prstGeom>
          <a:noFill/>
          <a:ln/>
        </p:spPr>
        <p:txBody>
          <a:bodyPr wrap="square" rtlCol="0" anchor="ctr"/>
          <a:lstStyle/>
          <a:p>
            <a:pPr marL="0" indent="0" algn="ctr">
              <a:buNone/>
            </a:pPr>
            <a:r>
              <a:rPr lang="en-US" sz="1150" b="1" dirty="0">
                <a:solidFill>
                  <a:srgbClr val="1C8A3C"/>
                </a:solidFill>
                <a:latin typeface="Calibri" pitchFamily="34" charset="0"/>
                <a:ea typeface="Calibri" pitchFamily="34" charset="-122"/>
                <a:cs typeface="Calibri" pitchFamily="34" charset="-120"/>
              </a:rPr>
              <a:t>Primary</a:t>
            </a:r>
            <a:endParaRPr lang="en-US" sz="1150" dirty="0"/>
          </a:p>
        </p:txBody>
      </p:sp>
      <p:sp>
        <p:nvSpPr>
          <p:cNvPr id="26" name="Text 24"/>
          <p:cNvSpPr/>
          <p:nvPr/>
        </p:nvSpPr>
        <p:spPr>
          <a:xfrm>
            <a:off x="6720840" y="4507992"/>
            <a:ext cx="4846320" cy="685800"/>
          </a:xfrm>
          <a:prstGeom prst="rect">
            <a:avLst/>
          </a:prstGeom>
          <a:noFill/>
          <a:ln/>
        </p:spPr>
        <p:txBody>
          <a:bodyPr wrap="square" rtlCol="0" anchor="t"/>
          <a:lstStyle/>
          <a:p>
            <a:pPr marL="0" indent="0">
              <a:lnSpc>
                <a:spcPct val="115000"/>
              </a:lnSpc>
              <a:buNone/>
            </a:pPr>
            <a:r>
              <a:rPr lang="en-US" sz="1150" b="1" dirty="0">
                <a:solidFill>
                  <a:srgbClr val="1C8A3C"/>
                </a:solidFill>
                <a:latin typeface="Calibri" pitchFamily="34" charset="0"/>
                <a:ea typeface="Calibri" pitchFamily="34" charset="-122"/>
                <a:cs typeface="Calibri" pitchFamily="34" charset="-120"/>
              </a:rPr>
              <a:t>Directly tests whether the design interrupted the loop, a habit that doesn't survive to next payday hasn't changed anything.</a:t>
            </a:r>
            <a:endParaRPr lang="en-US" sz="1150" dirty="0"/>
          </a:p>
        </p:txBody>
      </p:sp>
      <p:sp>
        <p:nvSpPr>
          <p:cNvPr id="27" name="Text 25"/>
          <p:cNvSpPr/>
          <p:nvPr/>
        </p:nvSpPr>
        <p:spPr>
          <a:xfrm>
            <a:off x="11365992" y="6446520"/>
            <a:ext cx="548640" cy="274320"/>
          </a:xfrm>
          <a:prstGeom prst="rect">
            <a:avLst/>
          </a:prstGeom>
          <a:noFill/>
          <a:ln/>
        </p:spPr>
        <p:txBody>
          <a:bodyPr wrap="square" rtlCol="0" anchor="ctr"/>
          <a:lstStyle/>
          <a:p>
            <a:pPr marL="0" indent="0" algn="r">
              <a:buNone/>
            </a:pPr>
            <a:r>
              <a:rPr lang="en-US" sz="1000" dirty="0">
                <a:solidFill>
                  <a:srgbClr val="8A8F9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0F1F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640080" y="502920"/>
            <a:ext cx="384048"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dirty="0">
                <a:solidFill>
                  <a:srgbClr val="FFFFFF"/>
                </a:solidFill>
                <a:latin typeface="Calibri" pitchFamily="34" charset="0"/>
                <a:ea typeface="Calibri" pitchFamily="34" charset="-122"/>
                <a:cs typeface="Calibri" pitchFamily="34" charset="-120"/>
              </a:rPr>
              <a:t>5</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70432" y="502920"/>
            <a:ext cx="73152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285EF6"/>
                </a:solidFill>
                <a:effectLst/>
                <a:uLnTx/>
                <a:uFillTx/>
                <a:latin typeface="Calibri" pitchFamily="34" charset="0"/>
                <a:ea typeface="Calibri" pitchFamily="34" charset="-122"/>
                <a:cs typeface="Calibri" pitchFamily="34" charset="-120"/>
              </a:rPr>
              <a:t>KEY DESIGN DECISIONS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40080" y="1051560"/>
            <a:ext cx="7315200" cy="7315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11111"/>
                </a:solidFill>
                <a:effectLst/>
                <a:uLnTx/>
                <a:uFillTx/>
                <a:latin typeface="Calibri" pitchFamily="34" charset="0"/>
                <a:ea typeface="Calibri" pitchFamily="34" charset="-122"/>
                <a:cs typeface="Calibri" pitchFamily="34" charset="-120"/>
              </a:rPr>
              <a:t>Designing the first few months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40080" y="2437818"/>
            <a:ext cx="6123577" cy="365760"/>
          </a:xfrm>
          <a:prstGeom prst="rect">
            <a:avLst/>
          </a:prstGeom>
          <a:noFill/>
          <a:ln/>
        </p:spPr>
        <p:txBody>
          <a:bodyPr wrap="square" rtlCol="0" anchor="ctr"/>
          <a:lstStyle/>
          <a:p>
            <a:r>
              <a:t>I made the Buffer a first-class financial object, not another savings account.</a:t>
            </a:r>
          </a:p>
          <a:p/>
        </p:txBody>
      </p:sp>
      <p:sp>
        <p:nvSpPr>
          <p:cNvPr id="7" name="Text 5"/>
          <p:cNvSpPr/>
          <p:nvPr/>
        </p:nvSpPr>
        <p:spPr>
          <a:xfrm>
            <a:off x="640080" y="2849298"/>
            <a:ext cx="6492240" cy="1737360"/>
          </a:xfrm>
          <a:prstGeom prst="rect">
            <a:avLst/>
          </a:prstGeom>
          <a:noFill/>
          <a:ln/>
        </p:spPr>
        <p:txBody>
          <a:bodyPr wrap="square" rtlCol="0" anchor="t"/>
          <a:lstStyle/>
          <a:p>
            <a:r>
              <a:rPr lang="en-ZA" sz="1200" dirty="0">
                <a:latin typeface="+mj-lt"/>
              </a:rPr>
              <a:t>The Buffer is deliberately surfaced during onboarding and throughout the experience as money that protects Thabo from falling below zero. I chose this because the research suggests that his primary measure of financial progress is not wealth accumulation yet; it is surviving the month with something left. </a:t>
            </a:r>
            <a:r>
              <a:rPr lang="en-ZA" sz="1200" dirty="0">
                <a:solidFill>
                  <a:schemeClr val="accent2"/>
                </a:solidFill>
                <a:latin typeface="+mj-lt"/>
              </a:rPr>
              <a:t>The alternative </a:t>
            </a:r>
            <a:r>
              <a:rPr lang="en-ZA" sz="1200" dirty="0">
                <a:latin typeface="+mj-lt"/>
              </a:rPr>
              <a:t>was to treat the buffer as a conventional savings goal alongside things like a phone, holiday or emergency fund. I rejected that because it would make an essential safety mechanism compete with aspirational goals. Strategically, RISE distinguishes between money that protects stability and money that funds ambition, making the hierarchy clearer. This also aligns directly with the success metric already defined in the case study: maintaining a buffer above zero</a:t>
            </a:r>
          </a:p>
          <a:p>
            <a:pPr marL="0" marR="0" lvl="0" indent="0" algn="l" defTabSz="914400" rtl="0" eaLnBrk="1" fontAlgn="auto" latinLnBrk="0" hangingPunct="1">
              <a:lnSpc>
                <a:spcPct val="12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11365992" y="6446520"/>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A8F98"/>
                </a:solidFill>
                <a:effectLst/>
                <a:uLnTx/>
                <a:uFillTx/>
                <a:latin typeface="Calibri" pitchFamily="34" charset="0"/>
                <a:ea typeface="Calibri" pitchFamily="34" charset="-122"/>
                <a:cs typeface="Calibri" pitchFamily="34" charset="-120"/>
              </a:rPr>
              <a:t>08</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0DFDC52A-568A-74F0-B13E-E7DAD46DA35B}"/>
              </a:ext>
            </a:extLst>
          </p:cNvPr>
          <p:cNvPicPr>
            <a:picLocks noChangeAspect="1"/>
          </p:cNvPicPr>
          <p:nvPr/>
        </p:nvPicPr>
        <p:blipFill>
          <a:blip r:embed="rId3"/>
          <a:stretch>
            <a:fillRect/>
          </a:stretch>
        </p:blipFill>
        <p:spPr>
          <a:xfrm>
            <a:off x="4726432" y="155303"/>
            <a:ext cx="9144000"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0F1F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640080" y="502920"/>
            <a:ext cx="384048"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dirty="0">
                <a:solidFill>
                  <a:srgbClr val="FFFFFF"/>
                </a:solidFill>
                <a:latin typeface="Calibri" pitchFamily="34" charset="0"/>
                <a:ea typeface="Calibri" pitchFamily="34" charset="-122"/>
                <a:cs typeface="Calibri" pitchFamily="34" charset="-120"/>
              </a:rPr>
              <a:t>5</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70432" y="502920"/>
            <a:ext cx="73152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285EF6"/>
                </a:solidFill>
                <a:effectLst/>
                <a:uLnTx/>
                <a:uFillTx/>
                <a:latin typeface="Calibri" pitchFamily="34" charset="0"/>
                <a:ea typeface="Calibri" pitchFamily="34" charset="-122"/>
                <a:cs typeface="Calibri" pitchFamily="34" charset="-120"/>
              </a:rPr>
              <a:t>KEY DESIGN DECISIONS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40080" y="1051560"/>
            <a:ext cx="7315200" cy="7315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11111"/>
                </a:solidFill>
                <a:effectLst/>
                <a:uLnTx/>
                <a:uFillTx/>
                <a:latin typeface="Calibri" pitchFamily="34" charset="0"/>
                <a:ea typeface="Calibri" pitchFamily="34" charset="-122"/>
                <a:cs typeface="Calibri" pitchFamily="34" charset="-120"/>
              </a:rPr>
              <a:t>Ask a question, learn at your pace</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4709160" y="1828800"/>
            <a:ext cx="68580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285EF6"/>
                </a:solidFill>
                <a:effectLst/>
                <a:uLnTx/>
                <a:uFillTx/>
                <a:latin typeface="Calibri" pitchFamily="34" charset="0"/>
                <a:ea typeface="Calibri" pitchFamily="34" charset="-122"/>
                <a:cs typeface="Calibri" pitchFamily="34" charset="-120"/>
              </a:rPr>
              <a:t>A quick-question channel, not a support ticket</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4709160" y="2240280"/>
            <a:ext cx="6858000" cy="1783080"/>
          </a:xfrm>
          <a:prstGeom prst="rect">
            <a:avLst/>
          </a:prstGeom>
          <a:noFill/>
          <a:ln/>
        </p:spPr>
        <p:txBody>
          <a:bodyPr wrap="square" rtlCol="0" anchor="t"/>
          <a:lstStyle/>
          <a:p>
            <a:pPr lvl="0" defTabSz="914400">
              <a:defRPr/>
            </a:pPr>
            <a:r>
              <a:rPr lang="en-ZA" sz="1200" dirty="0">
                <a:latin typeface="+mj-lt"/>
              </a:rPr>
              <a:t>The Ask RISE experience gives the user a clear place to ask financial questions and uses suggested prompts to reduce the anxiety of starting from a blank screen. I chose this because someone early in their financial life may not know the terminology required to search a help centre correctly, and embarrassment can prevent help-seeking altogether. </a:t>
            </a:r>
            <a:r>
              <a:rPr lang="en-ZA" sz="1200" dirty="0">
                <a:solidFill>
                  <a:schemeClr val="accent2"/>
                </a:solidFill>
                <a:latin typeface="+mj-lt"/>
              </a:rPr>
              <a:t>The alternative </a:t>
            </a:r>
            <a:r>
              <a:rPr lang="en-ZA" sz="1200" dirty="0">
                <a:latin typeface="+mj-lt"/>
              </a:rPr>
              <a:t>was an FAQ, chatbot hidden behind a support icon, or formal ticketing workflow. I rejected those because they optimise support operations rather than the psychological barrier identified in the research. RISE therefore treats asking for help as a normal banking behaviour, not an escalation. </a:t>
            </a:r>
            <a:endParaRPr kumimoji="0" lang="en-US" sz="1200" b="0" i="0" u="none" strike="noStrike" kern="1200" cap="none" spc="0" normalizeH="0" baseline="0" noProof="0" dirty="0">
              <a:ln>
                <a:noFill/>
              </a:ln>
              <a:solidFill>
                <a:prstClr val="black"/>
              </a:solidFill>
              <a:effectLst/>
              <a:uLnTx/>
              <a:uFillTx/>
              <a:latin typeface="+mj-lt"/>
              <a:ea typeface="+mn-ea"/>
              <a:cs typeface="+mn-cs"/>
            </a:endParaRPr>
          </a:p>
        </p:txBody>
      </p:sp>
      <p:sp>
        <p:nvSpPr>
          <p:cNvPr id="9" name="Text 6"/>
          <p:cNvSpPr/>
          <p:nvPr/>
        </p:nvSpPr>
        <p:spPr>
          <a:xfrm>
            <a:off x="4709160" y="4160520"/>
            <a:ext cx="68580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285EF6"/>
                </a:solidFill>
                <a:effectLst/>
                <a:uLnTx/>
                <a:uFillTx/>
                <a:latin typeface="Calibri" pitchFamily="34" charset="0"/>
                <a:ea typeface="Calibri" pitchFamily="34" charset="-122"/>
                <a:cs typeface="Calibri" pitchFamily="34" charset="-120"/>
              </a:rPr>
              <a:t>Progressive lessons, not a wall of terms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4709160" y="4572000"/>
            <a:ext cx="6858000" cy="1783080"/>
          </a:xfrm>
          <a:prstGeom prst="rect">
            <a:avLst/>
          </a:prstGeom>
          <a:noFill/>
          <a:ln/>
        </p:spPr>
        <p:txBody>
          <a:bodyPr wrap="square" rtlCol="0" anchor="t"/>
          <a:lstStyle/>
          <a:p>
            <a:pPr lvl="0" defTabSz="914400">
              <a:defRPr/>
            </a:pPr>
            <a:r>
              <a:rPr lang="en-ZA" sz="1200" dirty="0">
                <a:latin typeface="+mj-lt"/>
              </a:rPr>
              <a:t>Money 101 appears alongside everyday banking features rather than sitting in a separate learning portal. Lessons are short, progressive and connected to the kinds of financial decisions a first-job earner is already making. I chose this because financial education is most useful when it appears near the moment of uncertainty. </a:t>
            </a:r>
            <a:r>
              <a:rPr lang="en-ZA" sz="1200" dirty="0">
                <a:solidFill>
                  <a:schemeClr val="accent2"/>
                </a:solidFill>
                <a:latin typeface="+mj-lt"/>
              </a:rPr>
              <a:t>The alternative </a:t>
            </a:r>
            <a:r>
              <a:rPr lang="en-ZA" sz="1200" dirty="0">
                <a:latin typeface="+mj-lt"/>
              </a:rPr>
              <a:t>was</a:t>
            </a:r>
            <a:r>
              <a:rPr lang="en-ZA" sz="1200" dirty="0">
                <a:solidFill>
                  <a:schemeClr val="accent2"/>
                </a:solidFill>
                <a:latin typeface="+mj-lt"/>
              </a:rPr>
              <a:t> </a:t>
            </a:r>
            <a:r>
              <a:rPr lang="en-ZA" sz="1200" dirty="0">
                <a:latin typeface="+mj-lt"/>
              </a:rPr>
              <a:t>a traditional financial literacy hub containing articles, definitions and long-form content. I rejected that because it assumes users know what they need to learn and are motivated enough to search for it. The new design treats learning as contextual support, not homework, extending the original progressive-learning decision in the deck.</a:t>
            </a:r>
            <a:endParaRPr kumimoji="0" lang="en-US" sz="1200" b="0" i="0" u="none" strike="noStrike" kern="1200" cap="none" spc="0" normalizeH="0" baseline="0" noProof="0" dirty="0">
              <a:ln>
                <a:noFill/>
              </a:ln>
              <a:solidFill>
                <a:prstClr val="black"/>
              </a:solidFill>
              <a:effectLst/>
              <a:uLnTx/>
              <a:uFillTx/>
              <a:latin typeface="+mj-lt"/>
              <a:ea typeface="+mn-ea"/>
              <a:cs typeface="+mn-cs"/>
            </a:endParaRPr>
          </a:p>
        </p:txBody>
      </p:sp>
      <p:sp>
        <p:nvSpPr>
          <p:cNvPr id="11" name="Text 8"/>
          <p:cNvSpPr/>
          <p:nvPr/>
        </p:nvSpPr>
        <p:spPr>
          <a:xfrm>
            <a:off x="11365992" y="6446520"/>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A8F98"/>
                </a:solidFill>
                <a:effectLst/>
                <a:uLnTx/>
                <a:uFillTx/>
                <a:latin typeface="Calibri" pitchFamily="34" charset="0"/>
                <a:ea typeface="Calibri" pitchFamily="34" charset="-122"/>
                <a:cs typeface="Calibri" pitchFamily="34" charset="-120"/>
              </a:rPr>
              <a:t>09</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1DA58766-4118-2B54-73C1-76B9C37A9C2D}"/>
              </a:ext>
            </a:extLst>
          </p:cNvPr>
          <p:cNvPicPr>
            <a:picLocks noChangeAspect="1"/>
          </p:cNvPicPr>
          <p:nvPr/>
        </p:nvPicPr>
        <p:blipFill>
          <a:blip r:embed="rId3"/>
          <a:stretch>
            <a:fillRect/>
          </a:stretch>
        </p:blipFill>
        <p:spPr>
          <a:xfrm>
            <a:off x="-1204687" y="1132840"/>
            <a:ext cx="7708053" cy="578104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0F1F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640080" y="502920"/>
            <a:ext cx="384048"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dirty="0">
                <a:solidFill>
                  <a:srgbClr val="FFFFFF"/>
                </a:solidFill>
                <a:latin typeface="Calibri" pitchFamily="34" charset="0"/>
                <a:ea typeface="Calibri" pitchFamily="34" charset="-122"/>
                <a:cs typeface="Calibri" pitchFamily="34" charset="-120"/>
              </a:rPr>
              <a:t>5</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70432" y="502920"/>
            <a:ext cx="73152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285EF6"/>
                </a:solidFill>
                <a:effectLst/>
                <a:uLnTx/>
                <a:uFillTx/>
                <a:latin typeface="Calibri" pitchFamily="34" charset="0"/>
                <a:ea typeface="Calibri" pitchFamily="34" charset="-122"/>
                <a:cs typeface="Calibri" pitchFamily="34" charset="-120"/>
              </a:rPr>
              <a:t>KEY DESIGN DECISIONS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40080" y="1051560"/>
            <a:ext cx="9601200" cy="7315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11111"/>
                </a:solidFill>
                <a:effectLst/>
                <a:uLnTx/>
                <a:uFillTx/>
                <a:latin typeface="Calibri" pitchFamily="34" charset="0"/>
                <a:ea typeface="Calibri" pitchFamily="34" charset="-122"/>
                <a:cs typeface="Calibri" pitchFamily="34" charset="-120"/>
              </a:rPr>
              <a:t>Onboarding starts with context, not KYC</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6284686" y="2371453"/>
            <a:ext cx="6675120" cy="548640"/>
          </a:xfrm>
          <a:prstGeom prst="rect">
            <a:avLst/>
          </a:prstGeom>
          <a:noFill/>
          <a:ln/>
        </p:spPr>
        <p:txBody>
          <a:bodyPr wrap="square" rtlCol="0" anchor="ctr"/>
          <a:lstStyle/>
          <a:p>
            <a:pPr lvl="0" defTabSz="914400">
              <a:defRPr/>
            </a:pPr>
            <a:r>
              <a:rPr lang="en-ZA" sz="1450" b="1" dirty="0">
                <a:solidFill>
                  <a:srgbClr val="285EF6"/>
                </a:solidFill>
              </a:rPr>
              <a:t>Turned onboarding into progressive financial context gathering</a:t>
            </a:r>
            <a:endParaRPr kumimoji="0" lang="en-US" sz="1450" b="1" i="0" u="none" strike="noStrike" kern="1200" cap="none" spc="0" normalizeH="0" baseline="0" noProof="0" dirty="0">
              <a:ln>
                <a:noFill/>
              </a:ln>
              <a:solidFill>
                <a:srgbClr val="285EF6"/>
              </a:solidFill>
              <a:effectLst/>
              <a:uLnTx/>
              <a:uFillTx/>
              <a:latin typeface="Calibri" panose="020F0502020204030204"/>
              <a:ea typeface="+mn-ea"/>
              <a:cs typeface="+mn-cs"/>
            </a:endParaRPr>
          </a:p>
        </p:txBody>
      </p:sp>
      <p:sp>
        <p:nvSpPr>
          <p:cNvPr id="8" name="Text 5"/>
          <p:cNvSpPr/>
          <p:nvPr/>
        </p:nvSpPr>
        <p:spPr>
          <a:xfrm>
            <a:off x="6284686" y="2909934"/>
            <a:ext cx="5416586" cy="2743200"/>
          </a:xfrm>
          <a:prstGeom prst="rect">
            <a:avLst/>
          </a:prstGeom>
          <a:noFill/>
          <a:ln/>
        </p:spPr>
        <p:txBody>
          <a:bodyPr wrap="square" rtlCol="0" anchor="t"/>
          <a:lstStyle/>
          <a:p>
            <a:pPr lvl="0" defTabSz="914400">
              <a:defRPr/>
            </a:pPr>
            <a:r>
              <a:rPr lang="en-ZA" sz="1200" dirty="0">
                <a:latin typeface="+mj-lt"/>
              </a:rPr>
              <a:t>The onboarding flow now asks a sequence of lightweight questions about employment stage, income and financial priorities instead of collecting everything on one dense screen. This allows RISE to begin understanding Thabo's financial reality before presenting recommendations. I chose progressive disclosure because income alone does not tell us whether someone is stable: a newly employed person, someone on probation and someone several months into a role may earn the same salary but require very different support. </a:t>
            </a:r>
            <a:r>
              <a:rPr lang="en-ZA" sz="1200" dirty="0">
                <a:solidFill>
                  <a:schemeClr val="accent2"/>
                </a:solidFill>
                <a:latin typeface="+mj-lt"/>
              </a:rPr>
              <a:t>The alternative </a:t>
            </a:r>
            <a:r>
              <a:rPr lang="en-ZA" sz="1200" dirty="0">
                <a:latin typeface="+mj-lt"/>
              </a:rPr>
              <a:t>was conventional KYC-first onboarding with identity, contact and income information presented as one compliance-heavy sequence. I rejected that as the dominant experience because it tells the bank who the customer is, but not what financial transition they are currently navigating.</a:t>
            </a:r>
            <a:endParaRPr kumimoji="0" lang="en-US" sz="1200" b="0" i="0" u="none" strike="noStrike" kern="1200" cap="none" spc="0" normalizeH="0" baseline="0" noProof="0" dirty="0">
              <a:ln>
                <a:noFill/>
              </a:ln>
              <a:solidFill>
                <a:prstClr val="black"/>
              </a:solidFill>
              <a:effectLst/>
              <a:uLnTx/>
              <a:uFillTx/>
              <a:latin typeface="+mj-lt"/>
              <a:ea typeface="+mn-ea"/>
              <a:cs typeface="+mn-cs"/>
            </a:endParaRPr>
          </a:p>
        </p:txBody>
      </p:sp>
      <p:sp>
        <p:nvSpPr>
          <p:cNvPr id="9" name="Text 6"/>
          <p:cNvSpPr/>
          <p:nvPr/>
        </p:nvSpPr>
        <p:spPr>
          <a:xfrm>
            <a:off x="11365992" y="6446520"/>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A8F98"/>
                </a:solidFill>
                <a:effectLst/>
                <a:uLnTx/>
                <a:uFillTx/>
                <a:latin typeface="Calibri" pitchFamily="34" charset="0"/>
                <a:ea typeface="Calibri" pitchFamily="34" charset="-122"/>
                <a:cs typeface="Calibri" pitchFamily="34" charset="-120"/>
              </a:rPr>
              <a:t>10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8F5F0282-984C-691E-6132-155468719742}"/>
              </a:ext>
            </a:extLst>
          </p:cNvPr>
          <p:cNvPicPr>
            <a:picLocks noChangeAspect="1"/>
          </p:cNvPicPr>
          <p:nvPr/>
        </p:nvPicPr>
        <p:blipFill>
          <a:blip r:embed="rId3"/>
          <a:stretch>
            <a:fillRect/>
          </a:stretch>
        </p:blipFill>
        <p:spPr>
          <a:xfrm>
            <a:off x="-319315" y="1445262"/>
            <a:ext cx="7155543" cy="536665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C77FB-3C1D-C8DF-02C4-12F8BCE57FC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3B0B524-A201-4CFE-1D94-46AE8D4D7F31}"/>
              </a:ext>
            </a:extLst>
          </p:cNvPr>
          <p:cNvSpPr/>
          <p:nvPr/>
        </p:nvSpPr>
        <p:spPr>
          <a:xfrm>
            <a:off x="640080" y="502920"/>
            <a:ext cx="384048" cy="384048"/>
          </a:xfrm>
          <a:prstGeom prst="ellipse">
            <a:avLst/>
          </a:prstGeom>
          <a:solidFill>
            <a:srgbClr val="0F1F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03870603-E1C3-17F4-E19F-BD5ADC5453A0}"/>
              </a:ext>
            </a:extLst>
          </p:cNvPr>
          <p:cNvSpPr/>
          <p:nvPr/>
        </p:nvSpPr>
        <p:spPr>
          <a:xfrm>
            <a:off x="640080" y="502920"/>
            <a:ext cx="384048"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dirty="0">
                <a:solidFill>
                  <a:srgbClr val="FFFFFF"/>
                </a:solidFill>
                <a:latin typeface="Calibri" pitchFamily="34" charset="0"/>
                <a:ea typeface="Calibri" pitchFamily="34" charset="-122"/>
                <a:cs typeface="Calibri" pitchFamily="34" charset="-120"/>
              </a:rPr>
              <a:t>5</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EF9C7EE1-54FC-B040-6414-8D89023FF395}"/>
              </a:ext>
            </a:extLst>
          </p:cNvPr>
          <p:cNvSpPr/>
          <p:nvPr/>
        </p:nvSpPr>
        <p:spPr>
          <a:xfrm>
            <a:off x="1170432" y="502920"/>
            <a:ext cx="73152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285EF6"/>
                </a:solidFill>
                <a:effectLst/>
                <a:uLnTx/>
                <a:uFillTx/>
                <a:latin typeface="Calibri" pitchFamily="34" charset="0"/>
                <a:ea typeface="Calibri" pitchFamily="34" charset="-122"/>
                <a:cs typeface="Calibri" pitchFamily="34" charset="-120"/>
              </a:rPr>
              <a:t>KEY DESIGN DECISIONS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25BD7876-7141-1A69-4E7E-A49A1D00B514}"/>
              </a:ext>
            </a:extLst>
          </p:cNvPr>
          <p:cNvSpPr/>
          <p:nvPr/>
        </p:nvSpPr>
        <p:spPr>
          <a:xfrm>
            <a:off x="640080" y="1051560"/>
            <a:ext cx="7315200" cy="731520"/>
          </a:xfrm>
          <a:prstGeom prst="rect">
            <a:avLst/>
          </a:prstGeom>
          <a:noFill/>
          <a:ln/>
        </p:spPr>
        <p:txBody>
          <a:bodyPr wrap="square" rtlCol="0" anchor="t"/>
          <a:lstStyle/>
          <a:p>
            <a:pPr lvl="0" defTabSz="914400">
              <a:defRPr/>
            </a:pPr>
            <a:r>
              <a:rPr lang="en-ZA" sz="3000" b="1" dirty="0"/>
              <a:t>Buffer warning to intervene before the problem becomes a crisis</a:t>
            </a:r>
            <a:endParaRPr kumimoji="0" lang="en-US" sz="3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32F1B291-EA2A-0CE0-A155-218F645E471D}"/>
              </a:ext>
            </a:extLst>
          </p:cNvPr>
          <p:cNvSpPr/>
          <p:nvPr/>
        </p:nvSpPr>
        <p:spPr>
          <a:xfrm>
            <a:off x="640080" y="2866133"/>
            <a:ext cx="6123577" cy="365760"/>
          </a:xfrm>
          <a:prstGeom prst="rect">
            <a:avLst/>
          </a:prstGeom>
          <a:noFill/>
          <a:ln/>
        </p:spPr>
        <p:txBody>
          <a:bodyPr wrap="square" rtlCol="0" anchor="ctr"/>
          <a:lstStyle/>
          <a:p>
            <a:pPr lvl="0" defTabSz="914400">
              <a:defRPr/>
            </a:pPr>
            <a:r>
              <a:rPr lang="en-ZA" sz="1600" b="1" dirty="0">
                <a:solidFill>
                  <a:schemeClr val="accent1"/>
                </a:solidFill>
              </a:rPr>
              <a:t>Warn before the buffer breaks, not after the balance is gone</a:t>
            </a:r>
            <a:endParaRPr kumimoji="0" lang="en-US" sz="1450" b="1" i="0" u="none" strike="noStrike" kern="1200" cap="none" spc="0" normalizeH="0" baseline="0" noProof="0" dirty="0">
              <a:ln>
                <a:noFill/>
              </a:ln>
              <a:solidFill>
                <a:schemeClr val="accent1"/>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8C992423-1052-CCD5-BD9A-FFB56AF1EA24}"/>
              </a:ext>
            </a:extLst>
          </p:cNvPr>
          <p:cNvSpPr/>
          <p:nvPr/>
        </p:nvSpPr>
        <p:spPr>
          <a:xfrm>
            <a:off x="640080" y="3277613"/>
            <a:ext cx="6492240" cy="1737360"/>
          </a:xfrm>
          <a:prstGeom prst="rect">
            <a:avLst/>
          </a:prstGeom>
          <a:noFill/>
          <a:ln/>
        </p:spPr>
        <p:txBody>
          <a:bodyPr wrap="square" rtlCol="0" anchor="t"/>
          <a:lstStyle/>
          <a:p>
            <a:pPr lvl="0" defTabSz="914400">
              <a:defRPr/>
            </a:pPr>
            <a:r>
              <a:rPr lang="en-ZA" sz="1200" dirty="0">
                <a:latin typeface="+mj-lt"/>
              </a:rPr>
              <a:t>RISE warns the user when an action is likely to reduce their protected buffer, rather than waiting until the account is already low. I considered a conventional fixed-threshold alert, but rejected it because it reacts too late and ignores upcoming obligations. The warning instead uses the user’s financial context to show what may happen next, how much remains safe to spend, and what action can protect their breathing room. This turns the alert from a notification into a decision-support moment. Strategically, this is where RISE moves beyond a normal banking app. Most banking products tell users when money is low. RISE tries to predict when their financial breathing room is about to disappear.</a:t>
            </a:r>
            <a:endParaRPr kumimoji="0" lang="en-US" sz="1200" i="0" u="none" strike="noStrike" kern="1200" cap="none" spc="0" normalizeH="0" baseline="0" noProof="0" dirty="0">
              <a:ln>
                <a:noFill/>
              </a:ln>
              <a:solidFill>
                <a:prstClr val="black"/>
              </a:solidFill>
              <a:effectLst/>
              <a:uLnTx/>
              <a:uFillTx/>
              <a:latin typeface="+mj-lt"/>
              <a:ea typeface="+mn-ea"/>
              <a:cs typeface="+mn-cs"/>
            </a:endParaRPr>
          </a:p>
        </p:txBody>
      </p:sp>
      <p:sp>
        <p:nvSpPr>
          <p:cNvPr id="11" name="Text 8">
            <a:extLst>
              <a:ext uri="{FF2B5EF4-FFF2-40B4-BE49-F238E27FC236}">
                <a16:creationId xmlns:a16="http://schemas.microsoft.com/office/drawing/2014/main" id="{9D3AE94B-9BA9-3F9F-B930-537D42EBDEF7}"/>
              </a:ext>
            </a:extLst>
          </p:cNvPr>
          <p:cNvSpPr/>
          <p:nvPr/>
        </p:nvSpPr>
        <p:spPr>
          <a:xfrm>
            <a:off x="11365992" y="6446520"/>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0" dirty="0">
                <a:solidFill>
                  <a:srgbClr val="8A8F98"/>
                </a:solidFill>
                <a:latin typeface="Calibri" pitchFamily="34" charset="0"/>
                <a:ea typeface="Calibri" pitchFamily="34" charset="-122"/>
                <a:cs typeface="Calibri" pitchFamily="34" charset="-120"/>
              </a:rPr>
              <a:t>11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3D1DBAA1-4034-617D-E863-023560F182E4}"/>
              </a:ext>
            </a:extLst>
          </p:cNvPr>
          <p:cNvPicPr>
            <a:picLocks noChangeAspect="1"/>
          </p:cNvPicPr>
          <p:nvPr/>
        </p:nvPicPr>
        <p:blipFill>
          <a:blip r:embed="rId3"/>
          <a:stretch>
            <a:fillRect/>
          </a:stretch>
        </p:blipFill>
        <p:spPr>
          <a:xfrm>
            <a:off x="4630058" y="349508"/>
            <a:ext cx="8940800" cy="6705600"/>
          </a:xfrm>
          <a:prstGeom prst="rect">
            <a:avLst/>
          </a:prstGeom>
        </p:spPr>
      </p:pic>
      <p:sp>
        <p:nvSpPr>
          <p:cNvPr id="12" name="Rounded Rectangle 11"/>
          <p:cNvSpPr/>
          <p:nvPr/>
        </p:nvSpPr>
        <p:spPr>
          <a:xfrm>
            <a:off x="594360" y="1097280"/>
            <a:ext cx="4160520" cy="594360"/>
          </a:xfrm>
          <a:prstGeom prst="roundRect">
            <a:avLst/>
          </a:prstGeom>
          <a:solidFill>
            <a:srgbClr val="EEF4FF"/>
          </a:solidFill>
          <a:ln>
            <a:solidFill>
              <a:srgbClr val="285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170432"/>
            <a:ext cx="3886200" cy="438912"/>
          </a:xfrm>
          <a:prstGeom prst="rect">
            <a:avLst/>
          </a:prstGeom>
          <a:noFill/>
        </p:spPr>
        <p:txBody>
          <a:bodyPr wrap="square">
            <a:spAutoFit/>
          </a:bodyPr>
          <a:lstStyle/>
          <a:p>
            <a:r>
              <a:rPr sz="1050" b="0">
                <a:solidFill>
                  <a:srgbClr val="071846"/>
                </a:solidFill>
              </a:rPr>
              <a:t>Accessibility checks: readable 16px+ text, visible focus states, clear risk colours with supporting labels, and large tap targets.</a:t>
            </a:r>
          </a:p>
        </p:txBody>
      </p:sp>
    </p:spTree>
    <p:extLst>
      <p:ext uri="{BB962C8B-B14F-4D97-AF65-F5344CB8AC3E}">
        <p14:creationId xmlns:p14="http://schemas.microsoft.com/office/powerpoint/2010/main" val="15064163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062984" cy="41148"/>
          </a:xfrm>
          <a:prstGeom prst="rect">
            <a:avLst/>
          </a:prstGeom>
          <a:solidFill>
            <a:srgbClr val="285E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062984" y="0"/>
            <a:ext cx="4062984" cy="41148"/>
          </a:xfrm>
          <a:prstGeom prst="rect">
            <a:avLst/>
          </a:prstGeom>
          <a:solidFill>
            <a:srgbClr val="EC592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125968" y="0"/>
            <a:ext cx="4062984" cy="41148"/>
          </a:xfrm>
          <a:prstGeom prst="rect">
            <a:avLst/>
          </a:prstGeom>
          <a:solidFill>
            <a:srgbClr val="1C8A3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365992" y="6446520"/>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A8F98"/>
                </a:solidFill>
                <a:effectLst/>
                <a:uLnTx/>
                <a:uFillTx/>
                <a:latin typeface="Calibri" pitchFamily="34" charset="0"/>
                <a:ea typeface="Calibri" pitchFamily="34" charset="-122"/>
                <a:cs typeface="Calibri" pitchFamily="34" charset="-120"/>
              </a:rPr>
              <a:t>11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40080" y="411480"/>
            <a:ext cx="7315200" cy="731520"/>
          </a:xfrm>
          <a:prstGeom prst="rect">
            <a:avLst/>
          </a:prstGeom>
          <a:noFill/>
          <a:ln/>
        </p:spPr>
        <p:txBody>
          <a:bodyPr wrap="square" rtlCol="0" anchor="t"/>
          <a:lstStyle/>
          <a:p>
            <a:r>
              <a:rPr sz="3800" b="1">
                <a:solidFill>
                  <a:srgbClr val="111111"/>
                </a:solidFill>
              </a:rPr>
              <a:t>Design system + accessibility</a:t>
            </a:r>
          </a:p>
        </p:txBody>
      </p:sp>
      <p:sp>
        <p:nvSpPr>
          <p:cNvPr id="8" name="Text 6"/>
          <p:cNvSpPr/>
          <p:nvPr/>
        </p:nvSpPr>
        <p:spPr>
          <a:xfrm>
            <a:off x="640080" y="914400"/>
            <a:ext cx="7315200" cy="365760"/>
          </a:xfrm>
          <a:prstGeom prst="rect">
            <a:avLst/>
          </a:prstGeom>
          <a:noFill/>
          <a:ln/>
        </p:spPr>
        <p:txBody>
          <a:bodyPr wrap="square" rtlCol="0" anchor="ctr"/>
          <a:lstStyle/>
          <a:p>
            <a:r>
              <a:rPr sz="1500" b="0">
                <a:solidFill>
                  <a:srgbClr val="464646"/>
                </a:solidFill>
              </a:rPr>
              <a:t>Visual language, interaction states and basic accessibility considerations used across the RISE prototype.</a:t>
            </a:r>
          </a:p>
        </p:txBody>
      </p:sp>
      <p:sp>
        <p:nvSpPr>
          <p:cNvPr id="39" name="Text 37"/>
          <p:cNvSpPr/>
          <p:nvPr/>
        </p:nvSpPr>
        <p:spPr>
          <a:xfrm>
            <a:off x="6309360" y="1234440"/>
            <a:ext cx="52120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11111"/>
                </a:solidFill>
                <a:effectLst/>
                <a:uLnTx/>
                <a:uFillTx/>
                <a:latin typeface="Calibri" pitchFamily="34" charset="0"/>
                <a:ea typeface="Calibri" pitchFamily="34" charset="-122"/>
                <a:cs typeface="Calibri" pitchFamily="34" charset="-120"/>
              </a:rPr>
              <a:t>Typography - base 16, scale 1.25</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6309360" y="1645920"/>
            <a:ext cx="27432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111111"/>
                </a:solidFill>
                <a:effectLst/>
                <a:uLnTx/>
                <a:uFillTx/>
                <a:latin typeface="Mangal" panose="020B0502040204020203" pitchFamily="18" charset="0"/>
                <a:ea typeface="Calibri" pitchFamily="34" charset="-122"/>
                <a:cs typeface="Mangal" panose="020B0502040204020203" pitchFamily="18" charset="0"/>
              </a:rPr>
              <a:t>H1</a:t>
            </a:r>
            <a:endParaRPr kumimoji="0" lang="en-US" sz="3400" b="0" i="0" u="none" strike="noStrike" kern="1200" cap="none" spc="0" normalizeH="0" baseline="0" noProof="0" dirty="0">
              <a:ln>
                <a:noFill/>
              </a:ln>
              <a:solidFill>
                <a:prstClr val="black"/>
              </a:solidFill>
              <a:effectLst/>
              <a:uLnTx/>
              <a:uFillTx/>
              <a:latin typeface="Mangal" panose="020B0502040204020203" pitchFamily="18" charset="0"/>
              <a:cs typeface="Mangal" panose="020B0502040204020203" pitchFamily="18" charset="0"/>
            </a:endParaRPr>
          </a:p>
        </p:txBody>
      </p:sp>
      <p:sp>
        <p:nvSpPr>
          <p:cNvPr id="41" name="Text 39"/>
          <p:cNvSpPr/>
          <p:nvPr/>
        </p:nvSpPr>
        <p:spPr>
          <a:xfrm>
            <a:off x="9144000" y="1645920"/>
            <a:ext cx="237744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8F98"/>
                </a:solidFill>
                <a:effectLst/>
                <a:uLnTx/>
                <a:uFillTx/>
                <a:latin typeface="Calibri" pitchFamily="34" charset="0"/>
                <a:ea typeface="Calibri" pitchFamily="34" charset="-122"/>
                <a:cs typeface="Calibri" pitchFamily="34" charset="-120"/>
              </a:rPr>
              <a:t>60px / 3.813rem</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p:cNvSpPr/>
          <p:nvPr/>
        </p:nvSpPr>
        <p:spPr>
          <a:xfrm>
            <a:off x="6309360" y="2212848"/>
            <a:ext cx="27432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11111"/>
                </a:solidFill>
                <a:effectLst/>
                <a:uLnTx/>
                <a:uFillTx/>
                <a:latin typeface="Calibri" pitchFamily="34" charset="0"/>
                <a:ea typeface="Calibri" pitchFamily="34" charset="-122"/>
                <a:cs typeface="Calibri" pitchFamily="34" charset="-120"/>
              </a:rPr>
              <a:t>H2</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p:cNvSpPr/>
          <p:nvPr/>
        </p:nvSpPr>
        <p:spPr>
          <a:xfrm>
            <a:off x="9144000" y="2212848"/>
            <a:ext cx="237744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8F98"/>
                </a:solidFill>
                <a:effectLst/>
                <a:uLnTx/>
                <a:uFillTx/>
                <a:latin typeface="Calibri" pitchFamily="34" charset="0"/>
                <a:ea typeface="Calibri" pitchFamily="34" charset="-122"/>
                <a:cs typeface="Calibri" pitchFamily="34" charset="-120"/>
              </a:rPr>
              <a:t>39px / 2.438rem</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6309360" y="2779776"/>
            <a:ext cx="27432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11111"/>
                </a:solidFill>
                <a:effectLst/>
                <a:uLnTx/>
                <a:uFillTx/>
                <a:latin typeface="Calibri" pitchFamily="34" charset="0"/>
                <a:ea typeface="Calibri" pitchFamily="34" charset="-122"/>
                <a:cs typeface="Calibri" pitchFamily="34" charset="-120"/>
              </a:rPr>
              <a:t>H4</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p:cNvSpPr/>
          <p:nvPr/>
        </p:nvSpPr>
        <p:spPr>
          <a:xfrm>
            <a:off x="9144000" y="2779776"/>
            <a:ext cx="237744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8F98"/>
                </a:solidFill>
                <a:effectLst/>
                <a:uLnTx/>
                <a:uFillTx/>
                <a:latin typeface="Calibri" pitchFamily="34" charset="0"/>
                <a:ea typeface="Calibri" pitchFamily="34" charset="-122"/>
                <a:cs typeface="Calibri" pitchFamily="34" charset="-120"/>
              </a:rPr>
              <a:t>31px / 1.938rem</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4"/>
          <p:cNvSpPr/>
          <p:nvPr/>
        </p:nvSpPr>
        <p:spPr>
          <a:xfrm>
            <a:off x="6309360" y="3346704"/>
            <a:ext cx="27432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1111"/>
                </a:solidFill>
                <a:effectLst/>
                <a:uLnTx/>
                <a:uFillTx/>
                <a:latin typeface="Calibri" pitchFamily="34" charset="0"/>
                <a:ea typeface="Calibri" pitchFamily="34" charset="-122"/>
                <a:cs typeface="Calibri" pitchFamily="34" charset="-120"/>
              </a:rPr>
              <a:t>Text heading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45"/>
          <p:cNvSpPr/>
          <p:nvPr/>
        </p:nvSpPr>
        <p:spPr>
          <a:xfrm>
            <a:off x="9144000" y="3346704"/>
            <a:ext cx="237744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8F98"/>
                </a:solidFill>
                <a:effectLst/>
                <a:uLnTx/>
                <a:uFillTx/>
                <a:latin typeface="Calibri" pitchFamily="34" charset="0"/>
                <a:ea typeface="Calibri" pitchFamily="34" charset="-122"/>
                <a:cs typeface="Calibri" pitchFamily="34" charset="-120"/>
              </a:rPr>
              <a:t>24px / 1.563rem</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6"/>
          <p:cNvSpPr/>
          <p:nvPr/>
        </p:nvSpPr>
        <p:spPr>
          <a:xfrm>
            <a:off x="6309360" y="3913632"/>
            <a:ext cx="27432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11111"/>
                </a:solidFill>
                <a:effectLst/>
                <a:uLnTx/>
                <a:uFillTx/>
                <a:latin typeface="Calibri" pitchFamily="34" charset="0"/>
                <a:ea typeface="Calibri" pitchFamily="34" charset="-122"/>
                <a:cs typeface="Calibri" pitchFamily="34" charset="-120"/>
              </a:rPr>
              <a:t>Text body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47"/>
          <p:cNvSpPr/>
          <p:nvPr/>
        </p:nvSpPr>
        <p:spPr>
          <a:xfrm>
            <a:off x="9144000" y="3913632"/>
            <a:ext cx="237744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8F98"/>
                </a:solidFill>
                <a:effectLst/>
                <a:uLnTx/>
                <a:uFillTx/>
                <a:latin typeface="Calibri" pitchFamily="34" charset="0"/>
                <a:ea typeface="Calibri" pitchFamily="34" charset="-122"/>
                <a:cs typeface="Calibri" pitchFamily="34" charset="-120"/>
              </a:rPr>
              <a:t>20px / 1.250rem</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8"/>
          <p:cNvSpPr/>
          <p:nvPr/>
        </p:nvSpPr>
        <p:spPr>
          <a:xfrm>
            <a:off x="6309360" y="4480560"/>
            <a:ext cx="27432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11111"/>
                </a:solidFill>
                <a:effectLst/>
                <a:uLnTx/>
                <a:uFillTx/>
                <a:latin typeface="Calibri" pitchFamily="34" charset="0"/>
                <a:ea typeface="Calibri" pitchFamily="34" charset="-122"/>
                <a:cs typeface="Calibri" pitchFamily="34" charset="-120"/>
              </a:rPr>
              <a:t>Text label</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9"/>
          <p:cNvSpPr/>
          <p:nvPr/>
        </p:nvSpPr>
        <p:spPr>
          <a:xfrm>
            <a:off x="9144000" y="4480560"/>
            <a:ext cx="237744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8F98"/>
                </a:solidFill>
                <a:effectLst/>
                <a:uLnTx/>
                <a:uFillTx/>
                <a:latin typeface="Calibri" pitchFamily="34" charset="0"/>
                <a:ea typeface="Calibri" pitchFamily="34" charset="-122"/>
                <a:cs typeface="Calibri" pitchFamily="34" charset="-120"/>
              </a:rPr>
              <a:t>16px / 1.000rem</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Shape 50"/>
          <p:cNvSpPr/>
          <p:nvPr/>
        </p:nvSpPr>
        <p:spPr>
          <a:xfrm>
            <a:off x="6309360" y="5138928"/>
            <a:ext cx="5212080" cy="1554480"/>
          </a:xfrm>
          <a:prstGeom prst="rect">
            <a:avLst/>
          </a:prstGeom>
          <a:solidFill>
            <a:schemeClr val="bg1"/>
          </a:solidFill>
          <a:ln/>
        </p:spPr>
        <p:style>
          <a:lnRef idx="2">
            <a:schemeClr val="accent2"/>
          </a:lnRef>
          <a:fillRef idx="1">
            <a:schemeClr val="lt1"/>
          </a:fillRef>
          <a:effectRef idx="0">
            <a:schemeClr val="accent2"/>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Text 51"/>
          <p:cNvSpPr/>
          <p:nvPr/>
        </p:nvSpPr>
        <p:spPr>
          <a:xfrm>
            <a:off x="6492240" y="5276088"/>
            <a:ext cx="27432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11111"/>
                </a:solidFill>
                <a:effectLst/>
                <a:uLnTx/>
                <a:uFillTx/>
                <a:latin typeface="Calibri" pitchFamily="34" charset="0"/>
                <a:ea typeface="Calibri" pitchFamily="34" charset="-122"/>
                <a:cs typeface="Calibri" pitchFamily="34" charset="-120"/>
              </a:rPr>
              <a:t>Radius scale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Text 52"/>
          <p:cNvSpPr/>
          <p:nvPr/>
        </p:nvSpPr>
        <p:spPr>
          <a:xfrm>
            <a:off x="6492240" y="5577840"/>
            <a:ext cx="484632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A5A5A"/>
                </a:solidFill>
                <a:effectLst/>
                <a:uLnTx/>
                <a:uFillTx/>
                <a:latin typeface="Calibri" pitchFamily="34" charset="0"/>
                <a:ea typeface="Calibri" pitchFamily="34" charset="-122"/>
                <a:cs typeface="Calibri" pitchFamily="34" charset="-120"/>
              </a:rPr>
              <a:t>xs 4  ·  sm 8  ·  md 12  ·  lg 16   (base 4, step 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3"/>
          <p:cNvSpPr/>
          <p:nvPr/>
        </p:nvSpPr>
        <p:spPr>
          <a:xfrm>
            <a:off x="6492240" y="5916168"/>
            <a:ext cx="27432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11111"/>
                </a:solidFill>
                <a:effectLst/>
                <a:uLnTx/>
                <a:uFillTx/>
                <a:latin typeface="Calibri" pitchFamily="34" charset="0"/>
                <a:ea typeface="Calibri" pitchFamily="34" charset="-122"/>
                <a:cs typeface="Calibri" pitchFamily="34" charset="-120"/>
              </a:rPr>
              <a:t>Buttons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4"/>
          <p:cNvSpPr/>
          <p:nvPr/>
        </p:nvSpPr>
        <p:spPr>
          <a:xfrm>
            <a:off x="6492240" y="6190488"/>
            <a:ext cx="484632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A5A5A"/>
                </a:solidFill>
                <a:effectLst/>
                <a:uLnTx/>
                <a:uFillTx/>
                <a:latin typeface="Calibri" pitchFamily="34" charset="0"/>
                <a:ea typeface="Calibri" pitchFamily="34" charset="-122"/>
                <a:cs typeface="Calibri" pitchFamily="34" charset="-120"/>
              </a:rPr>
              <a:t>Primary: Action Blue fill, white text  ·  Disabled: Blue-100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Rounded Rectangle 10">
            <a:extLst>
              <a:ext uri="{FF2B5EF4-FFF2-40B4-BE49-F238E27FC236}">
                <a16:creationId xmlns:a16="http://schemas.microsoft.com/office/drawing/2014/main" id="{7B3AE48C-5D54-C335-1522-808059B777CC}"/>
              </a:ext>
            </a:extLst>
          </p:cNvPr>
          <p:cNvSpPr/>
          <p:nvPr/>
        </p:nvSpPr>
        <p:spPr>
          <a:xfrm>
            <a:off x="804672" y="1579880"/>
            <a:ext cx="1700784" cy="914400"/>
          </a:xfrm>
          <a:prstGeom prst="roundRect">
            <a:avLst>
              <a:gd name="adj" fmla="val 6000"/>
            </a:avLst>
          </a:prstGeom>
          <a:solidFill>
            <a:srgbClr val="FFFFFF"/>
          </a:solidFill>
          <a:ln w="9525">
            <a:solidFill>
              <a:srgbClr val="DCE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a:extLst>
              <a:ext uri="{FF2B5EF4-FFF2-40B4-BE49-F238E27FC236}">
                <a16:creationId xmlns:a16="http://schemas.microsoft.com/office/drawing/2014/main" id="{4DD6E400-C333-7876-F764-D009102BD653}"/>
              </a:ext>
            </a:extLst>
          </p:cNvPr>
          <p:cNvSpPr/>
          <p:nvPr/>
        </p:nvSpPr>
        <p:spPr>
          <a:xfrm>
            <a:off x="804672" y="1579880"/>
            <a:ext cx="1700784" cy="228600"/>
          </a:xfrm>
          <a:prstGeom prst="rect">
            <a:avLst/>
          </a:prstGeom>
          <a:solidFill>
            <a:srgbClr val="285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ECD3A3D9-7706-A674-D0F7-82784107890C}"/>
              </a:ext>
            </a:extLst>
          </p:cNvPr>
          <p:cNvSpPr txBox="1"/>
          <p:nvPr/>
        </p:nvSpPr>
        <p:spPr>
          <a:xfrm>
            <a:off x="923544" y="1927352"/>
            <a:ext cx="1472184" cy="182880"/>
          </a:xfrm>
          <a:prstGeom prst="rect">
            <a:avLst/>
          </a:prstGeom>
          <a:noFill/>
        </p:spPr>
        <p:txBody>
          <a:bodyPr wrap="square" lIns="0" tIns="0" rIns="0" bIns="0">
            <a:spAutoFit/>
          </a:bodyPr>
          <a:lstStyle/>
          <a:p>
            <a:pPr algn="l"/>
            <a:r>
              <a:rPr sz="1100" b="1">
                <a:solidFill>
                  <a:srgbClr val="111111"/>
                </a:solidFill>
                <a:latin typeface="Aptos"/>
              </a:rPr>
              <a:t>Core Blue</a:t>
            </a:r>
          </a:p>
        </p:txBody>
      </p:sp>
      <p:sp>
        <p:nvSpPr>
          <p:cNvPr id="63" name="TextBox 62">
            <a:extLst>
              <a:ext uri="{FF2B5EF4-FFF2-40B4-BE49-F238E27FC236}">
                <a16:creationId xmlns:a16="http://schemas.microsoft.com/office/drawing/2014/main" id="{4E28AE3E-16E6-5B7B-9BEE-69ED1CD0E774}"/>
              </a:ext>
            </a:extLst>
          </p:cNvPr>
          <p:cNvSpPr txBox="1"/>
          <p:nvPr/>
        </p:nvSpPr>
        <p:spPr>
          <a:xfrm>
            <a:off x="923544" y="2110232"/>
            <a:ext cx="1472184" cy="146304"/>
          </a:xfrm>
          <a:prstGeom prst="rect">
            <a:avLst/>
          </a:prstGeom>
          <a:noFill/>
        </p:spPr>
        <p:txBody>
          <a:bodyPr wrap="square" lIns="0" tIns="0" rIns="0" bIns="0">
            <a:spAutoFit/>
          </a:bodyPr>
          <a:lstStyle/>
          <a:p>
            <a:pPr algn="l"/>
            <a:r>
              <a:rPr sz="900" b="0">
                <a:solidFill>
                  <a:srgbClr val="285EF6"/>
                </a:solidFill>
                <a:latin typeface="Aptos"/>
              </a:rPr>
              <a:t>#285EF6</a:t>
            </a:r>
          </a:p>
        </p:txBody>
      </p:sp>
      <p:sp>
        <p:nvSpPr>
          <p:cNvPr id="65" name="TextBox 64">
            <a:extLst>
              <a:ext uri="{FF2B5EF4-FFF2-40B4-BE49-F238E27FC236}">
                <a16:creationId xmlns:a16="http://schemas.microsoft.com/office/drawing/2014/main" id="{153D54D7-F7DC-54FD-3C18-7D5478581BB6}"/>
              </a:ext>
            </a:extLst>
          </p:cNvPr>
          <p:cNvSpPr txBox="1"/>
          <p:nvPr/>
        </p:nvSpPr>
        <p:spPr>
          <a:xfrm>
            <a:off x="923544" y="2265680"/>
            <a:ext cx="1472184" cy="182880"/>
          </a:xfrm>
          <a:prstGeom prst="rect">
            <a:avLst/>
          </a:prstGeom>
          <a:noFill/>
        </p:spPr>
        <p:txBody>
          <a:bodyPr wrap="square" lIns="0" tIns="0" rIns="0" bIns="0">
            <a:spAutoFit/>
          </a:bodyPr>
          <a:lstStyle/>
          <a:p>
            <a:pPr algn="l"/>
            <a:r>
              <a:rPr sz="819" b="0">
                <a:solidFill>
                  <a:srgbClr val="5A5A5A"/>
                </a:solidFill>
                <a:latin typeface="Aptos"/>
              </a:rPr>
              <a:t>Primary actions, selected states</a:t>
            </a:r>
          </a:p>
        </p:txBody>
      </p:sp>
      <p:sp>
        <p:nvSpPr>
          <p:cNvPr id="67" name="Rounded Rectangle 15">
            <a:extLst>
              <a:ext uri="{FF2B5EF4-FFF2-40B4-BE49-F238E27FC236}">
                <a16:creationId xmlns:a16="http://schemas.microsoft.com/office/drawing/2014/main" id="{8ABCD8E2-74C9-8CD8-20C9-D6763B110FBC}"/>
              </a:ext>
            </a:extLst>
          </p:cNvPr>
          <p:cNvSpPr/>
          <p:nvPr/>
        </p:nvSpPr>
        <p:spPr>
          <a:xfrm>
            <a:off x="2642616" y="1579880"/>
            <a:ext cx="1700784" cy="914400"/>
          </a:xfrm>
          <a:prstGeom prst="roundRect">
            <a:avLst>
              <a:gd name="adj" fmla="val 6000"/>
            </a:avLst>
          </a:prstGeom>
          <a:solidFill>
            <a:srgbClr val="FFFFFF"/>
          </a:solidFill>
          <a:ln w="9525">
            <a:solidFill>
              <a:srgbClr val="DCE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a:extLst>
              <a:ext uri="{FF2B5EF4-FFF2-40B4-BE49-F238E27FC236}">
                <a16:creationId xmlns:a16="http://schemas.microsoft.com/office/drawing/2014/main" id="{E7FDE0B3-F812-C5E8-5966-B2C1B1FACAAD}"/>
              </a:ext>
            </a:extLst>
          </p:cNvPr>
          <p:cNvSpPr/>
          <p:nvPr/>
        </p:nvSpPr>
        <p:spPr>
          <a:xfrm>
            <a:off x="2642616" y="1579880"/>
            <a:ext cx="1700784" cy="228600"/>
          </a:xfrm>
          <a:prstGeom prst="rect">
            <a:avLst/>
          </a:prstGeom>
          <a:solidFill>
            <a:srgbClr val="071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AB5E10D0-161B-1D8B-2ADF-3E1E1C7AA398}"/>
              </a:ext>
            </a:extLst>
          </p:cNvPr>
          <p:cNvSpPr txBox="1"/>
          <p:nvPr/>
        </p:nvSpPr>
        <p:spPr>
          <a:xfrm>
            <a:off x="2761488" y="1927352"/>
            <a:ext cx="1472184" cy="182880"/>
          </a:xfrm>
          <a:prstGeom prst="rect">
            <a:avLst/>
          </a:prstGeom>
          <a:noFill/>
        </p:spPr>
        <p:txBody>
          <a:bodyPr wrap="square" lIns="0" tIns="0" rIns="0" bIns="0">
            <a:spAutoFit/>
          </a:bodyPr>
          <a:lstStyle/>
          <a:p>
            <a:pPr algn="l"/>
            <a:r>
              <a:rPr sz="1100" b="1">
                <a:solidFill>
                  <a:srgbClr val="111111"/>
                </a:solidFill>
                <a:latin typeface="Aptos"/>
              </a:rPr>
              <a:t>Deep Navy</a:t>
            </a:r>
          </a:p>
        </p:txBody>
      </p:sp>
      <p:sp>
        <p:nvSpPr>
          <p:cNvPr id="73" name="TextBox 72">
            <a:extLst>
              <a:ext uri="{FF2B5EF4-FFF2-40B4-BE49-F238E27FC236}">
                <a16:creationId xmlns:a16="http://schemas.microsoft.com/office/drawing/2014/main" id="{F452638E-3882-F3E0-0252-FEE14124FEC3}"/>
              </a:ext>
            </a:extLst>
          </p:cNvPr>
          <p:cNvSpPr txBox="1"/>
          <p:nvPr/>
        </p:nvSpPr>
        <p:spPr>
          <a:xfrm>
            <a:off x="2761488" y="2110232"/>
            <a:ext cx="1472184" cy="146304"/>
          </a:xfrm>
          <a:prstGeom prst="rect">
            <a:avLst/>
          </a:prstGeom>
          <a:noFill/>
        </p:spPr>
        <p:txBody>
          <a:bodyPr wrap="square" lIns="0" tIns="0" rIns="0" bIns="0">
            <a:spAutoFit/>
          </a:bodyPr>
          <a:lstStyle/>
          <a:p>
            <a:pPr algn="l"/>
            <a:r>
              <a:rPr sz="900" b="0">
                <a:solidFill>
                  <a:srgbClr val="071846"/>
                </a:solidFill>
                <a:latin typeface="Aptos"/>
              </a:rPr>
              <a:t>#071846</a:t>
            </a:r>
          </a:p>
        </p:txBody>
      </p:sp>
      <p:sp>
        <p:nvSpPr>
          <p:cNvPr id="75" name="TextBox 74">
            <a:extLst>
              <a:ext uri="{FF2B5EF4-FFF2-40B4-BE49-F238E27FC236}">
                <a16:creationId xmlns:a16="http://schemas.microsoft.com/office/drawing/2014/main" id="{3DCFF031-B2DF-D2BB-ECEB-32F3FA458480}"/>
              </a:ext>
            </a:extLst>
          </p:cNvPr>
          <p:cNvSpPr txBox="1"/>
          <p:nvPr/>
        </p:nvSpPr>
        <p:spPr>
          <a:xfrm>
            <a:off x="2761488" y="2265680"/>
            <a:ext cx="1472184" cy="182880"/>
          </a:xfrm>
          <a:prstGeom prst="rect">
            <a:avLst/>
          </a:prstGeom>
          <a:noFill/>
        </p:spPr>
        <p:txBody>
          <a:bodyPr wrap="square" lIns="0" tIns="0" rIns="0" bIns="0">
            <a:spAutoFit/>
          </a:bodyPr>
          <a:lstStyle/>
          <a:p>
            <a:pPr algn="l"/>
            <a:r>
              <a:rPr sz="819" b="0">
                <a:solidFill>
                  <a:srgbClr val="5A5A5A"/>
                </a:solidFill>
                <a:latin typeface="Aptos"/>
              </a:rPr>
              <a:t>Ask RISE, focused guidance</a:t>
            </a:r>
          </a:p>
        </p:txBody>
      </p:sp>
      <p:sp>
        <p:nvSpPr>
          <p:cNvPr id="77" name="Rounded Rectangle 20">
            <a:extLst>
              <a:ext uri="{FF2B5EF4-FFF2-40B4-BE49-F238E27FC236}">
                <a16:creationId xmlns:a16="http://schemas.microsoft.com/office/drawing/2014/main" id="{44E47262-308C-938C-0A66-B2CD4508F88F}"/>
              </a:ext>
            </a:extLst>
          </p:cNvPr>
          <p:cNvSpPr/>
          <p:nvPr/>
        </p:nvSpPr>
        <p:spPr>
          <a:xfrm>
            <a:off x="796544" y="3939540"/>
            <a:ext cx="1700784" cy="914400"/>
          </a:xfrm>
          <a:prstGeom prst="roundRect">
            <a:avLst>
              <a:gd name="adj" fmla="val 6000"/>
            </a:avLst>
          </a:prstGeom>
          <a:solidFill>
            <a:srgbClr val="FFFFFF"/>
          </a:solidFill>
          <a:ln w="9525">
            <a:solidFill>
              <a:srgbClr val="DCE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a:extLst>
              <a:ext uri="{FF2B5EF4-FFF2-40B4-BE49-F238E27FC236}">
                <a16:creationId xmlns:a16="http://schemas.microsoft.com/office/drawing/2014/main" id="{EDD4301E-0B93-095C-10A5-010E613DDC5C}"/>
              </a:ext>
            </a:extLst>
          </p:cNvPr>
          <p:cNvSpPr/>
          <p:nvPr/>
        </p:nvSpPr>
        <p:spPr>
          <a:xfrm>
            <a:off x="796544" y="3939540"/>
            <a:ext cx="1700784" cy="22860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D6AA64A1-AB1D-2924-D892-04AF7F121351}"/>
              </a:ext>
            </a:extLst>
          </p:cNvPr>
          <p:cNvSpPr txBox="1"/>
          <p:nvPr/>
        </p:nvSpPr>
        <p:spPr>
          <a:xfrm>
            <a:off x="915416" y="4287012"/>
            <a:ext cx="1472184" cy="182880"/>
          </a:xfrm>
          <a:prstGeom prst="rect">
            <a:avLst/>
          </a:prstGeom>
          <a:noFill/>
        </p:spPr>
        <p:txBody>
          <a:bodyPr wrap="square" lIns="0" tIns="0" rIns="0" bIns="0">
            <a:spAutoFit/>
          </a:bodyPr>
          <a:lstStyle/>
          <a:p>
            <a:pPr algn="l"/>
            <a:r>
              <a:rPr sz="1100" b="1">
                <a:solidFill>
                  <a:srgbClr val="111111"/>
                </a:solidFill>
                <a:latin typeface="Aptos"/>
              </a:rPr>
              <a:t>Sky Tint</a:t>
            </a:r>
          </a:p>
        </p:txBody>
      </p:sp>
      <p:sp>
        <p:nvSpPr>
          <p:cNvPr id="83" name="TextBox 82">
            <a:extLst>
              <a:ext uri="{FF2B5EF4-FFF2-40B4-BE49-F238E27FC236}">
                <a16:creationId xmlns:a16="http://schemas.microsoft.com/office/drawing/2014/main" id="{53F9B552-DA7C-8552-878E-649D4B9CD0FA}"/>
              </a:ext>
            </a:extLst>
          </p:cNvPr>
          <p:cNvSpPr txBox="1"/>
          <p:nvPr/>
        </p:nvSpPr>
        <p:spPr>
          <a:xfrm>
            <a:off x="915416" y="4469892"/>
            <a:ext cx="1472184" cy="146304"/>
          </a:xfrm>
          <a:prstGeom prst="rect">
            <a:avLst/>
          </a:prstGeom>
          <a:noFill/>
        </p:spPr>
        <p:txBody>
          <a:bodyPr wrap="square" lIns="0" tIns="0" rIns="0" bIns="0">
            <a:spAutoFit/>
          </a:bodyPr>
          <a:lstStyle/>
          <a:p>
            <a:pPr algn="l"/>
            <a:r>
              <a:rPr sz="900" b="0">
                <a:solidFill>
                  <a:srgbClr val="EEF4FF"/>
                </a:solidFill>
                <a:latin typeface="Aptos"/>
              </a:rPr>
              <a:t>#EEF4FF</a:t>
            </a:r>
          </a:p>
        </p:txBody>
      </p:sp>
      <p:sp>
        <p:nvSpPr>
          <p:cNvPr id="85" name="TextBox 84">
            <a:extLst>
              <a:ext uri="{FF2B5EF4-FFF2-40B4-BE49-F238E27FC236}">
                <a16:creationId xmlns:a16="http://schemas.microsoft.com/office/drawing/2014/main" id="{8CE97927-527D-BC38-D95D-00ED9D2149B1}"/>
              </a:ext>
            </a:extLst>
          </p:cNvPr>
          <p:cNvSpPr txBox="1"/>
          <p:nvPr/>
        </p:nvSpPr>
        <p:spPr>
          <a:xfrm>
            <a:off x="915416" y="4625340"/>
            <a:ext cx="1472184" cy="182880"/>
          </a:xfrm>
          <a:prstGeom prst="rect">
            <a:avLst/>
          </a:prstGeom>
          <a:noFill/>
        </p:spPr>
        <p:txBody>
          <a:bodyPr wrap="square" lIns="0" tIns="0" rIns="0" bIns="0">
            <a:spAutoFit/>
          </a:bodyPr>
          <a:lstStyle/>
          <a:p>
            <a:pPr algn="l"/>
            <a:r>
              <a:rPr sz="819" b="0">
                <a:solidFill>
                  <a:srgbClr val="5A5A5A"/>
                </a:solidFill>
                <a:latin typeface="Aptos"/>
              </a:rPr>
              <a:t>Selected cards and calm surfaces</a:t>
            </a:r>
          </a:p>
        </p:txBody>
      </p:sp>
      <p:sp>
        <p:nvSpPr>
          <p:cNvPr id="87" name="Rounded Rectangle 25">
            <a:extLst>
              <a:ext uri="{FF2B5EF4-FFF2-40B4-BE49-F238E27FC236}">
                <a16:creationId xmlns:a16="http://schemas.microsoft.com/office/drawing/2014/main" id="{AF31CBEC-142D-D300-AE78-834DCF5EB45F}"/>
              </a:ext>
            </a:extLst>
          </p:cNvPr>
          <p:cNvSpPr/>
          <p:nvPr/>
        </p:nvSpPr>
        <p:spPr>
          <a:xfrm>
            <a:off x="2634488" y="3939540"/>
            <a:ext cx="1700784" cy="914400"/>
          </a:xfrm>
          <a:prstGeom prst="roundRect">
            <a:avLst>
              <a:gd name="adj" fmla="val 6000"/>
            </a:avLst>
          </a:prstGeom>
          <a:solidFill>
            <a:srgbClr val="FFFFFF"/>
          </a:solidFill>
          <a:ln w="9525">
            <a:solidFill>
              <a:srgbClr val="DCE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a:extLst>
              <a:ext uri="{FF2B5EF4-FFF2-40B4-BE49-F238E27FC236}">
                <a16:creationId xmlns:a16="http://schemas.microsoft.com/office/drawing/2014/main" id="{CF7689AA-23A4-0F57-AA13-158E6A563107}"/>
              </a:ext>
            </a:extLst>
          </p:cNvPr>
          <p:cNvSpPr/>
          <p:nvPr/>
        </p:nvSpPr>
        <p:spPr>
          <a:xfrm>
            <a:off x="2634488" y="3939540"/>
            <a:ext cx="1700784" cy="228600"/>
          </a:xfrm>
          <a:prstGeom prst="rect">
            <a:avLst/>
          </a:prstGeom>
          <a:solidFill>
            <a:srgbClr val="008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a:extLst>
              <a:ext uri="{FF2B5EF4-FFF2-40B4-BE49-F238E27FC236}">
                <a16:creationId xmlns:a16="http://schemas.microsoft.com/office/drawing/2014/main" id="{B30A84F6-5DF9-0C1E-C6F4-51DF23B1CBA2}"/>
              </a:ext>
            </a:extLst>
          </p:cNvPr>
          <p:cNvSpPr txBox="1"/>
          <p:nvPr/>
        </p:nvSpPr>
        <p:spPr>
          <a:xfrm>
            <a:off x="2753360" y="4287012"/>
            <a:ext cx="1472184" cy="182880"/>
          </a:xfrm>
          <a:prstGeom prst="rect">
            <a:avLst/>
          </a:prstGeom>
          <a:noFill/>
        </p:spPr>
        <p:txBody>
          <a:bodyPr wrap="square" lIns="0" tIns="0" rIns="0" bIns="0">
            <a:spAutoFit/>
          </a:bodyPr>
          <a:lstStyle/>
          <a:p>
            <a:pPr algn="l"/>
            <a:r>
              <a:rPr sz="1100" b="1">
                <a:solidFill>
                  <a:srgbClr val="111111"/>
                </a:solidFill>
                <a:latin typeface="Aptos"/>
              </a:rPr>
              <a:t>Safety Green</a:t>
            </a:r>
          </a:p>
        </p:txBody>
      </p:sp>
      <p:sp>
        <p:nvSpPr>
          <p:cNvPr id="93" name="TextBox 92">
            <a:extLst>
              <a:ext uri="{FF2B5EF4-FFF2-40B4-BE49-F238E27FC236}">
                <a16:creationId xmlns:a16="http://schemas.microsoft.com/office/drawing/2014/main" id="{05E3092E-FF4E-A4FA-4FDF-9579F0A82337}"/>
              </a:ext>
            </a:extLst>
          </p:cNvPr>
          <p:cNvSpPr txBox="1"/>
          <p:nvPr/>
        </p:nvSpPr>
        <p:spPr>
          <a:xfrm>
            <a:off x="2753360" y="4469892"/>
            <a:ext cx="1472184" cy="146304"/>
          </a:xfrm>
          <a:prstGeom prst="rect">
            <a:avLst/>
          </a:prstGeom>
          <a:noFill/>
        </p:spPr>
        <p:txBody>
          <a:bodyPr wrap="square" lIns="0" tIns="0" rIns="0" bIns="0">
            <a:spAutoFit/>
          </a:bodyPr>
          <a:lstStyle/>
          <a:p>
            <a:pPr algn="l"/>
            <a:r>
              <a:rPr sz="900" b="0">
                <a:solidFill>
                  <a:srgbClr val="008200"/>
                </a:solidFill>
                <a:latin typeface="Aptos"/>
              </a:rPr>
              <a:t>#008200</a:t>
            </a:r>
          </a:p>
        </p:txBody>
      </p:sp>
      <p:sp>
        <p:nvSpPr>
          <p:cNvPr id="95" name="TextBox 94">
            <a:extLst>
              <a:ext uri="{FF2B5EF4-FFF2-40B4-BE49-F238E27FC236}">
                <a16:creationId xmlns:a16="http://schemas.microsoft.com/office/drawing/2014/main" id="{AAF7760C-8639-2617-3975-4760FE34B871}"/>
              </a:ext>
            </a:extLst>
          </p:cNvPr>
          <p:cNvSpPr txBox="1"/>
          <p:nvPr/>
        </p:nvSpPr>
        <p:spPr>
          <a:xfrm>
            <a:off x="2753360" y="4625340"/>
            <a:ext cx="1472184" cy="182880"/>
          </a:xfrm>
          <a:prstGeom prst="rect">
            <a:avLst/>
          </a:prstGeom>
          <a:noFill/>
        </p:spPr>
        <p:txBody>
          <a:bodyPr wrap="square" lIns="0" tIns="0" rIns="0" bIns="0">
            <a:spAutoFit/>
          </a:bodyPr>
          <a:lstStyle/>
          <a:p>
            <a:pPr algn="l"/>
            <a:r>
              <a:rPr sz="819" b="0">
                <a:solidFill>
                  <a:srgbClr val="5A5A5A"/>
                </a:solidFill>
                <a:latin typeface="Aptos"/>
              </a:rPr>
              <a:t>Goals, progress, on-track states</a:t>
            </a:r>
          </a:p>
        </p:txBody>
      </p:sp>
      <p:sp>
        <p:nvSpPr>
          <p:cNvPr id="97" name="Rounded Rectangle 30">
            <a:extLst>
              <a:ext uri="{FF2B5EF4-FFF2-40B4-BE49-F238E27FC236}">
                <a16:creationId xmlns:a16="http://schemas.microsoft.com/office/drawing/2014/main" id="{42CA047E-3AA1-39A9-5452-C905F2DDBE12}"/>
              </a:ext>
            </a:extLst>
          </p:cNvPr>
          <p:cNvSpPr/>
          <p:nvPr/>
        </p:nvSpPr>
        <p:spPr>
          <a:xfrm>
            <a:off x="804672" y="2814320"/>
            <a:ext cx="1700784" cy="914400"/>
          </a:xfrm>
          <a:prstGeom prst="roundRect">
            <a:avLst>
              <a:gd name="adj" fmla="val 6000"/>
            </a:avLst>
          </a:prstGeom>
          <a:solidFill>
            <a:srgbClr val="FFFFFF"/>
          </a:solidFill>
          <a:ln w="9525">
            <a:solidFill>
              <a:srgbClr val="DCE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a:extLst>
              <a:ext uri="{FF2B5EF4-FFF2-40B4-BE49-F238E27FC236}">
                <a16:creationId xmlns:a16="http://schemas.microsoft.com/office/drawing/2014/main" id="{BDE2FAA9-1068-8961-B12B-D3453B591B3C}"/>
              </a:ext>
            </a:extLst>
          </p:cNvPr>
          <p:cNvSpPr/>
          <p:nvPr/>
        </p:nvSpPr>
        <p:spPr>
          <a:xfrm>
            <a:off x="804672" y="2814320"/>
            <a:ext cx="1700784" cy="228600"/>
          </a:xfrm>
          <a:prstGeom prst="rect">
            <a:avLst/>
          </a:prstGeom>
          <a:solidFill>
            <a:srgbClr val="EC5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a:extLst>
              <a:ext uri="{FF2B5EF4-FFF2-40B4-BE49-F238E27FC236}">
                <a16:creationId xmlns:a16="http://schemas.microsoft.com/office/drawing/2014/main" id="{74F638B0-B4D6-AE7B-A66E-535B108D816C}"/>
              </a:ext>
            </a:extLst>
          </p:cNvPr>
          <p:cNvSpPr txBox="1"/>
          <p:nvPr/>
        </p:nvSpPr>
        <p:spPr>
          <a:xfrm>
            <a:off x="923544" y="3161792"/>
            <a:ext cx="1472184" cy="182880"/>
          </a:xfrm>
          <a:prstGeom prst="rect">
            <a:avLst/>
          </a:prstGeom>
          <a:noFill/>
        </p:spPr>
        <p:txBody>
          <a:bodyPr wrap="square" lIns="0" tIns="0" rIns="0" bIns="0">
            <a:spAutoFit/>
          </a:bodyPr>
          <a:lstStyle/>
          <a:p>
            <a:pPr algn="l"/>
            <a:r>
              <a:rPr sz="1100" b="1">
                <a:solidFill>
                  <a:srgbClr val="111111"/>
                </a:solidFill>
                <a:latin typeface="Aptos"/>
              </a:rPr>
              <a:t>Obligation Orange</a:t>
            </a:r>
          </a:p>
        </p:txBody>
      </p:sp>
      <p:sp>
        <p:nvSpPr>
          <p:cNvPr id="103" name="TextBox 102">
            <a:extLst>
              <a:ext uri="{FF2B5EF4-FFF2-40B4-BE49-F238E27FC236}">
                <a16:creationId xmlns:a16="http://schemas.microsoft.com/office/drawing/2014/main" id="{F0B0138B-2E29-5E04-0152-2FDB8742445C}"/>
              </a:ext>
            </a:extLst>
          </p:cNvPr>
          <p:cNvSpPr txBox="1"/>
          <p:nvPr/>
        </p:nvSpPr>
        <p:spPr>
          <a:xfrm>
            <a:off x="923544" y="3344671"/>
            <a:ext cx="1472184" cy="146304"/>
          </a:xfrm>
          <a:prstGeom prst="rect">
            <a:avLst/>
          </a:prstGeom>
          <a:noFill/>
        </p:spPr>
        <p:txBody>
          <a:bodyPr wrap="square" lIns="0" tIns="0" rIns="0" bIns="0">
            <a:spAutoFit/>
          </a:bodyPr>
          <a:lstStyle/>
          <a:p>
            <a:pPr algn="l"/>
            <a:r>
              <a:rPr sz="900" b="0">
                <a:solidFill>
                  <a:srgbClr val="EC592D"/>
                </a:solidFill>
                <a:latin typeface="Aptos"/>
              </a:rPr>
              <a:t>#EC592D</a:t>
            </a:r>
          </a:p>
        </p:txBody>
      </p:sp>
      <p:sp>
        <p:nvSpPr>
          <p:cNvPr id="105" name="TextBox 104">
            <a:extLst>
              <a:ext uri="{FF2B5EF4-FFF2-40B4-BE49-F238E27FC236}">
                <a16:creationId xmlns:a16="http://schemas.microsoft.com/office/drawing/2014/main" id="{D9BBB6B2-4B78-5444-52B7-1BBF95A80F69}"/>
              </a:ext>
            </a:extLst>
          </p:cNvPr>
          <p:cNvSpPr txBox="1"/>
          <p:nvPr/>
        </p:nvSpPr>
        <p:spPr>
          <a:xfrm>
            <a:off x="923544" y="3500119"/>
            <a:ext cx="1472184" cy="182880"/>
          </a:xfrm>
          <a:prstGeom prst="rect">
            <a:avLst/>
          </a:prstGeom>
          <a:noFill/>
        </p:spPr>
        <p:txBody>
          <a:bodyPr wrap="square" lIns="0" tIns="0" rIns="0" bIns="0">
            <a:spAutoFit/>
          </a:bodyPr>
          <a:lstStyle/>
          <a:p>
            <a:pPr algn="l"/>
            <a:r>
              <a:rPr sz="819" b="0">
                <a:solidFill>
                  <a:srgbClr val="5A5A5A"/>
                </a:solidFill>
                <a:latin typeface="Aptos"/>
              </a:rPr>
              <a:t>Required costs</a:t>
            </a:r>
          </a:p>
        </p:txBody>
      </p:sp>
      <p:sp>
        <p:nvSpPr>
          <p:cNvPr id="107" name="Rounded Rectangle 35">
            <a:extLst>
              <a:ext uri="{FF2B5EF4-FFF2-40B4-BE49-F238E27FC236}">
                <a16:creationId xmlns:a16="http://schemas.microsoft.com/office/drawing/2014/main" id="{31E17130-9A90-ED0B-E84C-46F4C05E34EA}"/>
              </a:ext>
            </a:extLst>
          </p:cNvPr>
          <p:cNvSpPr/>
          <p:nvPr/>
        </p:nvSpPr>
        <p:spPr>
          <a:xfrm>
            <a:off x="2642616" y="2814320"/>
            <a:ext cx="1700784" cy="914400"/>
          </a:xfrm>
          <a:prstGeom prst="roundRect">
            <a:avLst>
              <a:gd name="adj" fmla="val 6000"/>
            </a:avLst>
          </a:prstGeom>
          <a:solidFill>
            <a:srgbClr val="FFFFFF"/>
          </a:solidFill>
          <a:ln w="9525">
            <a:solidFill>
              <a:srgbClr val="DCE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a:extLst>
              <a:ext uri="{FF2B5EF4-FFF2-40B4-BE49-F238E27FC236}">
                <a16:creationId xmlns:a16="http://schemas.microsoft.com/office/drawing/2014/main" id="{BF3C7200-886B-6E9B-8B76-6022E077C2E9}"/>
              </a:ext>
            </a:extLst>
          </p:cNvPr>
          <p:cNvSpPr/>
          <p:nvPr/>
        </p:nvSpPr>
        <p:spPr>
          <a:xfrm>
            <a:off x="2642616" y="2814320"/>
            <a:ext cx="1700784" cy="228600"/>
          </a:xfrm>
          <a:prstGeom prst="rect">
            <a:avLst/>
          </a:prstGeom>
          <a:solidFill>
            <a:srgbClr val="F14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a:extLst>
              <a:ext uri="{FF2B5EF4-FFF2-40B4-BE49-F238E27FC236}">
                <a16:creationId xmlns:a16="http://schemas.microsoft.com/office/drawing/2014/main" id="{6D61B964-1B55-20F1-395A-89160E2C1D87}"/>
              </a:ext>
            </a:extLst>
          </p:cNvPr>
          <p:cNvSpPr txBox="1"/>
          <p:nvPr/>
        </p:nvSpPr>
        <p:spPr>
          <a:xfrm>
            <a:off x="2761488" y="3161792"/>
            <a:ext cx="1472184" cy="182880"/>
          </a:xfrm>
          <a:prstGeom prst="rect">
            <a:avLst/>
          </a:prstGeom>
          <a:noFill/>
        </p:spPr>
        <p:txBody>
          <a:bodyPr wrap="square" lIns="0" tIns="0" rIns="0" bIns="0">
            <a:spAutoFit/>
          </a:bodyPr>
          <a:lstStyle/>
          <a:p>
            <a:pPr algn="l"/>
            <a:r>
              <a:rPr sz="1100" b="1">
                <a:solidFill>
                  <a:srgbClr val="111111"/>
                </a:solidFill>
                <a:latin typeface="Aptos"/>
              </a:rPr>
              <a:t>Risk Red</a:t>
            </a:r>
          </a:p>
        </p:txBody>
      </p:sp>
      <p:sp>
        <p:nvSpPr>
          <p:cNvPr id="113" name="TextBox 112">
            <a:extLst>
              <a:ext uri="{FF2B5EF4-FFF2-40B4-BE49-F238E27FC236}">
                <a16:creationId xmlns:a16="http://schemas.microsoft.com/office/drawing/2014/main" id="{5AC6F2E5-BC87-E5D7-5FE9-01BB1E292F3F}"/>
              </a:ext>
            </a:extLst>
          </p:cNvPr>
          <p:cNvSpPr txBox="1"/>
          <p:nvPr/>
        </p:nvSpPr>
        <p:spPr>
          <a:xfrm>
            <a:off x="2761488" y="3344671"/>
            <a:ext cx="1472184" cy="146304"/>
          </a:xfrm>
          <a:prstGeom prst="rect">
            <a:avLst/>
          </a:prstGeom>
          <a:noFill/>
        </p:spPr>
        <p:txBody>
          <a:bodyPr wrap="square" lIns="0" tIns="0" rIns="0" bIns="0">
            <a:spAutoFit/>
          </a:bodyPr>
          <a:lstStyle/>
          <a:p>
            <a:pPr algn="l"/>
            <a:r>
              <a:rPr sz="900" b="0">
                <a:solidFill>
                  <a:srgbClr val="F14A46"/>
                </a:solidFill>
                <a:latin typeface="Aptos"/>
              </a:rPr>
              <a:t>#F14A46</a:t>
            </a:r>
          </a:p>
        </p:txBody>
      </p:sp>
      <p:sp>
        <p:nvSpPr>
          <p:cNvPr id="115" name="TextBox 114">
            <a:extLst>
              <a:ext uri="{FF2B5EF4-FFF2-40B4-BE49-F238E27FC236}">
                <a16:creationId xmlns:a16="http://schemas.microsoft.com/office/drawing/2014/main" id="{BD0CEF61-08BA-699B-20A8-CB2F392A7008}"/>
              </a:ext>
            </a:extLst>
          </p:cNvPr>
          <p:cNvSpPr txBox="1"/>
          <p:nvPr/>
        </p:nvSpPr>
        <p:spPr>
          <a:xfrm>
            <a:off x="2761488" y="3500119"/>
            <a:ext cx="1472184" cy="182880"/>
          </a:xfrm>
          <a:prstGeom prst="rect">
            <a:avLst/>
          </a:prstGeom>
          <a:noFill/>
        </p:spPr>
        <p:txBody>
          <a:bodyPr wrap="square" lIns="0" tIns="0" rIns="0" bIns="0">
            <a:spAutoFit/>
          </a:bodyPr>
          <a:lstStyle/>
          <a:p>
            <a:pPr algn="l"/>
            <a:r>
              <a:rPr sz="819" b="0">
                <a:solidFill>
                  <a:srgbClr val="5A5A5A"/>
                </a:solidFill>
                <a:latin typeface="Aptos"/>
              </a:rPr>
              <a:t>Buffer warning and risk state</a:t>
            </a:r>
          </a:p>
        </p:txBody>
      </p:sp>
      <p:sp>
        <p:nvSpPr>
          <p:cNvPr id="117" name="Rounded Rectangle 40">
            <a:extLst>
              <a:ext uri="{FF2B5EF4-FFF2-40B4-BE49-F238E27FC236}">
                <a16:creationId xmlns:a16="http://schemas.microsoft.com/office/drawing/2014/main" id="{7FCBA230-8966-D51F-50C4-6D84BD66C2E1}"/>
              </a:ext>
            </a:extLst>
          </p:cNvPr>
          <p:cNvSpPr/>
          <p:nvPr/>
        </p:nvSpPr>
        <p:spPr>
          <a:xfrm>
            <a:off x="796544" y="5173980"/>
            <a:ext cx="1700784" cy="914400"/>
          </a:xfrm>
          <a:prstGeom prst="roundRect">
            <a:avLst>
              <a:gd name="adj" fmla="val 6000"/>
            </a:avLst>
          </a:prstGeom>
          <a:solidFill>
            <a:srgbClr val="FFFFFF"/>
          </a:solidFill>
          <a:ln w="9525">
            <a:solidFill>
              <a:srgbClr val="DCE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a:extLst>
              <a:ext uri="{FF2B5EF4-FFF2-40B4-BE49-F238E27FC236}">
                <a16:creationId xmlns:a16="http://schemas.microsoft.com/office/drawing/2014/main" id="{C5EE667F-6EB2-DEE3-0A8B-27BBCB340BFC}"/>
              </a:ext>
            </a:extLst>
          </p:cNvPr>
          <p:cNvSpPr/>
          <p:nvPr/>
        </p:nvSpPr>
        <p:spPr>
          <a:xfrm>
            <a:off x="796544" y="5173980"/>
            <a:ext cx="1700784" cy="2286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a:extLst>
              <a:ext uri="{FF2B5EF4-FFF2-40B4-BE49-F238E27FC236}">
                <a16:creationId xmlns:a16="http://schemas.microsoft.com/office/drawing/2014/main" id="{FB9D0DAA-7092-7860-8A06-DD1938B39941}"/>
              </a:ext>
            </a:extLst>
          </p:cNvPr>
          <p:cNvSpPr txBox="1"/>
          <p:nvPr/>
        </p:nvSpPr>
        <p:spPr>
          <a:xfrm>
            <a:off x="915416" y="5521452"/>
            <a:ext cx="1472184" cy="182880"/>
          </a:xfrm>
          <a:prstGeom prst="rect">
            <a:avLst/>
          </a:prstGeom>
          <a:noFill/>
        </p:spPr>
        <p:txBody>
          <a:bodyPr wrap="square" lIns="0" tIns="0" rIns="0" bIns="0">
            <a:spAutoFit/>
          </a:bodyPr>
          <a:lstStyle/>
          <a:p>
            <a:pPr algn="l"/>
            <a:r>
              <a:rPr sz="1100" b="1">
                <a:solidFill>
                  <a:srgbClr val="111111"/>
                </a:solidFill>
                <a:latin typeface="Aptos"/>
              </a:rPr>
              <a:t>Ink</a:t>
            </a:r>
          </a:p>
        </p:txBody>
      </p:sp>
      <p:sp>
        <p:nvSpPr>
          <p:cNvPr id="123" name="TextBox 122">
            <a:extLst>
              <a:ext uri="{FF2B5EF4-FFF2-40B4-BE49-F238E27FC236}">
                <a16:creationId xmlns:a16="http://schemas.microsoft.com/office/drawing/2014/main" id="{7F234A8C-F63D-3F5D-BF67-3AD151186B21}"/>
              </a:ext>
            </a:extLst>
          </p:cNvPr>
          <p:cNvSpPr txBox="1"/>
          <p:nvPr/>
        </p:nvSpPr>
        <p:spPr>
          <a:xfrm>
            <a:off x="915416" y="5704331"/>
            <a:ext cx="1472184" cy="146304"/>
          </a:xfrm>
          <a:prstGeom prst="rect">
            <a:avLst/>
          </a:prstGeom>
          <a:noFill/>
        </p:spPr>
        <p:txBody>
          <a:bodyPr wrap="square" lIns="0" tIns="0" rIns="0" bIns="0">
            <a:spAutoFit/>
          </a:bodyPr>
          <a:lstStyle/>
          <a:p>
            <a:pPr algn="l"/>
            <a:r>
              <a:rPr sz="900" b="0">
                <a:solidFill>
                  <a:srgbClr val="111111"/>
                </a:solidFill>
                <a:latin typeface="Aptos"/>
              </a:rPr>
              <a:t>#111111</a:t>
            </a:r>
          </a:p>
        </p:txBody>
      </p:sp>
      <p:sp>
        <p:nvSpPr>
          <p:cNvPr id="125" name="TextBox 124">
            <a:extLst>
              <a:ext uri="{FF2B5EF4-FFF2-40B4-BE49-F238E27FC236}">
                <a16:creationId xmlns:a16="http://schemas.microsoft.com/office/drawing/2014/main" id="{46BEA723-5A8C-42F3-F302-AD58060AF036}"/>
              </a:ext>
            </a:extLst>
          </p:cNvPr>
          <p:cNvSpPr txBox="1"/>
          <p:nvPr/>
        </p:nvSpPr>
        <p:spPr>
          <a:xfrm>
            <a:off x="915416" y="5859779"/>
            <a:ext cx="1472184" cy="182880"/>
          </a:xfrm>
          <a:prstGeom prst="rect">
            <a:avLst/>
          </a:prstGeom>
          <a:noFill/>
        </p:spPr>
        <p:txBody>
          <a:bodyPr wrap="square" lIns="0" tIns="0" rIns="0" bIns="0">
            <a:spAutoFit/>
          </a:bodyPr>
          <a:lstStyle/>
          <a:p>
            <a:pPr algn="l"/>
            <a:r>
              <a:rPr sz="819" b="0">
                <a:solidFill>
                  <a:srgbClr val="5A5A5A"/>
                </a:solidFill>
                <a:latin typeface="Aptos"/>
              </a:rPr>
              <a:t>Primary text</a:t>
            </a:r>
          </a:p>
        </p:txBody>
      </p:sp>
      <p:sp>
        <p:nvSpPr>
          <p:cNvPr id="127" name="Rounded Rectangle 45">
            <a:extLst>
              <a:ext uri="{FF2B5EF4-FFF2-40B4-BE49-F238E27FC236}">
                <a16:creationId xmlns:a16="http://schemas.microsoft.com/office/drawing/2014/main" id="{B8F05640-D46E-3D98-5857-7A41EEA3CA0B}"/>
              </a:ext>
            </a:extLst>
          </p:cNvPr>
          <p:cNvSpPr/>
          <p:nvPr/>
        </p:nvSpPr>
        <p:spPr>
          <a:xfrm>
            <a:off x="2634488" y="5173980"/>
            <a:ext cx="1700784" cy="914400"/>
          </a:xfrm>
          <a:prstGeom prst="roundRect">
            <a:avLst>
              <a:gd name="adj" fmla="val 6000"/>
            </a:avLst>
          </a:prstGeom>
          <a:solidFill>
            <a:srgbClr val="FFFFFF"/>
          </a:solidFill>
          <a:ln w="9525">
            <a:solidFill>
              <a:srgbClr val="DCE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ectangle 128">
            <a:extLst>
              <a:ext uri="{FF2B5EF4-FFF2-40B4-BE49-F238E27FC236}">
                <a16:creationId xmlns:a16="http://schemas.microsoft.com/office/drawing/2014/main" id="{58878ACA-50B1-E388-EE92-EA77A040B9CC}"/>
              </a:ext>
            </a:extLst>
          </p:cNvPr>
          <p:cNvSpPr/>
          <p:nvPr/>
        </p:nvSpPr>
        <p:spPr>
          <a:xfrm>
            <a:off x="2634488" y="5173980"/>
            <a:ext cx="1700784" cy="228600"/>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a:extLst>
              <a:ext uri="{FF2B5EF4-FFF2-40B4-BE49-F238E27FC236}">
                <a16:creationId xmlns:a16="http://schemas.microsoft.com/office/drawing/2014/main" id="{BBA01FAF-DD14-73AA-57BF-1B5D59D6DA4F}"/>
              </a:ext>
            </a:extLst>
          </p:cNvPr>
          <p:cNvSpPr txBox="1"/>
          <p:nvPr/>
        </p:nvSpPr>
        <p:spPr>
          <a:xfrm>
            <a:off x="2753360" y="5521452"/>
            <a:ext cx="1472184" cy="182880"/>
          </a:xfrm>
          <a:prstGeom prst="rect">
            <a:avLst/>
          </a:prstGeom>
          <a:noFill/>
        </p:spPr>
        <p:txBody>
          <a:bodyPr wrap="square" lIns="0" tIns="0" rIns="0" bIns="0">
            <a:spAutoFit/>
          </a:bodyPr>
          <a:lstStyle/>
          <a:p>
            <a:pPr algn="l"/>
            <a:r>
              <a:rPr sz="1100" b="1">
                <a:solidFill>
                  <a:srgbClr val="111111"/>
                </a:solidFill>
                <a:latin typeface="Aptos"/>
              </a:rPr>
              <a:t>State Grey</a:t>
            </a:r>
          </a:p>
        </p:txBody>
      </p:sp>
      <p:sp>
        <p:nvSpPr>
          <p:cNvPr id="133" name="TextBox 132">
            <a:extLst>
              <a:ext uri="{FF2B5EF4-FFF2-40B4-BE49-F238E27FC236}">
                <a16:creationId xmlns:a16="http://schemas.microsoft.com/office/drawing/2014/main" id="{40C49385-2473-5A8B-83D3-FCC1FA621B17}"/>
              </a:ext>
            </a:extLst>
          </p:cNvPr>
          <p:cNvSpPr txBox="1"/>
          <p:nvPr/>
        </p:nvSpPr>
        <p:spPr>
          <a:xfrm>
            <a:off x="2753360" y="5704331"/>
            <a:ext cx="1472184" cy="146304"/>
          </a:xfrm>
          <a:prstGeom prst="rect">
            <a:avLst/>
          </a:prstGeom>
          <a:noFill/>
        </p:spPr>
        <p:txBody>
          <a:bodyPr wrap="square" lIns="0" tIns="0" rIns="0" bIns="0">
            <a:spAutoFit/>
          </a:bodyPr>
          <a:lstStyle/>
          <a:p>
            <a:pPr algn="l"/>
            <a:r>
              <a:rPr sz="900" b="0">
                <a:solidFill>
                  <a:srgbClr val="5A5A5A"/>
                </a:solidFill>
                <a:latin typeface="Aptos"/>
              </a:rPr>
              <a:t>#5A5A5A</a:t>
            </a:r>
          </a:p>
        </p:txBody>
      </p:sp>
      <p:sp>
        <p:nvSpPr>
          <p:cNvPr id="135" name="TextBox 134">
            <a:extLst>
              <a:ext uri="{FF2B5EF4-FFF2-40B4-BE49-F238E27FC236}">
                <a16:creationId xmlns:a16="http://schemas.microsoft.com/office/drawing/2014/main" id="{57DC3F24-FFE6-05F3-F39C-204E1E4D9CBF}"/>
              </a:ext>
            </a:extLst>
          </p:cNvPr>
          <p:cNvSpPr txBox="1"/>
          <p:nvPr/>
        </p:nvSpPr>
        <p:spPr>
          <a:xfrm>
            <a:off x="2753360" y="5859779"/>
            <a:ext cx="1472184" cy="182880"/>
          </a:xfrm>
          <a:prstGeom prst="rect">
            <a:avLst/>
          </a:prstGeom>
          <a:noFill/>
        </p:spPr>
        <p:txBody>
          <a:bodyPr wrap="square" lIns="0" tIns="0" rIns="0" bIns="0">
            <a:spAutoFit/>
          </a:bodyPr>
          <a:lstStyle/>
          <a:p>
            <a:pPr algn="l"/>
            <a:r>
              <a:rPr sz="819" b="0">
                <a:solidFill>
                  <a:srgbClr val="5A5A5A"/>
                </a:solidFill>
                <a:latin typeface="Aptos"/>
              </a:rPr>
              <a:t>Secondary/supporting text</a:t>
            </a:r>
          </a:p>
        </p:txBody>
      </p:sp>
      <p:sp>
        <p:nvSpPr>
          <p:cNvPr id="136" name="Rounded Rectangle 135"/>
          <p:cNvSpPr/>
          <p:nvPr/>
        </p:nvSpPr>
        <p:spPr>
          <a:xfrm>
            <a:off x="594360" y="1097280"/>
            <a:ext cx="4160520" cy="594360"/>
          </a:xfrm>
          <a:prstGeom prst="roundRect">
            <a:avLst/>
          </a:prstGeom>
          <a:solidFill>
            <a:srgbClr val="EEF4FF"/>
          </a:solidFill>
          <a:ln>
            <a:solidFill>
              <a:srgbClr val="285E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49808" y="1170432"/>
            <a:ext cx="3886200" cy="438912"/>
          </a:xfrm>
          <a:prstGeom prst="rect">
            <a:avLst/>
          </a:prstGeom>
          <a:noFill/>
        </p:spPr>
        <p:txBody>
          <a:bodyPr wrap="square">
            <a:spAutoFit/>
          </a:bodyPr>
          <a:lstStyle/>
          <a:p>
            <a:r>
              <a:rPr sz="1050" b="0">
                <a:solidFill>
                  <a:srgbClr val="071846"/>
                </a:solidFill>
              </a:rPr>
              <a:t>Accessibility checks: readable 16px+ text, visible focus states, clear risk colours with labels, and large tap targets.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875520" cy="594360"/>
          </a:xfrm>
          <a:prstGeom prst="rect">
            <a:avLst/>
          </a:prstGeom>
          <a:noFill/>
        </p:spPr>
        <p:txBody>
          <a:bodyPr wrap="square">
            <a:spAutoFit/>
          </a:bodyPr>
          <a:lstStyle/>
          <a:p>
            <a:r>
              <a:rPr sz="2400" b="1">
                <a:solidFill>
                  <a:srgbClr val="071846"/>
                </a:solidFill>
              </a:rPr>
              <a:t>ACCESSIBILITY + HANDOFF CONSIDERATIONS</a:t>
            </a:r>
          </a:p>
        </p:txBody>
      </p:sp>
      <p:sp>
        <p:nvSpPr>
          <p:cNvPr id="4" name="TextBox 3"/>
          <p:cNvSpPr txBox="1"/>
          <p:nvPr/>
        </p:nvSpPr>
        <p:spPr>
          <a:xfrm>
            <a:off x="548640" y="914400"/>
            <a:ext cx="9692640" cy="411480"/>
          </a:xfrm>
          <a:prstGeom prst="rect">
            <a:avLst/>
          </a:prstGeom>
          <a:noFill/>
        </p:spPr>
        <p:txBody>
          <a:bodyPr wrap="square">
            <a:spAutoFit/>
          </a:bodyPr>
          <a:lstStyle/>
          <a:p>
            <a:r>
              <a:rPr sz="1300" b="0">
                <a:solidFill>
                  <a:srgbClr val="465064"/>
                </a:solidFill>
              </a:rPr>
              <a:t>What I would prepare before moving RISE from concept into a build-ready product conversation.</a:t>
            </a:r>
          </a:p>
        </p:txBody>
      </p:sp>
      <p:sp>
        <p:nvSpPr>
          <p:cNvPr id="5" name="Rounded Rectangle 4"/>
          <p:cNvSpPr/>
          <p:nvPr/>
        </p:nvSpPr>
        <p:spPr>
          <a:xfrm>
            <a:off x="548640" y="1600200"/>
            <a:ext cx="3154680" cy="3931920"/>
          </a:xfrm>
          <a:prstGeom prst="roundRect">
            <a:avLst/>
          </a:prstGeom>
          <a:solidFill>
            <a:srgbClr val="FFFFFF"/>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28800"/>
            <a:ext cx="2697480" cy="365760"/>
          </a:xfrm>
          <a:prstGeom prst="rect">
            <a:avLst/>
          </a:prstGeom>
          <a:noFill/>
        </p:spPr>
        <p:txBody>
          <a:bodyPr wrap="square">
            <a:spAutoFit/>
          </a:bodyPr>
          <a:lstStyle/>
          <a:p>
            <a:r>
              <a:rPr sz="1600" b="1">
                <a:solidFill>
                  <a:srgbClr val="285EF6"/>
                </a:solidFill>
              </a:rPr>
              <a:t>Accessibility</a:t>
            </a:r>
          </a:p>
        </p:txBody>
      </p:sp>
      <p:sp>
        <p:nvSpPr>
          <p:cNvPr id="7" name="TextBox 6"/>
          <p:cNvSpPr txBox="1"/>
          <p:nvPr/>
        </p:nvSpPr>
        <p:spPr>
          <a:xfrm>
            <a:off x="777240" y="2331720"/>
            <a:ext cx="2743200" cy="2651760"/>
          </a:xfrm>
          <a:prstGeom prst="rect">
            <a:avLst/>
          </a:prstGeom>
          <a:noFill/>
        </p:spPr>
        <p:txBody>
          <a:bodyPr wrap="square">
            <a:spAutoFit/>
          </a:bodyPr>
          <a:lstStyle/>
          <a:p>
            <a:r>
              <a:rPr sz="1250" b="0">
                <a:solidFill>
                  <a:srgbClr val="1E2841"/>
                </a:solidFill>
              </a:rPr>
              <a:t>• Do not rely on colour alone for buffer risk states.</a:t>
            </a:r>
          </a:p>
          <a:p>
            <a:r>
              <a:rPr sz="1250" b="0">
                <a:solidFill>
                  <a:srgbClr val="1E2841"/>
                </a:solidFill>
              </a:rPr>
              <a:t>• Use plain-language labels for money movement and consequences.</a:t>
            </a:r>
          </a:p>
          <a:p>
            <a:r>
              <a:rPr sz="1250" b="0">
                <a:solidFill>
                  <a:srgbClr val="1E2841"/>
                </a:solidFill>
              </a:rPr>
              <a:t>• Keep primary actions thumb-reachable and at least 44px high.</a:t>
            </a:r>
          </a:p>
          <a:p>
            <a:r>
              <a:rPr sz="1250" b="0">
                <a:solidFill>
                  <a:srgbClr val="1E2841"/>
                </a:solidFill>
              </a:rPr>
              <a:t>• Maintain visible focus / selected states for interactive elements.</a:t>
            </a:r>
          </a:p>
        </p:txBody>
      </p:sp>
      <p:sp>
        <p:nvSpPr>
          <p:cNvPr id="8" name="Rounded Rectangle 7"/>
          <p:cNvSpPr/>
          <p:nvPr/>
        </p:nvSpPr>
        <p:spPr>
          <a:xfrm>
            <a:off x="4069080" y="1600200"/>
            <a:ext cx="3154680" cy="3931920"/>
          </a:xfrm>
          <a:prstGeom prst="roundRect">
            <a:avLst/>
          </a:prstGeom>
          <a:solidFill>
            <a:srgbClr val="FFFFFF"/>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1828800"/>
            <a:ext cx="2697480" cy="365760"/>
          </a:xfrm>
          <a:prstGeom prst="rect">
            <a:avLst/>
          </a:prstGeom>
          <a:noFill/>
        </p:spPr>
        <p:txBody>
          <a:bodyPr wrap="square">
            <a:spAutoFit/>
          </a:bodyPr>
          <a:lstStyle/>
          <a:p>
            <a:r>
              <a:rPr sz="1600" b="1">
                <a:solidFill>
                  <a:srgbClr val="285EF6"/>
                </a:solidFill>
              </a:rPr>
              <a:t>Design system handoff</a:t>
            </a:r>
          </a:p>
        </p:txBody>
      </p:sp>
      <p:sp>
        <p:nvSpPr>
          <p:cNvPr id="10" name="TextBox 9"/>
          <p:cNvSpPr txBox="1"/>
          <p:nvPr/>
        </p:nvSpPr>
        <p:spPr>
          <a:xfrm>
            <a:off x="4297680" y="2331720"/>
            <a:ext cx="2743200" cy="2651760"/>
          </a:xfrm>
          <a:prstGeom prst="rect">
            <a:avLst/>
          </a:prstGeom>
          <a:noFill/>
        </p:spPr>
        <p:txBody>
          <a:bodyPr wrap="square">
            <a:spAutoFit/>
          </a:bodyPr>
          <a:lstStyle/>
          <a:p>
            <a:r>
              <a:rPr sz="1250" b="0">
                <a:solidFill>
                  <a:srgbClr val="1E2841"/>
                </a:solidFill>
              </a:rPr>
              <a:t>• Components for cards, warnings, inputs, buttons and progress states.</a:t>
            </a:r>
          </a:p>
          <a:p>
            <a:r>
              <a:rPr sz="1250" b="0">
                <a:solidFill>
                  <a:srgbClr val="1E2841"/>
                </a:solidFill>
              </a:rPr>
              <a:t>• Variants for neutral, success, warning and risk states.</a:t>
            </a:r>
          </a:p>
          <a:p>
            <a:r>
              <a:rPr sz="1250" b="0">
                <a:solidFill>
                  <a:srgbClr val="1E2841"/>
                </a:solidFill>
              </a:rPr>
              <a:t>• Tokenised colour, radius and typography scales.</a:t>
            </a:r>
          </a:p>
          <a:p>
            <a:r>
              <a:rPr sz="1250" b="0">
                <a:solidFill>
                  <a:srgbClr val="1E2841"/>
                </a:solidFill>
              </a:rPr>
              <a:t>• Annotated states for loading, empty, error and confirmation.</a:t>
            </a:r>
          </a:p>
        </p:txBody>
      </p:sp>
      <p:sp>
        <p:nvSpPr>
          <p:cNvPr id="11" name="Rounded Rectangle 10"/>
          <p:cNvSpPr/>
          <p:nvPr/>
        </p:nvSpPr>
        <p:spPr>
          <a:xfrm>
            <a:off x="7589520" y="1600200"/>
            <a:ext cx="3154680" cy="3931920"/>
          </a:xfrm>
          <a:prstGeom prst="roundRect">
            <a:avLst/>
          </a:prstGeom>
          <a:solidFill>
            <a:srgbClr val="FFFFFF"/>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1828800"/>
            <a:ext cx="2697480" cy="365760"/>
          </a:xfrm>
          <a:prstGeom prst="rect">
            <a:avLst/>
          </a:prstGeom>
          <a:noFill/>
        </p:spPr>
        <p:txBody>
          <a:bodyPr wrap="square">
            <a:spAutoFit/>
          </a:bodyPr>
          <a:lstStyle/>
          <a:p>
            <a:r>
              <a:rPr sz="1600" b="1">
                <a:solidFill>
                  <a:srgbClr val="285EF6"/>
                </a:solidFill>
              </a:rPr>
              <a:t>Product risk checks</a:t>
            </a:r>
          </a:p>
        </p:txBody>
      </p:sp>
      <p:sp>
        <p:nvSpPr>
          <p:cNvPr id="13" name="TextBox 12"/>
          <p:cNvSpPr txBox="1"/>
          <p:nvPr/>
        </p:nvSpPr>
        <p:spPr>
          <a:xfrm>
            <a:off x="7818120" y="2331720"/>
            <a:ext cx="2743200" cy="2651760"/>
          </a:xfrm>
          <a:prstGeom prst="rect">
            <a:avLst/>
          </a:prstGeom>
          <a:noFill/>
        </p:spPr>
        <p:txBody>
          <a:bodyPr wrap="square">
            <a:spAutoFit/>
          </a:bodyPr>
          <a:lstStyle/>
          <a:p>
            <a:r>
              <a:rPr sz="1250" b="0">
                <a:solidFill>
                  <a:srgbClr val="1E2841"/>
                </a:solidFill>
              </a:rPr>
              <a:t>• Test comprehension of “buffer” vs “available balance”.</a:t>
            </a:r>
          </a:p>
          <a:p>
            <a:r>
              <a:rPr sz="1250" b="0">
                <a:solidFill>
                  <a:srgbClr val="1E2841"/>
                </a:solidFill>
              </a:rPr>
              <a:t>• Stress-test irregular income and family obligation scenarios.</a:t>
            </a:r>
          </a:p>
          <a:p>
            <a:r>
              <a:rPr sz="1250" b="0">
                <a:solidFill>
                  <a:srgbClr val="1E2841"/>
                </a:solidFill>
              </a:rPr>
              <a:t>• Validate privacy and tone for Ask RISE questions.</a:t>
            </a:r>
          </a:p>
          <a:p>
            <a:r>
              <a:rPr sz="1250" b="0">
                <a:solidFill>
                  <a:srgbClr val="1E2841"/>
                </a:solidFill>
              </a:rPr>
              <a:t>• Review edge cases before linking to live banking data.</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60B1A"/>
        </a:solidFill>
        <a:effectLst/>
      </p:bgPr>
    </p:bg>
    <p:spTree>
      <p:nvGrpSpPr>
        <p:cNvPr id="1" name=""/>
        <p:cNvGrpSpPr/>
        <p:nvPr/>
      </p:nvGrpSpPr>
      <p:grpSpPr>
        <a:xfrm>
          <a:off x="0" y="0"/>
          <a:ext cx="0" cy="0"/>
          <a:chOff x="0" y="0"/>
          <a:chExt cx="0" cy="0"/>
        </a:xfrm>
      </p:grpSpPr>
      <p:pic>
        <p:nvPicPr>
          <p:cNvPr id="2" name="Image 0" descr="/home/claude/assets/dark_bg.jpeg"/>
          <p:cNvPicPr>
            <a:picLocks noChangeAspect="1"/>
          </p:cNvPicPr>
          <p:nvPr/>
        </p:nvPicPr>
        <p:blipFill>
          <a:blip r:embed="rId3"/>
          <a:stretch>
            <a:fillRect/>
          </a:stretch>
        </p:blipFill>
        <p:spPr>
          <a:xfrm>
            <a:off x="0" y="0"/>
            <a:ext cx="12188952" cy="6858000"/>
          </a:xfrm>
          <a:prstGeom prst="rect">
            <a:avLst/>
          </a:prstGeom>
        </p:spPr>
      </p:pic>
      <p:sp>
        <p:nvSpPr>
          <p:cNvPr id="3" name="Shape 0"/>
          <p:cNvSpPr/>
          <p:nvPr/>
        </p:nvSpPr>
        <p:spPr>
          <a:xfrm>
            <a:off x="10332720" y="-91440"/>
            <a:ext cx="1828800" cy="1828800"/>
          </a:xfrm>
          <a:prstGeom prst="ellipse">
            <a:avLst/>
          </a:prstGeom>
          <a:ln w="38100">
            <a:solidFill>
              <a:srgbClr val="5FA8E0">
                <a:alpha val="4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1"/>
          <p:cNvSpPr/>
          <p:nvPr/>
        </p:nvSpPr>
        <p:spPr>
          <a:xfrm>
            <a:off x="640080" y="1371600"/>
            <a:ext cx="4572000" cy="365760"/>
          </a:xfrm>
          <a:prstGeom prst="rect">
            <a:avLst/>
          </a:prstGeom>
          <a:noFill/>
          <a:ln/>
        </p:spPr>
        <p:txBody>
          <a:bodyPr wrap="square" rtlCol="0" anchor="ctr"/>
          <a:lstStyle/>
          <a:p>
            <a:r>
              <a:rPr sz="2800" b="1">
                <a:solidFill>
                  <a:srgbClr val="FFFFFF"/>
                </a:solidFill>
              </a:rPr>
              <a:t>VALIDATION &amp; NEXT STEPS</a:t>
            </a:r>
          </a:p>
        </p:txBody>
      </p:sp>
      <p:sp>
        <p:nvSpPr>
          <p:cNvPr id="5" name="Text 2"/>
          <p:cNvSpPr/>
          <p:nvPr/>
        </p:nvSpPr>
        <p:spPr>
          <a:xfrm>
            <a:off x="640080" y="1737360"/>
            <a:ext cx="9144000" cy="640080"/>
          </a:xfrm>
          <a:prstGeom prst="rect">
            <a:avLst/>
          </a:prstGeom>
          <a:noFill/>
          <a:ln/>
        </p:spPr>
        <p:txBody>
          <a:bodyPr wrap="square" rtlCol="0" anchor="ctr"/>
          <a:lstStyle/>
          <a:p>
            <a:r>
              <a:rPr sz="1600" b="0">
                <a:solidFill>
                  <a:srgbClr val="DCE6F5"/>
                </a:solidFill>
              </a:rPr>
              <a:t>Testing the concept without inventing results</a:t>
            </a:r>
          </a:p>
        </p:txBody>
      </p:sp>
      <p:sp>
        <p:nvSpPr>
          <p:cNvPr id="6" name="Shape 3"/>
          <p:cNvSpPr/>
          <p:nvPr/>
        </p:nvSpPr>
        <p:spPr>
          <a:xfrm>
            <a:off x="914400" y="2834640"/>
            <a:ext cx="0" cy="2286000"/>
          </a:xfrm>
          <a:prstGeom prst="line">
            <a:avLst/>
          </a:prstGeom>
          <a:noFill/>
          <a:ln w="38100">
            <a:solidFill>
              <a:srgbClr val="EC59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p:nvPr/>
        </p:nvSpPr>
        <p:spPr>
          <a:xfrm>
            <a:off x="1188720" y="3063240"/>
            <a:ext cx="9601200" cy="1828800"/>
          </a:xfrm>
          <a:prstGeom prst="rect">
            <a:avLst/>
          </a:prstGeom>
          <a:noFill/>
          <a:ln/>
        </p:spPr>
        <p:txBody>
          <a:bodyPr wrap="square" rtlCol="0" anchor="t"/>
          <a:lstStyle/>
          <a:p>
            <a:r>
              <a:rPr sz="1500" b="0">
                <a:solidFill>
                  <a:srgbClr val="EBEEF5"/>
                </a:solidFill>
              </a:rPr>
              <a:t>The next step is a small moderated usability test with first-job earners before claiming impact.</a:t>
            </a:r>
          </a:p>
          <a:p/>
          <a:p>
            <a:r>
              <a:rPr sz="1500" b="0">
                <a:solidFill>
                  <a:srgbClr val="EBEEF5"/>
                </a:solidFill>
              </a:rPr>
              <a:t>Test focus:</a:t>
            </a:r>
          </a:p>
          <a:p>
            <a:r>
              <a:rPr sz="1500" b="0">
                <a:solidFill>
                  <a:srgbClr val="EBEEF5"/>
                </a:solidFill>
              </a:rPr>
              <a:t>• Can participants explain the difference between available balance and protected Buffer?</a:t>
            </a:r>
          </a:p>
          <a:p>
            <a:r>
              <a:rPr sz="1500" b="0">
                <a:solidFill>
                  <a:srgbClr val="EBEEF5"/>
                </a:solidFill>
              </a:rPr>
              <a:t>• Do buffer warnings help them decide before a risky spend?</a:t>
            </a:r>
          </a:p>
          <a:p>
            <a:r>
              <a:rPr sz="1500" b="0">
                <a:solidFill>
                  <a:srgbClr val="EBEEF5"/>
                </a:solidFill>
              </a:rPr>
              <a:t>• Does Ask RISE feel private and safe enough to use?</a:t>
            </a:r>
          </a:p>
          <a:p>
            <a:r>
              <a:rPr sz="1500" b="0">
                <a:solidFill>
                  <a:srgbClr val="EBEEF5"/>
                </a:solidFill>
              </a:rPr>
              <a:t>• What breaks when income is irregular rather than monthly?</a:t>
            </a:r>
          </a:p>
          <a:p/>
          <a:p>
            <a:r>
              <a:rPr sz="1500" b="0">
                <a:solidFill>
                  <a:srgbClr val="EBEEF5"/>
                </a:solidFill>
              </a:rPr>
              <a:t>Iteration rule: keep only patterns that participants understand without facilitator explanation.</a:t>
            </a:r>
          </a:p>
        </p:txBody>
      </p:sp>
      <p:sp>
        <p:nvSpPr>
          <p:cNvPr id="9" name="Text 6"/>
          <p:cNvSpPr/>
          <p:nvPr/>
        </p:nvSpPr>
        <p:spPr>
          <a:xfrm>
            <a:off x="11365992" y="6446520"/>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FA3C7"/>
                </a:solidFill>
                <a:effectLst/>
                <a:uLnTx/>
                <a:uFillTx/>
                <a:latin typeface="Calibri" pitchFamily="34" charset="0"/>
                <a:ea typeface="Calibri" pitchFamily="34" charset="-122"/>
                <a:cs typeface="Calibri" pitchFamily="34" charset="-120"/>
              </a:rPr>
              <a:t>12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60B1A"/>
        </a:solidFill>
        <a:effectLst/>
      </p:bgPr>
    </p:bg>
    <p:spTree>
      <p:nvGrpSpPr>
        <p:cNvPr id="1" name=""/>
        <p:cNvGrpSpPr/>
        <p:nvPr/>
      </p:nvGrpSpPr>
      <p:grpSpPr>
        <a:xfrm>
          <a:off x="0" y="0"/>
          <a:ext cx="0" cy="0"/>
          <a:chOff x="0" y="0"/>
          <a:chExt cx="0" cy="0"/>
        </a:xfrm>
      </p:grpSpPr>
      <p:pic>
        <p:nvPicPr>
          <p:cNvPr id="2" name="Image 0" descr="/home/claude/assets/dark_bg.jpeg"/>
          <p:cNvPicPr>
            <a:picLocks noChangeAspect="1"/>
          </p:cNvPicPr>
          <p:nvPr/>
        </p:nvPicPr>
        <p:blipFill>
          <a:blip r:embed="rId3"/>
          <a:stretch>
            <a:fillRect/>
          </a:stretch>
        </p:blipFill>
        <p:spPr>
          <a:xfrm>
            <a:off x="0" y="0"/>
            <a:ext cx="12188952" cy="6858000"/>
          </a:xfrm>
          <a:prstGeom prst="rect">
            <a:avLst/>
          </a:prstGeom>
        </p:spPr>
      </p:pic>
      <p:sp>
        <p:nvSpPr>
          <p:cNvPr id="3" name="Shape 0"/>
          <p:cNvSpPr/>
          <p:nvPr/>
        </p:nvSpPr>
        <p:spPr>
          <a:xfrm>
            <a:off x="-91440" y="4754880"/>
            <a:ext cx="2194560" cy="2194560"/>
          </a:xfrm>
          <a:prstGeom prst="ellipse">
            <a:avLst/>
          </a:prstGeom>
          <a:ln w="38100">
            <a:solidFill>
              <a:srgbClr val="5FA8E0">
                <a:alpha val="4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1"/>
          <p:cNvSpPr/>
          <p:nvPr/>
        </p:nvSpPr>
        <p:spPr>
          <a:xfrm>
            <a:off x="640080" y="2331720"/>
            <a:ext cx="8686800" cy="640080"/>
          </a:xfrm>
          <a:prstGeom prst="rect">
            <a:avLst/>
          </a:prstGeom>
          <a:noFill/>
          <a:ln/>
        </p:spPr>
        <p:txBody>
          <a:bodyPr wrap="square" rtlCol="0" anchor="t"/>
          <a:lstStyle/>
          <a:p>
            <a:pPr algn="l"/>
            <a:r>
              <a:rPr sz="4200" b="1">
                <a:solidFill>
                  <a:srgbClr val="FFFFFF"/>
                </a:solidFill>
              </a:rPr>
              <a:t>STANSLOUS NHAU</a:t>
            </a:r>
          </a:p>
        </p:txBody>
      </p:sp>
      <p:sp>
        <p:nvSpPr>
          <p:cNvPr id="5" name="Text 2"/>
          <p:cNvSpPr/>
          <p:nvPr/>
        </p:nvSpPr>
        <p:spPr>
          <a:xfrm>
            <a:off x="685800" y="3611880"/>
            <a:ext cx="7772400" cy="822960"/>
          </a:xfrm>
          <a:prstGeom prst="rect">
            <a:avLst/>
          </a:prstGeom>
          <a:noFill/>
          <a:ln/>
        </p:spPr>
        <p:txBody>
          <a:bodyPr wrap="square" rtlCol="0" anchor="t"/>
          <a:lstStyle/>
          <a:p/>
        </p:txBody>
      </p:sp>
      <p:sp>
        <p:nvSpPr>
          <p:cNvPr id="7" name="Text 4"/>
          <p:cNvSpPr/>
          <p:nvPr/>
        </p:nvSpPr>
        <p:spPr>
          <a:xfrm>
            <a:off x="11365992" y="6446520"/>
            <a:ext cx="548640" cy="274320"/>
          </a:xfrm>
          <a:prstGeom prst="rect">
            <a:avLst/>
          </a:prstGeom>
          <a:noFill/>
          <a:ln/>
        </p:spPr>
        <p:txBody>
          <a:bodyPr wrap="square" rtlCol="0" anchor="ctr"/>
          <a:lstStyle/>
          <a:p/>
        </p:txBody>
      </p:sp>
      <p:sp>
        <p:nvSpPr>
          <p:cNvPr id="8" name="TextBox 7"/>
          <p:cNvSpPr txBox="1"/>
          <p:nvPr/>
        </p:nvSpPr>
        <p:spPr>
          <a:xfrm>
            <a:off x="640080" y="4800600"/>
            <a:ext cx="7315200" cy="365760"/>
          </a:xfrm>
          <a:prstGeom prst="rect">
            <a:avLst/>
          </a:prstGeom>
          <a:noFill/>
        </p:spPr>
        <p:txBody>
          <a:bodyPr wrap="square">
            <a:spAutoFit/>
          </a:bodyPr>
          <a:lstStyle/>
          <a:p/>
        </p:txBody>
      </p:sp>
      <p:sp>
        <p:nvSpPr>
          <p:cNvPr id="9" name="TextBox 8"/>
          <p:cNvSpPr txBox="1"/>
          <p:nvPr/>
        </p:nvSpPr>
        <p:spPr>
          <a:xfrm>
            <a:off x="685800" y="3154680"/>
            <a:ext cx="8046720" cy="1280160"/>
          </a:xfrm>
          <a:prstGeom prst="rect">
            <a:avLst/>
          </a:prstGeom>
          <a:noFill/>
        </p:spPr>
        <p:txBody>
          <a:bodyPr wrap="none" anchor="t">
            <a:spAutoFit/>
          </a:bodyPr>
          <a:lstStyle/>
          <a:p>
            <a:pPr algn="l"/>
            <a:r>
              <a:rPr sz="1800">
                <a:solidFill>
                  <a:srgbClr val="EBEEF5"/>
                </a:solidFill>
              </a:rPr>
              <a:t>UX Designer · Research · Product thinking · Systems thinking</a:t>
            </a:r>
          </a:p>
          <a:p>
            <a:pPr algn="l"/>
            <a:r>
              <a:rPr sz="1800">
                <a:solidFill>
                  <a:srgbClr val="EBEEF5"/>
                </a:solidFill>
              </a:rPr>
              <a:t>Johannesburg, South Africa</a:t>
            </a:r>
          </a:p>
          <a:p>
            <a:pPr algn="l"/>
          </a:p>
          <a:p>
            <a:pPr algn="l"/>
            <a:r>
              <a:rPr sz="1800">
                <a:solidFill>
                  <a:srgbClr val="EBEEF5"/>
                </a:solidFill>
              </a:rPr>
              <a:t>Email · LinkedIn · Portfolio website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3572</TotalTime>
  <Words>5611</Words>
  <Application>Microsoft Office PowerPoint</Application>
  <PresentationFormat>Widescreen</PresentationFormat>
  <Paragraphs>720</Paragraphs>
  <Slides>50</Slides>
  <Notes>46</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50</vt:i4>
      </vt:variant>
    </vt:vector>
  </HeadingPairs>
  <TitlesOfParts>
    <vt:vector size="66" baseType="lpstr">
      <vt:lpstr>Aptos</vt:lpstr>
      <vt:lpstr>Aptos Display</vt:lpstr>
      <vt:lpstr>Aptos Mono</vt:lpstr>
      <vt:lpstr>Arial</vt:lpstr>
      <vt:lpstr>Calibri</vt:lpstr>
      <vt:lpstr>Calibri Light</vt:lpstr>
      <vt:lpstr>Cambria</vt:lpstr>
      <vt:lpstr>Georgia</vt:lpstr>
      <vt:lpstr>Mangal</vt:lpstr>
      <vt:lpstr>Symbol</vt:lpstr>
      <vt:lpstr>Times New Roman</vt:lpstr>
      <vt:lpstr>Wingdings</vt:lpstr>
      <vt:lpstr>Office Theme</vt:lpstr>
      <vt:lpstr>1_Office Theme</vt:lpstr>
      <vt:lpstr>2_Office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Stanslous Nhau</cp:lastModifiedBy>
  <cp:revision>9</cp:revision>
  <dcterms:created xsi:type="dcterms:W3CDTF">2013-01-27T09:14:16Z</dcterms:created>
  <dcterms:modified xsi:type="dcterms:W3CDTF">2026-09-18T11:04:34Z</dcterms:modified>
  <cp:category/>
</cp:coreProperties>
</file>